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357" r:id="rId3"/>
    <p:sldId id="272" r:id="rId4"/>
    <p:sldId id="332" r:id="rId5"/>
    <p:sldId id="273" r:id="rId6"/>
    <p:sldId id="274" r:id="rId7"/>
    <p:sldId id="314" r:id="rId8"/>
    <p:sldId id="316" r:id="rId9"/>
    <p:sldId id="334" r:id="rId10"/>
    <p:sldId id="325" r:id="rId11"/>
    <p:sldId id="335" r:id="rId12"/>
    <p:sldId id="318" r:id="rId13"/>
    <p:sldId id="319" r:id="rId14"/>
    <p:sldId id="320" r:id="rId15"/>
    <p:sldId id="321" r:id="rId16"/>
    <p:sldId id="336" r:id="rId17"/>
    <p:sldId id="337" r:id="rId18"/>
    <p:sldId id="356" r:id="rId19"/>
    <p:sldId id="323" r:id="rId20"/>
    <p:sldId id="262" r:id="rId21"/>
    <p:sldId id="333" r:id="rId22"/>
    <p:sldId id="286" r:id="rId23"/>
    <p:sldId id="300" r:id="rId24"/>
    <p:sldId id="287" r:id="rId25"/>
    <p:sldId id="263" r:id="rId26"/>
    <p:sldId id="266" r:id="rId27"/>
    <p:sldId id="291" r:id="rId28"/>
    <p:sldId id="292" r:id="rId29"/>
    <p:sldId id="293" r:id="rId30"/>
    <p:sldId id="329" r:id="rId31"/>
    <p:sldId id="269" r:id="rId32"/>
    <p:sldId id="270" r:id="rId33"/>
    <p:sldId id="342" r:id="rId34"/>
    <p:sldId id="343" r:id="rId35"/>
    <p:sldId id="344" r:id="rId36"/>
    <p:sldId id="348" r:id="rId37"/>
    <p:sldId id="358" r:id="rId38"/>
    <p:sldId id="346" r:id="rId39"/>
    <p:sldId id="350" r:id="rId40"/>
    <p:sldId id="351" r:id="rId41"/>
    <p:sldId id="352" r:id="rId42"/>
    <p:sldId id="353" r:id="rId43"/>
    <p:sldId id="354"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34595" autoAdjust="0"/>
    <p:restoredTop sz="94699" autoAdjust="0"/>
  </p:normalViewPr>
  <p:slideViewPr>
    <p:cSldViewPr>
      <p:cViewPr>
        <p:scale>
          <a:sx n="77" d="100"/>
          <a:sy n="77" d="100"/>
        </p:scale>
        <p:origin x="-1176" y="-303"/>
      </p:cViewPr>
      <p:guideLst>
        <p:guide orient="horz" pos="2160"/>
        <p:guide pos="2880"/>
      </p:guideLst>
    </p:cSldViewPr>
  </p:slideViewPr>
  <p:outlineViewPr>
    <p:cViewPr>
      <p:scale>
        <a:sx n="33" d="100"/>
        <a:sy n="33" d="100"/>
      </p:scale>
      <p:origin x="0" y="399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AE4B52D-D2A9-4186-9FAF-8EDEDC0ACF4B}" type="datetimeFigureOut">
              <a:rPr lang="en-US" smtClean="0"/>
              <a:t>10/27/2026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A864B8D-16B4-46A9-BE3D-06F29425985F}" type="slidenum">
              <a:rPr lang="en-US" smtClean="0"/>
              <a:t>‹#›</a:t>
            </a:fld>
            <a:endParaRPr lang="en-US"/>
          </a:p>
        </p:txBody>
      </p:sp>
    </p:spTree>
    <p:extLst>
      <p:ext uri="{BB962C8B-B14F-4D97-AF65-F5344CB8AC3E}">
        <p14:creationId xmlns:p14="http://schemas.microsoft.com/office/powerpoint/2010/main" val="2957313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864B8D-16B4-46A9-BE3D-06F29425985F}" type="slidenum">
              <a:rPr lang="en-US" smtClean="0"/>
              <a:t>12</a:t>
            </a:fld>
            <a:endParaRPr lang="en-US"/>
          </a:p>
        </p:txBody>
      </p:sp>
    </p:spTree>
    <p:extLst>
      <p:ext uri="{BB962C8B-B14F-4D97-AF65-F5344CB8AC3E}">
        <p14:creationId xmlns:p14="http://schemas.microsoft.com/office/powerpoint/2010/main" val="3368018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A864B8D-16B4-46A9-BE3D-06F29425985F}" type="slidenum">
              <a:rPr lang="en-US" smtClean="0"/>
              <a:t>35</a:t>
            </a:fld>
            <a:endParaRPr lang="en-US"/>
          </a:p>
        </p:txBody>
      </p:sp>
    </p:spTree>
    <p:extLst>
      <p:ext uri="{BB962C8B-B14F-4D97-AF65-F5344CB8AC3E}">
        <p14:creationId xmlns:p14="http://schemas.microsoft.com/office/powerpoint/2010/main" val="14428165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54C96F3-CB5F-4500-9983-8EBE3471DF96}"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BFEBC7-E014-4051-BEC1-0ABA8D7A8E79}" type="slidenum">
              <a:rPr lang="en-US" smtClean="0"/>
              <a:t>‹#›</a:t>
            </a:fld>
            <a:endParaRPr lang="en-US"/>
          </a:p>
        </p:txBody>
      </p:sp>
    </p:spTree>
    <p:extLst>
      <p:ext uri="{BB962C8B-B14F-4D97-AF65-F5344CB8AC3E}">
        <p14:creationId xmlns:p14="http://schemas.microsoft.com/office/powerpoint/2010/main" val="2461317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54C96F3-CB5F-4500-9983-8EBE3471DF96}"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BFEBC7-E014-4051-BEC1-0ABA8D7A8E79}" type="slidenum">
              <a:rPr lang="en-US" smtClean="0"/>
              <a:t>‹#›</a:t>
            </a:fld>
            <a:endParaRPr lang="en-US"/>
          </a:p>
        </p:txBody>
      </p:sp>
    </p:spTree>
    <p:extLst>
      <p:ext uri="{BB962C8B-B14F-4D97-AF65-F5344CB8AC3E}">
        <p14:creationId xmlns:p14="http://schemas.microsoft.com/office/powerpoint/2010/main" val="2774948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54C96F3-CB5F-4500-9983-8EBE3471DF96}"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BFEBC7-E014-4051-BEC1-0ABA8D7A8E79}" type="slidenum">
              <a:rPr lang="en-US" smtClean="0"/>
              <a:t>‹#›</a:t>
            </a:fld>
            <a:endParaRPr lang="en-US"/>
          </a:p>
        </p:txBody>
      </p:sp>
    </p:spTree>
    <p:extLst>
      <p:ext uri="{BB962C8B-B14F-4D97-AF65-F5344CB8AC3E}">
        <p14:creationId xmlns:p14="http://schemas.microsoft.com/office/powerpoint/2010/main" val="1664110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54C96F3-CB5F-4500-9983-8EBE3471DF96}"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BFEBC7-E014-4051-BEC1-0ABA8D7A8E79}" type="slidenum">
              <a:rPr lang="en-US" smtClean="0"/>
              <a:t>‹#›</a:t>
            </a:fld>
            <a:endParaRPr lang="en-US"/>
          </a:p>
        </p:txBody>
      </p:sp>
    </p:spTree>
    <p:extLst>
      <p:ext uri="{BB962C8B-B14F-4D97-AF65-F5344CB8AC3E}">
        <p14:creationId xmlns:p14="http://schemas.microsoft.com/office/powerpoint/2010/main" val="1998887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54C96F3-CB5F-4500-9983-8EBE3471DF96}"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CBFEBC7-E014-4051-BEC1-0ABA8D7A8E79}" type="slidenum">
              <a:rPr lang="en-US" smtClean="0"/>
              <a:t>‹#›</a:t>
            </a:fld>
            <a:endParaRPr lang="en-US"/>
          </a:p>
        </p:txBody>
      </p:sp>
    </p:spTree>
    <p:extLst>
      <p:ext uri="{BB962C8B-B14F-4D97-AF65-F5344CB8AC3E}">
        <p14:creationId xmlns:p14="http://schemas.microsoft.com/office/powerpoint/2010/main" val="958953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54C96F3-CB5F-4500-9983-8EBE3471DF96}" type="datetimeFigureOut">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CBFEBC7-E014-4051-BEC1-0ABA8D7A8E79}" type="slidenum">
              <a:rPr lang="en-US" smtClean="0"/>
              <a:t>‹#›</a:t>
            </a:fld>
            <a:endParaRPr lang="en-US"/>
          </a:p>
        </p:txBody>
      </p:sp>
    </p:spTree>
    <p:extLst>
      <p:ext uri="{BB962C8B-B14F-4D97-AF65-F5344CB8AC3E}">
        <p14:creationId xmlns:p14="http://schemas.microsoft.com/office/powerpoint/2010/main" val="2786834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4C96F3-CB5F-4500-9983-8EBE3471DF96}"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CBFEBC7-E014-4051-BEC1-0ABA8D7A8E79}" type="slidenum">
              <a:rPr lang="en-US" smtClean="0"/>
              <a:t>‹#›</a:t>
            </a:fld>
            <a:endParaRPr lang="en-US"/>
          </a:p>
        </p:txBody>
      </p:sp>
    </p:spTree>
    <p:extLst>
      <p:ext uri="{BB962C8B-B14F-4D97-AF65-F5344CB8AC3E}">
        <p14:creationId xmlns:p14="http://schemas.microsoft.com/office/powerpoint/2010/main" val="133383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54C96F3-CB5F-4500-9983-8EBE3471DF96}"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BFEBC7-E014-4051-BEC1-0ABA8D7A8E79}" type="slidenum">
              <a:rPr lang="en-US" smtClean="0"/>
              <a:t>‹#›</a:t>
            </a:fld>
            <a:endParaRPr lang="en-US"/>
          </a:p>
        </p:txBody>
      </p:sp>
    </p:spTree>
    <p:extLst>
      <p:ext uri="{BB962C8B-B14F-4D97-AF65-F5344CB8AC3E}">
        <p14:creationId xmlns:p14="http://schemas.microsoft.com/office/powerpoint/2010/main" val="2340968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54C96F3-CB5F-4500-9983-8EBE3471DF96}"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BFEBC7-E014-4051-BEC1-0ABA8D7A8E79}" type="slidenum">
              <a:rPr lang="en-US" smtClean="0"/>
              <a:t>‹#›</a:t>
            </a:fld>
            <a:endParaRPr lang="en-US"/>
          </a:p>
        </p:txBody>
      </p:sp>
    </p:spTree>
    <p:extLst>
      <p:ext uri="{BB962C8B-B14F-4D97-AF65-F5344CB8AC3E}">
        <p14:creationId xmlns:p14="http://schemas.microsoft.com/office/powerpoint/2010/main" val="6454645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54C96F3-CB5F-4500-9983-8EBE3471DF96}"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BFEBC7-E014-4051-BEC1-0ABA8D7A8E79}" type="slidenum">
              <a:rPr lang="en-US" smtClean="0"/>
              <a:t>‹#›</a:t>
            </a:fld>
            <a:endParaRPr lang="en-US"/>
          </a:p>
        </p:txBody>
      </p:sp>
    </p:spTree>
    <p:extLst>
      <p:ext uri="{BB962C8B-B14F-4D97-AF65-F5344CB8AC3E}">
        <p14:creationId xmlns:p14="http://schemas.microsoft.com/office/powerpoint/2010/main" val="29518357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54C96F3-CB5F-4500-9983-8EBE3471DF96}"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BFEBC7-E014-4051-BEC1-0ABA8D7A8E79}" type="slidenum">
              <a:rPr lang="en-US" smtClean="0"/>
              <a:t>‹#›</a:t>
            </a:fld>
            <a:endParaRPr lang="en-US"/>
          </a:p>
        </p:txBody>
      </p:sp>
    </p:spTree>
    <p:extLst>
      <p:ext uri="{BB962C8B-B14F-4D97-AF65-F5344CB8AC3E}">
        <p14:creationId xmlns:p14="http://schemas.microsoft.com/office/powerpoint/2010/main" val="1531076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4C96F3-CB5F-4500-9983-8EBE3471DF96}" type="datetimeFigureOut">
              <a:rPr lang="en-US" smtClean="0"/>
              <a:t>10/27/2026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BFEBC7-E014-4051-BEC1-0ABA8D7A8E79}" type="slidenum">
              <a:rPr lang="en-US" smtClean="0"/>
              <a:t>‹#›</a:t>
            </a:fld>
            <a:endParaRPr lang="en-US"/>
          </a:p>
        </p:txBody>
      </p:sp>
    </p:spTree>
    <p:extLst>
      <p:ext uri="{BB962C8B-B14F-4D97-AF65-F5344CB8AC3E}">
        <p14:creationId xmlns:p14="http://schemas.microsoft.com/office/powerpoint/2010/main" val="41224457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globalchange.umich.edu/globalchange1/current/lectures/kling/paleoclimate/paleo_fig11.gif"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jpeg"/></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3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hyperlink" Target="https://webstore.iea.org/co2-emissions-from-fuel-combustion-2018-highlights"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jpeg"/></Relationships>
</file>

<file path=ppt/slides/_rels/slide38.xml.rels><?xml version="1.0" encoding="UTF-8" standalone="yes"?>
<Relationships xmlns="http://schemas.openxmlformats.org/package/2006/relationships"><Relationship Id="rId3" Type="http://schemas.openxmlformats.org/officeDocument/2006/relationships/hyperlink" Target="https://www.epa.gov/ghgemissions/sources-greenhouse-gas-emissions#industry" TargetMode="External"/><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hyperlink" Target="https://www.epa.gov/sites/production/files/2016-05/global_emissions_sector_2015.png" TargetMode="External"/><Relationship Id="rId1" Type="http://schemas.openxmlformats.org/officeDocument/2006/relationships/slideLayout" Target="../slideLayouts/slideLayout2.xml"/><Relationship Id="rId4" Type="http://schemas.openxmlformats.org/officeDocument/2006/relationships/hyperlink" Target="https://www.ipcc.ch/report/ar5/wg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971800"/>
            <a:ext cx="8610600" cy="1066800"/>
          </a:xfrm>
        </p:spPr>
        <p:txBody>
          <a:bodyPr>
            <a:noAutofit/>
          </a:bodyPr>
          <a:lstStyle/>
          <a:p>
            <a:r>
              <a:rPr lang="en-US" sz="3200" b="1" dirty="0" smtClean="0">
                <a:solidFill>
                  <a:prstClr val="black"/>
                </a:solidFill>
                <a:latin typeface="Times New Roman"/>
                <a:ea typeface="Times New Roman"/>
                <a:cs typeface="Times New Roman"/>
              </a:rPr>
              <a:t/>
            </a:r>
            <a:br>
              <a:rPr lang="en-US" sz="3200" b="1" dirty="0" smtClean="0">
                <a:solidFill>
                  <a:prstClr val="black"/>
                </a:solidFill>
                <a:latin typeface="Times New Roman"/>
                <a:ea typeface="Times New Roman"/>
                <a:cs typeface="Times New Roman"/>
              </a:rPr>
            </a:br>
            <a:r>
              <a:rPr lang="en-US" sz="3200" b="1" dirty="0">
                <a:solidFill>
                  <a:prstClr val="black"/>
                </a:solidFill>
                <a:latin typeface="Times New Roman"/>
                <a:ea typeface="Times New Roman"/>
                <a:cs typeface="Times New Roman"/>
              </a:rPr>
              <a:t/>
            </a:r>
            <a:br>
              <a:rPr lang="en-US" sz="3200" b="1" dirty="0">
                <a:solidFill>
                  <a:prstClr val="black"/>
                </a:solidFill>
                <a:latin typeface="Times New Roman"/>
                <a:ea typeface="Times New Roman"/>
                <a:cs typeface="Times New Roman"/>
              </a:rPr>
            </a:br>
            <a:r>
              <a:rPr lang="en-US" sz="3200" b="1" dirty="0" smtClean="0">
                <a:solidFill>
                  <a:prstClr val="black"/>
                </a:solidFill>
                <a:latin typeface="Times New Roman"/>
                <a:ea typeface="Times New Roman"/>
                <a:cs typeface="Times New Roman"/>
              </a:rPr>
              <a:t/>
            </a:r>
            <a:br>
              <a:rPr lang="en-US" sz="3200" b="1" dirty="0" smtClean="0">
                <a:solidFill>
                  <a:prstClr val="black"/>
                </a:solidFill>
                <a:latin typeface="Times New Roman"/>
                <a:ea typeface="Times New Roman"/>
                <a:cs typeface="Times New Roman"/>
              </a:rPr>
            </a:br>
            <a:r>
              <a:rPr lang="en-US" sz="3600" b="1" dirty="0" smtClean="0">
                <a:solidFill>
                  <a:schemeClr val="tx2">
                    <a:lumMod val="60000"/>
                    <a:lumOff val="40000"/>
                  </a:schemeClr>
                </a:solidFill>
                <a:latin typeface="Times New Roman"/>
                <a:ea typeface="Times New Roman"/>
                <a:cs typeface="Times New Roman"/>
              </a:rPr>
              <a:t>Course Name </a:t>
            </a:r>
            <a:r>
              <a:rPr lang="en-US" sz="3200" b="1" dirty="0" smtClean="0">
                <a:solidFill>
                  <a:schemeClr val="tx2">
                    <a:lumMod val="60000"/>
                    <a:lumOff val="40000"/>
                  </a:schemeClr>
                </a:solidFill>
                <a:latin typeface="Times New Roman"/>
                <a:ea typeface="Times New Roman"/>
                <a:cs typeface="Times New Roman"/>
              </a:rPr>
              <a:t/>
            </a:r>
            <a:br>
              <a:rPr lang="en-US" sz="3200" b="1" dirty="0" smtClean="0">
                <a:solidFill>
                  <a:schemeClr val="tx2">
                    <a:lumMod val="60000"/>
                    <a:lumOff val="40000"/>
                  </a:schemeClr>
                </a:solidFill>
                <a:latin typeface="Times New Roman"/>
                <a:ea typeface="Times New Roman"/>
                <a:cs typeface="Times New Roman"/>
              </a:rPr>
            </a:br>
            <a:r>
              <a:rPr lang="en-US" sz="3200" b="1" dirty="0">
                <a:solidFill>
                  <a:prstClr val="black"/>
                </a:solidFill>
                <a:latin typeface="Times New Roman"/>
                <a:ea typeface="Times New Roman"/>
                <a:cs typeface="Times New Roman"/>
              </a:rPr>
              <a:t/>
            </a:r>
            <a:br>
              <a:rPr lang="en-US" sz="3200" b="1" dirty="0">
                <a:solidFill>
                  <a:prstClr val="black"/>
                </a:solidFill>
                <a:latin typeface="Times New Roman"/>
                <a:ea typeface="Times New Roman"/>
                <a:cs typeface="Times New Roman"/>
              </a:rPr>
            </a:br>
            <a:r>
              <a:rPr lang="en-US" sz="2400" b="1" dirty="0" smtClean="0">
                <a:latin typeface="Times New Roman" pitchFamily="18" charset="0"/>
                <a:cs typeface="Times New Roman" pitchFamily="18" charset="0"/>
              </a:rPr>
              <a:t>Climate </a:t>
            </a:r>
            <a:r>
              <a:rPr lang="en-US" sz="2400" b="1" dirty="0">
                <a:latin typeface="Times New Roman" pitchFamily="18" charset="0"/>
                <a:cs typeface="Times New Roman" pitchFamily="18" charset="0"/>
              </a:rPr>
              <a:t>Change </a:t>
            </a:r>
            <a:r>
              <a:rPr lang="en-US" sz="2400" b="1" dirty="0" smtClean="0">
                <a:latin typeface="Times New Roman" pitchFamily="18" charset="0"/>
                <a:cs typeface="Times New Roman" pitchFamily="18" charset="0"/>
              </a:rPr>
              <a:t>Adaptation </a:t>
            </a:r>
            <a:r>
              <a:rPr lang="en-US" sz="2400" b="1" dirty="0">
                <a:latin typeface="Times New Roman" pitchFamily="18" charset="0"/>
                <a:cs typeface="Times New Roman" pitchFamily="18" charset="0"/>
              </a:rPr>
              <a:t>and </a:t>
            </a:r>
            <a:r>
              <a:rPr lang="en-US" sz="2400" b="1" dirty="0" smtClean="0">
                <a:latin typeface="Times New Roman" pitchFamily="18" charset="0"/>
                <a:cs typeface="Times New Roman" pitchFamily="18" charset="0"/>
              </a:rPr>
              <a:t>Mitigation (</a:t>
            </a:r>
            <a:r>
              <a:rPr lang="en-US" sz="2400" b="1" dirty="0">
                <a:latin typeface="Times New Roman" pitchFamily="18" charset="0"/>
                <a:cs typeface="Times New Roman" pitchFamily="18" charset="0"/>
              </a:rPr>
              <a:t>NaRM3121)</a:t>
            </a:r>
            <a:r>
              <a:rPr lang="en-US" sz="2400" b="1" dirty="0">
                <a:solidFill>
                  <a:prstClr val="black"/>
                </a:solidFill>
                <a:latin typeface="Times New Roman" pitchFamily="18" charset="0"/>
                <a:ea typeface="Times New Roman"/>
                <a:cs typeface="Times New Roman" pitchFamily="18" charset="0"/>
              </a:rPr>
              <a:t/>
            </a:r>
            <a:br>
              <a:rPr lang="en-US" sz="2400" b="1" dirty="0">
                <a:solidFill>
                  <a:prstClr val="black"/>
                </a:solidFill>
                <a:latin typeface="Times New Roman" pitchFamily="18" charset="0"/>
                <a:ea typeface="Times New Roman"/>
                <a:cs typeface="Times New Roman" pitchFamily="18" charset="0"/>
              </a:rPr>
            </a:br>
            <a:r>
              <a:rPr lang="en-US" sz="2400" b="1" dirty="0" smtClean="0">
                <a:solidFill>
                  <a:prstClr val="black"/>
                </a:solidFill>
                <a:latin typeface="Times New Roman" pitchFamily="18" charset="0"/>
                <a:ea typeface="Times New Roman"/>
                <a:cs typeface="Times New Roman" pitchFamily="18" charset="0"/>
              </a:rPr>
              <a:t/>
            </a:r>
            <a:br>
              <a:rPr lang="en-US" sz="2400" b="1" dirty="0" smtClean="0">
                <a:solidFill>
                  <a:prstClr val="black"/>
                </a:solidFill>
                <a:latin typeface="Times New Roman" pitchFamily="18" charset="0"/>
                <a:ea typeface="Times New Roman"/>
                <a:cs typeface="Times New Roman" pitchFamily="18" charset="0"/>
              </a:rPr>
            </a:br>
            <a:r>
              <a:rPr lang="en-US" sz="2400" b="1" dirty="0" smtClean="0">
                <a:solidFill>
                  <a:prstClr val="black"/>
                </a:solidFill>
                <a:latin typeface="Times New Roman" pitchFamily="18" charset="0"/>
                <a:ea typeface="Times New Roman"/>
                <a:cs typeface="Times New Roman" pitchFamily="18" charset="0"/>
              </a:rPr>
              <a:t>College of Agriculture Natural Resource Sciences</a:t>
            </a:r>
            <a:br>
              <a:rPr lang="en-US" sz="2400" b="1" dirty="0" smtClean="0">
                <a:solidFill>
                  <a:prstClr val="black"/>
                </a:solidFill>
                <a:latin typeface="Times New Roman" pitchFamily="18" charset="0"/>
                <a:ea typeface="Times New Roman"/>
                <a:cs typeface="Times New Roman" pitchFamily="18" charset="0"/>
              </a:rPr>
            </a:br>
            <a:r>
              <a:rPr lang="en-US" sz="2400" b="1" dirty="0">
                <a:solidFill>
                  <a:prstClr val="black"/>
                </a:solidFill>
                <a:latin typeface="Times New Roman" pitchFamily="18" charset="0"/>
                <a:ea typeface="Times New Roman"/>
                <a:cs typeface="Times New Roman" pitchFamily="18" charset="0"/>
              </a:rPr>
              <a:t/>
            </a:r>
            <a:br>
              <a:rPr lang="en-US" sz="2400" b="1" dirty="0">
                <a:solidFill>
                  <a:prstClr val="black"/>
                </a:solidFill>
                <a:latin typeface="Times New Roman" pitchFamily="18" charset="0"/>
                <a:ea typeface="Times New Roman"/>
                <a:cs typeface="Times New Roman" pitchFamily="18" charset="0"/>
              </a:rPr>
            </a:br>
            <a:r>
              <a:rPr lang="en-US" sz="3200" b="1" dirty="0">
                <a:latin typeface="Times New Roman" pitchFamily="18" charset="0"/>
                <a:cs typeface="Times New Roman" pitchFamily="18" charset="0"/>
              </a:rPr>
              <a:t>Department of Natural Resource </a:t>
            </a:r>
            <a:r>
              <a:rPr lang="en-US" sz="3200" b="1" dirty="0" smtClean="0">
                <a:latin typeface="Times New Roman" pitchFamily="18" charset="0"/>
                <a:cs typeface="Times New Roman" pitchFamily="18" charset="0"/>
              </a:rPr>
              <a:t>Management</a:t>
            </a:r>
            <a:br>
              <a:rPr lang="en-US" sz="3200" b="1" dirty="0" smtClean="0">
                <a:latin typeface="Times New Roman" pitchFamily="18" charset="0"/>
                <a:cs typeface="Times New Roman" pitchFamily="18" charset="0"/>
              </a:rPr>
            </a:br>
            <a:r>
              <a:rPr lang="en-US" sz="3200" b="1" dirty="0" smtClean="0">
                <a:latin typeface="Times New Roman" pitchFamily="18" charset="0"/>
                <a:cs typeface="Times New Roman" pitchFamily="18" charset="0"/>
              </a:rPr>
              <a:t/>
            </a:r>
            <a:br>
              <a:rPr lang="en-US" sz="3200" b="1" dirty="0" smtClean="0">
                <a:latin typeface="Times New Roman" pitchFamily="18" charset="0"/>
                <a:cs typeface="Times New Roman" pitchFamily="18" charset="0"/>
              </a:rPr>
            </a:br>
            <a:r>
              <a:rPr lang="en-US" sz="3200" b="1" dirty="0" smtClean="0">
                <a:latin typeface="Times New Roman" pitchFamily="18" charset="0"/>
                <a:cs typeface="Times New Roman" pitchFamily="18" charset="0"/>
              </a:rPr>
              <a:t>Instructor:- </a:t>
            </a:r>
            <a:r>
              <a:rPr lang="en-US" sz="3200" b="1" dirty="0" err="1" smtClean="0">
                <a:latin typeface="Times New Roman" pitchFamily="18" charset="0"/>
                <a:cs typeface="Times New Roman" pitchFamily="18" charset="0"/>
              </a:rPr>
              <a:t>Yitea</a:t>
            </a:r>
            <a:r>
              <a:rPr lang="en-US" sz="3200" b="1" dirty="0" smtClean="0">
                <a:latin typeface="Times New Roman" pitchFamily="18" charset="0"/>
                <a:cs typeface="Times New Roman" pitchFamily="18" charset="0"/>
              </a:rPr>
              <a:t> </a:t>
            </a:r>
            <a:r>
              <a:rPr lang="en-US" sz="3200" b="1" dirty="0" err="1" smtClean="0">
                <a:latin typeface="Times New Roman" pitchFamily="18" charset="0"/>
                <a:cs typeface="Times New Roman" pitchFamily="18" charset="0"/>
              </a:rPr>
              <a:t>Seneshaw</a:t>
            </a:r>
            <a:r>
              <a:rPr lang="en-US" sz="3200" b="1" dirty="0" smtClean="0">
                <a:latin typeface="Times New Roman" pitchFamily="18" charset="0"/>
                <a:cs typeface="Times New Roman" pitchFamily="18" charset="0"/>
              </a:rPr>
              <a:t> (PhD)</a:t>
            </a:r>
            <a:br>
              <a:rPr lang="en-US" sz="3200" b="1" dirty="0" smtClean="0">
                <a:latin typeface="Times New Roman" pitchFamily="18" charset="0"/>
                <a:cs typeface="Times New Roman" pitchFamily="18" charset="0"/>
              </a:rPr>
            </a:br>
            <a:r>
              <a:rPr lang="en-US" sz="3200" b="1" dirty="0" smtClean="0">
                <a:latin typeface="Times New Roman" pitchFamily="18" charset="0"/>
                <a:cs typeface="Times New Roman" pitchFamily="18" charset="0"/>
              </a:rPr>
              <a:t>                                            </a:t>
            </a:r>
            <a:br>
              <a:rPr lang="en-US" sz="3200" b="1" dirty="0" smtClean="0">
                <a:latin typeface="Times New Roman" pitchFamily="18" charset="0"/>
                <a:cs typeface="Times New Roman" pitchFamily="18" charset="0"/>
              </a:rPr>
            </a:br>
            <a:r>
              <a:rPr lang="en-US" sz="3200" b="1" dirty="0">
                <a:latin typeface="Times New Roman" pitchFamily="18" charset="0"/>
                <a:cs typeface="Times New Roman" pitchFamily="18" charset="0"/>
              </a:rPr>
              <a:t/>
            </a:r>
            <a:br>
              <a:rPr lang="en-US" sz="3200" b="1" dirty="0">
                <a:latin typeface="Times New Roman" pitchFamily="18" charset="0"/>
                <a:cs typeface="Times New Roman" pitchFamily="18" charset="0"/>
              </a:rPr>
            </a:br>
            <a:r>
              <a:rPr lang="en-US" sz="3200" b="1" dirty="0" smtClean="0">
                <a:latin typeface="Times New Roman" pitchFamily="18" charset="0"/>
                <a:cs typeface="Times New Roman" pitchFamily="18" charset="0"/>
              </a:rPr>
              <a:t>                                     Dec, 14, 2020</a:t>
            </a:r>
            <a:r>
              <a:rPr lang="en-US" sz="3200" dirty="0">
                <a:latin typeface="Times New Roman" pitchFamily="18" charset="0"/>
                <a:cs typeface="Times New Roman" pitchFamily="18" charset="0"/>
              </a:rPr>
              <a:t/>
            </a:r>
            <a:br>
              <a:rPr lang="en-US" sz="3200" dirty="0">
                <a:latin typeface="Times New Roman" pitchFamily="18" charset="0"/>
                <a:cs typeface="Times New Roman" pitchFamily="18" charset="0"/>
              </a:rPr>
            </a:br>
            <a:r>
              <a:rPr lang="en-US" sz="3200" b="1" dirty="0" smtClean="0">
                <a:solidFill>
                  <a:prstClr val="black"/>
                </a:solidFill>
                <a:latin typeface="Times New Roman"/>
                <a:ea typeface="Times New Roman"/>
                <a:cs typeface="Times New Roman"/>
              </a:rPr>
              <a:t/>
            </a:r>
            <a:br>
              <a:rPr lang="en-US" sz="3200" b="1" dirty="0" smtClean="0">
                <a:solidFill>
                  <a:prstClr val="black"/>
                </a:solidFill>
                <a:latin typeface="Times New Roman"/>
                <a:ea typeface="Times New Roman"/>
                <a:cs typeface="Times New Roman"/>
              </a:rPr>
            </a:br>
            <a:endParaRPr lang="en-US" sz="3200" dirty="0"/>
          </a:p>
        </p:txBody>
      </p:sp>
    </p:spTree>
    <p:extLst>
      <p:ext uri="{BB962C8B-B14F-4D97-AF65-F5344CB8AC3E}">
        <p14:creationId xmlns:p14="http://schemas.microsoft.com/office/powerpoint/2010/main" val="39558270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Group 31"/>
          <p:cNvGrpSpPr/>
          <p:nvPr/>
        </p:nvGrpSpPr>
        <p:grpSpPr>
          <a:xfrm>
            <a:off x="3738467" y="152400"/>
            <a:ext cx="5253133" cy="6486917"/>
            <a:chOff x="3158216" y="294884"/>
            <a:chExt cx="5253133" cy="6486917"/>
          </a:xfrm>
        </p:grpSpPr>
        <p:grpSp>
          <p:nvGrpSpPr>
            <p:cNvPr id="27" name="Group 26"/>
            <p:cNvGrpSpPr/>
            <p:nvPr/>
          </p:nvGrpSpPr>
          <p:grpSpPr>
            <a:xfrm>
              <a:off x="3158216" y="294884"/>
              <a:ext cx="5253133" cy="6486917"/>
              <a:chOff x="3158216" y="294884"/>
              <a:chExt cx="5253133" cy="6486917"/>
            </a:xfrm>
          </p:grpSpPr>
          <p:grpSp>
            <p:nvGrpSpPr>
              <p:cNvPr id="21" name="Group 20"/>
              <p:cNvGrpSpPr/>
              <p:nvPr/>
            </p:nvGrpSpPr>
            <p:grpSpPr>
              <a:xfrm>
                <a:off x="3158216" y="294884"/>
                <a:ext cx="5253133" cy="5146207"/>
                <a:chOff x="3158216" y="294884"/>
                <a:chExt cx="5253133" cy="5146207"/>
              </a:xfrm>
            </p:grpSpPr>
            <p:sp>
              <p:nvSpPr>
                <p:cNvPr id="4" name="Oval 3"/>
                <p:cNvSpPr/>
                <p:nvPr/>
              </p:nvSpPr>
              <p:spPr>
                <a:xfrm>
                  <a:off x="5114152" y="1890584"/>
                  <a:ext cx="1362498" cy="1236361"/>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Climate change</a:t>
                  </a:r>
                  <a:endParaRPr lang="en-US" dirty="0"/>
                </a:p>
              </p:txBody>
            </p:sp>
            <p:sp>
              <p:nvSpPr>
                <p:cNvPr id="5" name="Rectangle 4"/>
                <p:cNvSpPr/>
                <p:nvPr/>
              </p:nvSpPr>
              <p:spPr>
                <a:xfrm>
                  <a:off x="3515066" y="294884"/>
                  <a:ext cx="1704634" cy="163714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smtClean="0"/>
                    <a:t>Is climate change true , how do we know? What are the evidences </a:t>
                  </a:r>
                  <a:endParaRPr lang="en-US" dirty="0"/>
                </a:p>
              </p:txBody>
            </p:sp>
            <p:sp>
              <p:nvSpPr>
                <p:cNvPr id="6" name="Rectangle 5"/>
                <p:cNvSpPr/>
                <p:nvPr/>
              </p:nvSpPr>
              <p:spPr>
                <a:xfrm>
                  <a:off x="6420363" y="518984"/>
                  <a:ext cx="1752600" cy="137160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smtClean="0"/>
                    <a:t>What are drivers of  climate change </a:t>
                  </a:r>
                  <a:endParaRPr lang="en-US" dirty="0"/>
                </a:p>
              </p:txBody>
            </p:sp>
            <p:sp>
              <p:nvSpPr>
                <p:cNvPr id="7" name="Rounded Rectangle 6"/>
                <p:cNvSpPr/>
                <p:nvPr/>
              </p:nvSpPr>
              <p:spPr>
                <a:xfrm>
                  <a:off x="3158216" y="2413263"/>
                  <a:ext cx="1676400" cy="81159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dirty="0"/>
                    <a:t>Greenhouse</a:t>
                  </a:r>
                </a:p>
                <a:p>
                  <a:r>
                    <a:rPr lang="en-US" dirty="0"/>
                    <a:t>gas emissions</a:t>
                  </a:r>
                </a:p>
              </p:txBody>
            </p:sp>
            <p:cxnSp>
              <p:nvCxnSpPr>
                <p:cNvPr id="9" name="Straight Arrow Connector 8"/>
                <p:cNvCxnSpPr/>
                <p:nvPr/>
              </p:nvCxnSpPr>
              <p:spPr>
                <a:xfrm flipV="1">
                  <a:off x="4834616" y="2769058"/>
                  <a:ext cx="331663" cy="10001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1" name="Rounded Rectangle 10"/>
                <p:cNvSpPr/>
                <p:nvPr/>
              </p:nvSpPr>
              <p:spPr>
                <a:xfrm>
                  <a:off x="3249938" y="4011065"/>
                  <a:ext cx="1742271" cy="129532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b="1" dirty="0"/>
                    <a:t>Mitigation</a:t>
                  </a:r>
                  <a:r>
                    <a:rPr lang="en-US" dirty="0"/>
                    <a:t>:</a:t>
                  </a:r>
                </a:p>
                <a:p>
                  <a:r>
                    <a:rPr lang="en-US" sz="1400" dirty="0" smtClean="0"/>
                    <a:t>Reduce emissions</a:t>
                  </a:r>
                  <a:r>
                    <a:rPr lang="en-US" sz="1400" dirty="0"/>
                    <a:t>,</a:t>
                  </a:r>
                </a:p>
                <a:p>
                  <a:r>
                    <a:rPr lang="en-US" sz="1400" dirty="0" smtClean="0"/>
                    <a:t>Reduce magnitude</a:t>
                  </a:r>
                  <a:endParaRPr lang="en-US" sz="1400" dirty="0"/>
                </a:p>
                <a:p>
                  <a:r>
                    <a:rPr lang="en-US" sz="1400" dirty="0"/>
                    <a:t>of </a:t>
                  </a:r>
                  <a:r>
                    <a:rPr lang="en-US" sz="1400" dirty="0" smtClean="0"/>
                    <a:t>CC (</a:t>
                  </a:r>
                  <a:r>
                    <a:rPr lang="en-US" sz="1400" dirty="0"/>
                    <a:t>e.g</a:t>
                  </a:r>
                  <a:r>
                    <a:rPr lang="en-US" sz="1400" dirty="0" smtClean="0"/>
                    <a:t>. less</a:t>
                  </a:r>
                  <a:endParaRPr lang="en-US" sz="1400" dirty="0"/>
                </a:p>
                <a:p>
                  <a:r>
                    <a:rPr lang="en-US" sz="1400" dirty="0"/>
                    <a:t>CO2)</a:t>
                  </a:r>
                </a:p>
              </p:txBody>
            </p:sp>
            <p:sp>
              <p:nvSpPr>
                <p:cNvPr id="12" name="Rounded Rectangle 11"/>
                <p:cNvSpPr/>
                <p:nvPr/>
              </p:nvSpPr>
              <p:spPr>
                <a:xfrm>
                  <a:off x="5166279" y="3479962"/>
                  <a:ext cx="1416270" cy="19611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b="1" dirty="0"/>
                    <a:t>Mitigation:</a:t>
                  </a:r>
                </a:p>
                <a:p>
                  <a:r>
                    <a:rPr lang="en-US" b="1" dirty="0" smtClean="0"/>
                    <a:t>Carbon sinks</a:t>
                  </a:r>
                  <a:r>
                    <a:rPr lang="en-US" dirty="0"/>
                    <a:t>: </a:t>
                  </a:r>
                  <a:r>
                    <a:rPr lang="en-US" sz="1400" dirty="0" smtClean="0"/>
                    <a:t>forests and </a:t>
                  </a:r>
                  <a:r>
                    <a:rPr lang="en-US" sz="1400" dirty="0"/>
                    <a:t>land </a:t>
                  </a:r>
                  <a:r>
                    <a:rPr lang="en-US" sz="1400" dirty="0" smtClean="0"/>
                    <a:t>use Changes (CO2 sequestration</a:t>
                  </a:r>
                  <a:r>
                    <a:rPr lang="en-US" sz="1400" dirty="0"/>
                    <a:t>)</a:t>
                  </a:r>
                </a:p>
              </p:txBody>
            </p:sp>
            <p:cxnSp>
              <p:nvCxnSpPr>
                <p:cNvPr id="13" name="Straight Arrow Connector 12"/>
                <p:cNvCxnSpPr>
                  <a:stCxn id="11" idx="0"/>
                  <a:endCxn id="7" idx="2"/>
                </p:cNvCxnSpPr>
                <p:nvPr/>
              </p:nvCxnSpPr>
              <p:spPr>
                <a:xfrm flipH="1" flipV="1">
                  <a:off x="3996416" y="3224862"/>
                  <a:ext cx="124658" cy="786203"/>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4" name="Straight Arrow Connector 13"/>
                <p:cNvCxnSpPr/>
                <p:nvPr/>
              </p:nvCxnSpPr>
              <p:spPr>
                <a:xfrm flipH="1" flipV="1">
                  <a:off x="4594686" y="3189253"/>
                  <a:ext cx="571593" cy="428652"/>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20" name="Rectangle 19"/>
                <p:cNvSpPr/>
                <p:nvPr/>
              </p:nvSpPr>
              <p:spPr>
                <a:xfrm>
                  <a:off x="6771502" y="2141287"/>
                  <a:ext cx="1570851" cy="137160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smtClean="0"/>
                    <a:t>Vulnerability and Climate</a:t>
                  </a:r>
                  <a:endParaRPr lang="en-US" dirty="0"/>
                </a:p>
                <a:p>
                  <a:pPr algn="ctr"/>
                  <a:r>
                    <a:rPr lang="en-US" dirty="0"/>
                    <a:t>change</a:t>
                  </a:r>
                </a:p>
                <a:p>
                  <a:pPr algn="ctr"/>
                  <a:r>
                    <a:rPr lang="en-US" dirty="0"/>
                    <a:t>impacts</a:t>
                  </a:r>
                </a:p>
              </p:txBody>
            </p:sp>
            <p:sp>
              <p:nvSpPr>
                <p:cNvPr id="23" name="Rectangle 22"/>
                <p:cNvSpPr/>
                <p:nvPr/>
              </p:nvSpPr>
              <p:spPr>
                <a:xfrm>
                  <a:off x="6729625" y="3876362"/>
                  <a:ext cx="1681724" cy="1564729"/>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t>Adaptation</a:t>
                  </a:r>
                </a:p>
                <a:p>
                  <a:pPr algn="ctr"/>
                  <a:r>
                    <a:rPr lang="en-US" dirty="0" smtClean="0"/>
                    <a:t>Reduce vulnerability</a:t>
                  </a:r>
                  <a:endParaRPr lang="en-US" dirty="0"/>
                </a:p>
                <a:p>
                  <a:pPr algn="ctr"/>
                  <a:r>
                    <a:rPr lang="en-US" dirty="0"/>
                    <a:t>to </a:t>
                  </a:r>
                  <a:r>
                    <a:rPr lang="en-US" dirty="0" smtClean="0"/>
                    <a:t>CC impacts</a:t>
                  </a:r>
                  <a:r>
                    <a:rPr lang="en-US" dirty="0"/>
                    <a:t>;</a:t>
                  </a:r>
                </a:p>
                <a:p>
                  <a:pPr algn="ctr"/>
                  <a:r>
                    <a:rPr lang="en-US" dirty="0" smtClean="0"/>
                    <a:t>Reduce losses</a:t>
                  </a:r>
                  <a:endParaRPr lang="en-US" dirty="0"/>
                </a:p>
              </p:txBody>
            </p:sp>
            <p:cxnSp>
              <p:nvCxnSpPr>
                <p:cNvPr id="3" name="Straight Arrow Connector 2"/>
                <p:cNvCxnSpPr/>
                <p:nvPr/>
              </p:nvCxnSpPr>
              <p:spPr>
                <a:xfrm flipH="1" flipV="1">
                  <a:off x="4966036" y="1942201"/>
                  <a:ext cx="200243" cy="27923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cxnSp>
              <p:nvCxnSpPr>
                <p:cNvPr id="10" name="Straight Arrow Connector 9"/>
                <p:cNvCxnSpPr>
                  <a:endCxn id="4" idx="7"/>
                </p:cNvCxnSpPr>
                <p:nvPr/>
              </p:nvCxnSpPr>
              <p:spPr>
                <a:xfrm flipH="1">
                  <a:off x="6277117" y="1890584"/>
                  <a:ext cx="193354" cy="181061"/>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16" name="Straight Arrow Connector 15"/>
                <p:cNvCxnSpPr>
                  <a:stCxn id="4" idx="6"/>
                </p:cNvCxnSpPr>
                <p:nvPr/>
              </p:nvCxnSpPr>
              <p:spPr>
                <a:xfrm>
                  <a:off x="6476650" y="2508765"/>
                  <a:ext cx="294852" cy="10606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pSp>
          <p:cxnSp>
            <p:nvCxnSpPr>
              <p:cNvPr id="25" name="Straight Arrow Connector 24"/>
              <p:cNvCxnSpPr/>
              <p:nvPr/>
            </p:nvCxnSpPr>
            <p:spPr>
              <a:xfrm>
                <a:off x="7467600" y="3520077"/>
                <a:ext cx="0" cy="356286"/>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26" name="Oval 25"/>
              <p:cNvSpPr/>
              <p:nvPr/>
            </p:nvSpPr>
            <p:spPr>
              <a:xfrm>
                <a:off x="4258450" y="5715001"/>
                <a:ext cx="4000499" cy="1066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Global policies, Conventions and protocols on climate change </a:t>
                </a:r>
              </a:p>
            </p:txBody>
          </p:sp>
        </p:grpSp>
        <p:cxnSp>
          <p:nvCxnSpPr>
            <p:cNvPr id="28" name="Straight Arrow Connector 27"/>
            <p:cNvCxnSpPr/>
            <p:nvPr/>
          </p:nvCxnSpPr>
          <p:spPr>
            <a:xfrm>
              <a:off x="5591949" y="5441092"/>
              <a:ext cx="0" cy="273909"/>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29" name="Straight Arrow Connector 28"/>
            <p:cNvCxnSpPr/>
            <p:nvPr/>
          </p:nvCxnSpPr>
          <p:spPr>
            <a:xfrm flipH="1">
              <a:off x="7296663" y="5461495"/>
              <a:ext cx="158064" cy="319789"/>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pSp>
      <p:sp>
        <p:nvSpPr>
          <p:cNvPr id="48" name="Rectangle 47"/>
          <p:cNvSpPr/>
          <p:nvPr/>
        </p:nvSpPr>
        <p:spPr>
          <a:xfrm>
            <a:off x="-32920" y="388064"/>
            <a:ext cx="5447787" cy="6186309"/>
          </a:xfrm>
          <a:prstGeom prst="rect">
            <a:avLst/>
          </a:prstGeom>
        </p:spPr>
        <p:txBody>
          <a:bodyPr wrap="square">
            <a:spAutoFit/>
          </a:bodyPr>
          <a:lstStyle/>
          <a:p>
            <a:r>
              <a:rPr lang="en-US" sz="1200" b="1" dirty="0"/>
              <a:t>Chapter 1. Introduction (8 hours)</a:t>
            </a:r>
            <a:endParaRPr lang="en-GB" sz="1200" dirty="0"/>
          </a:p>
          <a:p>
            <a:r>
              <a:rPr lang="en-US" sz="1200" dirty="0"/>
              <a:t>1.1. Climate change and variability (definition) </a:t>
            </a:r>
            <a:endParaRPr lang="en-GB" sz="1200" dirty="0"/>
          </a:p>
          <a:p>
            <a:r>
              <a:rPr lang="en-US" sz="1200" dirty="0"/>
              <a:t>1.2. Past, present and future predictions of climate change</a:t>
            </a:r>
            <a:endParaRPr lang="en-GB" sz="1200" dirty="0"/>
          </a:p>
          <a:p>
            <a:r>
              <a:rPr lang="en-US" sz="1200" dirty="0"/>
              <a:t>1.3. Evidences of climate change</a:t>
            </a:r>
            <a:endParaRPr lang="en-GB" sz="1200" dirty="0"/>
          </a:p>
          <a:p>
            <a:r>
              <a:rPr lang="en-US" sz="1200" dirty="0"/>
              <a:t>1.4. Why climate change is a global issue?</a:t>
            </a:r>
            <a:endParaRPr lang="en-GB" sz="1200" dirty="0"/>
          </a:p>
          <a:p>
            <a:r>
              <a:rPr lang="en-US" sz="1200" dirty="0"/>
              <a:t> 1.5. Climate change and society</a:t>
            </a:r>
            <a:endParaRPr lang="en-GB" sz="1200" dirty="0"/>
          </a:p>
          <a:p>
            <a:r>
              <a:rPr lang="en-US" sz="1200" b="1" dirty="0"/>
              <a:t>2. Drivers of climate change</a:t>
            </a:r>
            <a:endParaRPr lang="en-GB" sz="1200" dirty="0"/>
          </a:p>
          <a:p>
            <a:pPr lvl="1"/>
            <a:r>
              <a:rPr lang="en-US" sz="1200" dirty="0"/>
              <a:t>Natural causes</a:t>
            </a:r>
            <a:endParaRPr lang="en-GB" sz="1200" dirty="0"/>
          </a:p>
          <a:p>
            <a:pPr lvl="1"/>
            <a:r>
              <a:rPr lang="en-US" sz="1200" dirty="0"/>
              <a:t>Anthropogenic drivers </a:t>
            </a:r>
            <a:endParaRPr lang="en-GB" sz="1200" dirty="0"/>
          </a:p>
          <a:p>
            <a:pPr lvl="2"/>
            <a:r>
              <a:rPr lang="en-US" sz="1200" dirty="0"/>
              <a:t>Technological development and transportation</a:t>
            </a:r>
            <a:endParaRPr lang="en-GB" sz="1200" dirty="0"/>
          </a:p>
          <a:p>
            <a:pPr lvl="2"/>
            <a:r>
              <a:rPr lang="en-US" sz="1200" dirty="0"/>
              <a:t>Increased world industrial activities</a:t>
            </a:r>
            <a:endParaRPr lang="en-GB" sz="1200" dirty="0"/>
          </a:p>
          <a:p>
            <a:pPr lvl="2"/>
            <a:r>
              <a:rPr lang="en-US" sz="1200" dirty="0"/>
              <a:t>Material and energy consumption growth</a:t>
            </a:r>
            <a:endParaRPr lang="en-GB" sz="1200" dirty="0"/>
          </a:p>
          <a:p>
            <a:pPr lvl="2"/>
            <a:r>
              <a:rPr lang="en-US" sz="1200" dirty="0"/>
              <a:t>Land use change and deforestation</a:t>
            </a:r>
            <a:endParaRPr lang="en-GB" sz="1200" dirty="0"/>
          </a:p>
          <a:p>
            <a:r>
              <a:rPr lang="en-US" sz="1200" b="1" dirty="0"/>
              <a:t>Chapter 3. Vulnerability to and Impacts of climate change </a:t>
            </a:r>
            <a:endParaRPr lang="en-GB" sz="1200" dirty="0"/>
          </a:p>
          <a:p>
            <a:r>
              <a:rPr lang="en-US" sz="1200" dirty="0"/>
              <a:t>       3.1. Vulnerability </a:t>
            </a:r>
            <a:endParaRPr lang="en-GB" sz="1200" dirty="0"/>
          </a:p>
          <a:p>
            <a:r>
              <a:rPr lang="en-US" sz="1200" dirty="0"/>
              <a:t>3.2. observed and projected impacts on natural ecosystem</a:t>
            </a:r>
            <a:endParaRPr lang="en-GB" sz="1200" dirty="0"/>
          </a:p>
          <a:p>
            <a:r>
              <a:rPr lang="en-US" sz="1200" dirty="0"/>
              <a:t>3.3. Impacts of climate change on agricultural system</a:t>
            </a:r>
            <a:endParaRPr lang="en-GB" sz="1200" dirty="0"/>
          </a:p>
          <a:p>
            <a:r>
              <a:rPr lang="en-US" sz="1200" dirty="0"/>
              <a:t>3.4. Impacts of climate change on human health</a:t>
            </a:r>
            <a:endParaRPr lang="en-GB" sz="1200" dirty="0"/>
          </a:p>
          <a:p>
            <a:r>
              <a:rPr lang="en-US" sz="1200" dirty="0"/>
              <a:t>3.5. Climate change impacts on sustainable development</a:t>
            </a:r>
            <a:endParaRPr lang="en-GB" sz="1200" dirty="0"/>
          </a:p>
          <a:p>
            <a:r>
              <a:rPr lang="en-US" sz="1200" b="1" dirty="0"/>
              <a:t>Chapter 4. Adaptive capacity and adaptation to climate change </a:t>
            </a:r>
            <a:endParaRPr lang="en-GB" sz="1200" dirty="0"/>
          </a:p>
          <a:p>
            <a:r>
              <a:rPr lang="en-US" sz="1200" dirty="0"/>
              <a:t>        4.1. Adaptive capacity</a:t>
            </a:r>
            <a:endParaRPr lang="en-GB" sz="1200" dirty="0"/>
          </a:p>
          <a:p>
            <a:r>
              <a:rPr lang="en-US" sz="1200" dirty="0"/>
              <a:t>        4.2. Adaptation </a:t>
            </a:r>
            <a:endParaRPr lang="en-GB" sz="1200" dirty="0"/>
          </a:p>
          <a:p>
            <a:r>
              <a:rPr lang="en-US" sz="1200" b="1" dirty="0"/>
              <a:t>Chapter 5. Climate change mitigation strategies</a:t>
            </a:r>
            <a:endParaRPr lang="en-GB" sz="1200" dirty="0"/>
          </a:p>
          <a:p>
            <a:r>
              <a:rPr lang="en-US" sz="1200" b="1" dirty="0"/>
              <a:t>       </a:t>
            </a:r>
            <a:r>
              <a:rPr lang="en-US" sz="1200" dirty="0"/>
              <a:t>5.1.</a:t>
            </a:r>
            <a:r>
              <a:rPr lang="en-US" sz="1200" b="1" dirty="0"/>
              <a:t> </a:t>
            </a:r>
            <a:r>
              <a:rPr lang="en-US" sz="1200" dirty="0"/>
              <a:t>Carbon sequestration </a:t>
            </a:r>
            <a:endParaRPr lang="en-GB" sz="1200" dirty="0"/>
          </a:p>
          <a:p>
            <a:r>
              <a:rPr lang="en-US" sz="1200" dirty="0"/>
              <a:t>5.2. Reduced emission</a:t>
            </a:r>
            <a:endParaRPr lang="en-GB" sz="1200" dirty="0"/>
          </a:p>
          <a:p>
            <a:r>
              <a:rPr lang="en-US" sz="1200" dirty="0"/>
              <a:t>5.3.Carbon trading</a:t>
            </a:r>
            <a:endParaRPr lang="en-GB" sz="1200" dirty="0"/>
          </a:p>
          <a:p>
            <a:r>
              <a:rPr lang="en-US" sz="1200" b="1" dirty="0"/>
              <a:t>Chapter 6. Global policies, Conventions and protocols on climate change </a:t>
            </a:r>
            <a:endParaRPr lang="en-GB" sz="1200" dirty="0"/>
          </a:p>
          <a:p>
            <a:r>
              <a:rPr lang="en-US" sz="1200" dirty="0"/>
              <a:t>6.1. Adaptation policy</a:t>
            </a:r>
            <a:endParaRPr lang="en-GB" sz="1200" dirty="0"/>
          </a:p>
          <a:p>
            <a:r>
              <a:rPr lang="en-US" sz="1200" dirty="0"/>
              <a:t>6.2. Montreal </a:t>
            </a:r>
            <a:endParaRPr lang="en-GB" sz="1200" dirty="0"/>
          </a:p>
          <a:p>
            <a:r>
              <a:rPr lang="en-US" sz="1200" dirty="0"/>
              <a:t>6.3. United Nations Framework Convention on Climate Change</a:t>
            </a:r>
            <a:endParaRPr lang="en-GB" sz="1200" dirty="0"/>
          </a:p>
          <a:p>
            <a:r>
              <a:rPr lang="en-US" sz="1200" dirty="0"/>
              <a:t>6.4. Kyoto protocol</a:t>
            </a:r>
            <a:endParaRPr lang="en-GB" sz="1200" dirty="0"/>
          </a:p>
          <a:p>
            <a:r>
              <a:rPr lang="en-US" sz="1200" dirty="0"/>
              <a:t>6.5. Issues of concern: sharing responsibility, policy response, carbon trade</a:t>
            </a:r>
            <a:endParaRPr lang="en-GB" sz="1200" dirty="0"/>
          </a:p>
          <a:p>
            <a:r>
              <a:rPr lang="en-US" sz="1200" b="1" dirty="0"/>
              <a:t>Chapter 7. An overview of climate change adaptation strategy of Ethiopia</a:t>
            </a:r>
            <a:endParaRPr lang="en-GB" sz="1200" dirty="0"/>
          </a:p>
        </p:txBody>
      </p:sp>
    </p:spTree>
    <p:extLst>
      <p:ext uri="{BB962C8B-B14F-4D97-AF65-F5344CB8AC3E}">
        <p14:creationId xmlns:p14="http://schemas.microsoft.com/office/powerpoint/2010/main" val="14343472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8229600" cy="1143000"/>
          </a:xfrm>
        </p:spPr>
        <p:txBody>
          <a:bodyPr/>
          <a:lstStyle/>
          <a:p>
            <a:pPr algn="l"/>
            <a:r>
              <a:rPr lang="en-US" b="1" dirty="0"/>
              <a:t>Chapter 1. Introduction </a:t>
            </a:r>
            <a:endParaRPr lang="en-US" dirty="0"/>
          </a:p>
        </p:txBody>
      </p:sp>
      <p:sp>
        <p:nvSpPr>
          <p:cNvPr id="4" name="Rectangle 3"/>
          <p:cNvSpPr/>
          <p:nvPr/>
        </p:nvSpPr>
        <p:spPr>
          <a:xfrm>
            <a:off x="28183" y="672230"/>
            <a:ext cx="5702202" cy="400110"/>
          </a:xfrm>
          <a:prstGeom prst="rect">
            <a:avLst/>
          </a:prstGeom>
          <a:ln>
            <a:solidFill>
              <a:srgbClr val="00B0F0"/>
            </a:solidFill>
          </a:ln>
        </p:spPr>
        <p:txBody>
          <a:bodyPr wrap="none">
            <a:spAutoFit/>
          </a:bodyPr>
          <a:lstStyle/>
          <a:p>
            <a:pPr lvl="1"/>
            <a:r>
              <a:rPr lang="en-US" sz="2000" b="1" dirty="0" smtClean="0">
                <a:latin typeface="Times New Roman" pitchFamily="18" charset="0"/>
                <a:cs typeface="Times New Roman" pitchFamily="18" charset="0"/>
              </a:rPr>
              <a:t>1.1 Climate </a:t>
            </a:r>
            <a:r>
              <a:rPr lang="en-US" sz="2000" b="1" dirty="0">
                <a:latin typeface="Times New Roman" pitchFamily="18" charset="0"/>
                <a:cs typeface="Times New Roman" pitchFamily="18" charset="0"/>
              </a:rPr>
              <a:t>change and variability </a:t>
            </a:r>
            <a:r>
              <a:rPr lang="en-US" sz="2000" dirty="0">
                <a:latin typeface="Times New Roman" pitchFamily="18" charset="0"/>
                <a:cs typeface="Times New Roman" pitchFamily="18" charset="0"/>
              </a:rPr>
              <a:t>(definition) </a:t>
            </a:r>
          </a:p>
        </p:txBody>
      </p:sp>
      <p:sp>
        <p:nvSpPr>
          <p:cNvPr id="5" name="Rectangle 4"/>
          <p:cNvSpPr/>
          <p:nvPr/>
        </p:nvSpPr>
        <p:spPr>
          <a:xfrm>
            <a:off x="37230" y="990600"/>
            <a:ext cx="9106770" cy="3323987"/>
          </a:xfrm>
          <a:prstGeom prst="rect">
            <a:avLst/>
          </a:prstGeom>
        </p:spPr>
        <p:txBody>
          <a:bodyPr wrap="square">
            <a:spAutoFit/>
          </a:bodyPr>
          <a:lstStyle/>
          <a:p>
            <a:pPr>
              <a:lnSpc>
                <a:spcPct val="150000"/>
              </a:lnSpc>
            </a:pPr>
            <a:r>
              <a:rPr lang="en-US" sz="2000" b="1" dirty="0"/>
              <a:t>Climate </a:t>
            </a:r>
            <a:r>
              <a:rPr lang="en-US" sz="2000" dirty="0"/>
              <a:t>is </a:t>
            </a:r>
            <a:r>
              <a:rPr lang="en-US" sz="2000" dirty="0" smtClean="0"/>
              <a:t>“the long term average</a:t>
            </a:r>
            <a:r>
              <a:rPr lang="en-US" sz="2000" dirty="0"/>
              <a:t>" weather for a given place </a:t>
            </a:r>
            <a:r>
              <a:rPr lang="en-US" sz="2000" dirty="0" smtClean="0"/>
              <a:t>or region.</a:t>
            </a:r>
          </a:p>
          <a:p>
            <a:pPr>
              <a:lnSpc>
                <a:spcPct val="150000"/>
              </a:lnSpc>
            </a:pPr>
            <a:r>
              <a:rPr lang="en-US" sz="2000" dirty="0" smtClean="0"/>
              <a:t>For </a:t>
            </a:r>
            <a:r>
              <a:rPr lang="en-US" sz="2000" dirty="0"/>
              <a:t>example, on average, Ethiopia is expected to be sunny in December, rainy in July and cold in January but there may be annual deviations. </a:t>
            </a:r>
            <a:endParaRPr lang="en-US" sz="2000" dirty="0" smtClean="0"/>
          </a:p>
          <a:p>
            <a:pPr>
              <a:lnSpc>
                <a:spcPct val="150000"/>
              </a:lnSpc>
            </a:pPr>
            <a:r>
              <a:rPr lang="en-US" sz="2000" dirty="0" smtClean="0"/>
              <a:t>In </a:t>
            </a:r>
            <a:r>
              <a:rPr lang="en-US" sz="2000" dirty="0"/>
              <a:t>other words, </a:t>
            </a:r>
            <a:r>
              <a:rPr lang="en-US" sz="2000" b="1" dirty="0"/>
              <a:t>climate </a:t>
            </a:r>
            <a:r>
              <a:rPr lang="en-US" sz="2000" dirty="0"/>
              <a:t>is statistical </a:t>
            </a:r>
            <a:r>
              <a:rPr lang="en-GB" sz="2000" dirty="0"/>
              <a:t>description in terms of the mean </a:t>
            </a:r>
            <a:r>
              <a:rPr lang="en-US" sz="2000" dirty="0" smtClean="0"/>
              <a:t>, </a:t>
            </a:r>
            <a:r>
              <a:rPr lang="en-US" sz="2000" dirty="0"/>
              <a:t>a synthesis of weather variation focusing on a specific area for a specified interval. </a:t>
            </a:r>
            <a:endParaRPr lang="en-US" sz="2000" dirty="0" smtClean="0"/>
          </a:p>
          <a:p>
            <a:pPr>
              <a:lnSpc>
                <a:spcPct val="150000"/>
              </a:lnSpc>
            </a:pPr>
            <a:r>
              <a:rPr lang="en-US" sz="2000" b="1" dirty="0" smtClean="0"/>
              <a:t>Climate</a:t>
            </a:r>
            <a:r>
              <a:rPr lang="en-US" sz="2000" dirty="0" smtClean="0"/>
              <a:t> </a:t>
            </a:r>
            <a:r>
              <a:rPr lang="en-US" sz="2000" dirty="0"/>
              <a:t>is usually based on the weather in one locality averaged for at least 30 years</a:t>
            </a:r>
            <a:r>
              <a:rPr lang="en-US" sz="2000" dirty="0" smtClean="0"/>
              <a:t>.</a:t>
            </a:r>
          </a:p>
          <a:p>
            <a:pPr>
              <a:lnSpc>
                <a:spcPct val="150000"/>
              </a:lnSpc>
            </a:pPr>
            <a:r>
              <a:rPr lang="en-US" sz="2000" dirty="0" smtClean="0"/>
              <a:t> </a:t>
            </a:r>
            <a:endParaRPr lang="en-US" sz="2000" dirty="0"/>
          </a:p>
        </p:txBody>
      </p:sp>
      <p:sp>
        <p:nvSpPr>
          <p:cNvPr id="7" name="Rectangle 6"/>
          <p:cNvSpPr/>
          <p:nvPr/>
        </p:nvSpPr>
        <p:spPr>
          <a:xfrm>
            <a:off x="57014" y="4267200"/>
            <a:ext cx="9086985" cy="2246769"/>
          </a:xfrm>
          <a:prstGeom prst="rect">
            <a:avLst/>
          </a:prstGeom>
        </p:spPr>
        <p:txBody>
          <a:bodyPr wrap="square">
            <a:spAutoFit/>
          </a:bodyPr>
          <a:lstStyle/>
          <a:p>
            <a:pPr>
              <a:lnSpc>
                <a:spcPct val="150000"/>
              </a:lnSpc>
            </a:pPr>
            <a:r>
              <a:rPr lang="en-US" sz="2000" b="1" dirty="0"/>
              <a:t>Climate change </a:t>
            </a:r>
            <a:r>
              <a:rPr lang="en-US" sz="2000" dirty="0"/>
              <a:t>refers to any change in climate over time, whether due to natural variability or anthropogenic forces. </a:t>
            </a:r>
          </a:p>
          <a:p>
            <a:r>
              <a:rPr lang="en-US" sz="2000" b="1" dirty="0"/>
              <a:t>Climate change </a:t>
            </a:r>
            <a:r>
              <a:rPr lang="en-US" sz="2000" dirty="0"/>
              <a:t>is attributed to both natural variability and human activities. </a:t>
            </a:r>
            <a:endParaRPr lang="en-US" sz="2000" dirty="0" smtClean="0"/>
          </a:p>
          <a:p>
            <a:r>
              <a:rPr lang="en-US" sz="2000" dirty="0" smtClean="0"/>
              <a:t>For </a:t>
            </a:r>
            <a:r>
              <a:rPr lang="en-US" sz="2000" dirty="0"/>
              <a:t>so long,   variation in climate parameters is generally attributed to natural causes. However, because of changes in the earth’s climate since the pre-industrial era, some of these changes are now considered attributable to human activities.</a:t>
            </a:r>
          </a:p>
        </p:txBody>
      </p:sp>
    </p:spTree>
    <p:extLst>
      <p:ext uri="{BB962C8B-B14F-4D97-AF65-F5344CB8AC3E}">
        <p14:creationId xmlns:p14="http://schemas.microsoft.com/office/powerpoint/2010/main" val="27049496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228600"/>
            <a:ext cx="8229600" cy="1143000"/>
          </a:xfrm>
        </p:spPr>
        <p:txBody>
          <a:bodyPr/>
          <a:lstStyle/>
          <a:p>
            <a:pPr algn="l"/>
            <a:r>
              <a:rPr lang="en-US" b="1" dirty="0"/>
              <a:t>Chapter 1. Introduction </a:t>
            </a:r>
            <a:endParaRPr lang="en-US" dirty="0"/>
          </a:p>
        </p:txBody>
      </p:sp>
      <p:sp>
        <p:nvSpPr>
          <p:cNvPr id="7" name="Rectangle 6"/>
          <p:cNvSpPr/>
          <p:nvPr/>
        </p:nvSpPr>
        <p:spPr>
          <a:xfrm>
            <a:off x="28183" y="672230"/>
            <a:ext cx="5702202" cy="400110"/>
          </a:xfrm>
          <a:prstGeom prst="rect">
            <a:avLst/>
          </a:prstGeom>
          <a:ln>
            <a:solidFill>
              <a:srgbClr val="00B0F0"/>
            </a:solidFill>
          </a:ln>
        </p:spPr>
        <p:txBody>
          <a:bodyPr wrap="none">
            <a:spAutoFit/>
          </a:bodyPr>
          <a:lstStyle/>
          <a:p>
            <a:pPr lvl="1"/>
            <a:r>
              <a:rPr lang="en-US" sz="2000" b="1" dirty="0" smtClean="0">
                <a:latin typeface="Times New Roman" pitchFamily="18" charset="0"/>
                <a:cs typeface="Times New Roman" pitchFamily="18" charset="0"/>
              </a:rPr>
              <a:t>1.1 Climate </a:t>
            </a:r>
            <a:r>
              <a:rPr lang="en-US" sz="2000" b="1" dirty="0">
                <a:latin typeface="Times New Roman" pitchFamily="18" charset="0"/>
                <a:cs typeface="Times New Roman" pitchFamily="18" charset="0"/>
              </a:rPr>
              <a:t>change and variability </a:t>
            </a:r>
            <a:r>
              <a:rPr lang="en-US" sz="2000" dirty="0">
                <a:latin typeface="Times New Roman" pitchFamily="18" charset="0"/>
                <a:cs typeface="Times New Roman" pitchFamily="18" charset="0"/>
              </a:rPr>
              <a:t>(definition) </a:t>
            </a:r>
          </a:p>
        </p:txBody>
      </p:sp>
      <p:sp>
        <p:nvSpPr>
          <p:cNvPr id="8" name="Rectangle 7"/>
          <p:cNvSpPr/>
          <p:nvPr/>
        </p:nvSpPr>
        <p:spPr>
          <a:xfrm>
            <a:off x="28182" y="1066800"/>
            <a:ext cx="9115817" cy="3323987"/>
          </a:xfrm>
          <a:prstGeom prst="rect">
            <a:avLst/>
          </a:prstGeom>
        </p:spPr>
        <p:txBody>
          <a:bodyPr wrap="square">
            <a:spAutoFit/>
          </a:bodyPr>
          <a:lstStyle/>
          <a:p>
            <a:pPr>
              <a:lnSpc>
                <a:spcPct val="150000"/>
              </a:lnSpc>
            </a:pPr>
            <a:r>
              <a:rPr lang="en-US" sz="2000" dirty="0"/>
              <a:t>C</a:t>
            </a:r>
            <a:r>
              <a:rPr lang="en-US" sz="2000" b="1" dirty="0" smtClean="0"/>
              <a:t>limate </a:t>
            </a:r>
            <a:r>
              <a:rPr lang="en-US" sz="2000" b="1" dirty="0"/>
              <a:t>variability </a:t>
            </a:r>
            <a:r>
              <a:rPr lang="en-US" sz="2000" dirty="0"/>
              <a:t>refers to variations in the mean state and other climate statistics (standard deviations, the occurrence of extremes, etc.) on  s</a:t>
            </a:r>
            <a:r>
              <a:rPr lang="en-US" sz="2000" dirty="0" smtClean="0"/>
              <a:t>patial–temporal scales . </a:t>
            </a:r>
            <a:r>
              <a:rPr lang="en-US" sz="2000" dirty="0"/>
              <a:t>Variability may result from </a:t>
            </a:r>
            <a:r>
              <a:rPr lang="en-US" sz="2000" dirty="0" smtClean="0"/>
              <a:t>natural </a:t>
            </a:r>
            <a:r>
              <a:rPr lang="en-US" sz="2000" dirty="0"/>
              <a:t>or anthropogenic </a:t>
            </a:r>
            <a:r>
              <a:rPr lang="en-US" sz="2000" dirty="0" smtClean="0"/>
              <a:t>forcing and </a:t>
            </a:r>
            <a:r>
              <a:rPr lang="en-GB" sz="2000" dirty="0" smtClean="0"/>
              <a:t>some </a:t>
            </a:r>
            <a:r>
              <a:rPr lang="en-GB" sz="2000" dirty="0"/>
              <a:t>years have below average rainfall, </a:t>
            </a:r>
            <a:r>
              <a:rPr lang="en-GB" sz="2000" dirty="0" smtClean="0"/>
              <a:t>others have </a:t>
            </a:r>
            <a:r>
              <a:rPr lang="en-GB" sz="2000" dirty="0"/>
              <a:t>average or above average rainfall</a:t>
            </a:r>
            <a:r>
              <a:rPr lang="en-GB" sz="2000" dirty="0" smtClean="0"/>
              <a:t>. For </a:t>
            </a:r>
            <a:r>
              <a:rPr lang="en-GB" sz="2000" dirty="0"/>
              <a:t>example, the average annual rainfall of </a:t>
            </a:r>
            <a:r>
              <a:rPr lang="en-GB" sz="2000" dirty="0" err="1"/>
              <a:t>Debre</a:t>
            </a:r>
            <a:r>
              <a:rPr lang="en-GB" sz="2000" dirty="0"/>
              <a:t> </a:t>
            </a:r>
            <a:r>
              <a:rPr lang="en-GB" sz="2000" dirty="0" err="1"/>
              <a:t>Berhan</a:t>
            </a:r>
            <a:r>
              <a:rPr lang="en-GB" sz="2000" dirty="0"/>
              <a:t> city is 986 mm.  The actual rainfall varying from the mean represents drought and flood conditions. </a:t>
            </a:r>
            <a:r>
              <a:rPr lang="en-GB" sz="2000" dirty="0" smtClean="0"/>
              <a:t>The best example is ENSO</a:t>
            </a:r>
            <a:r>
              <a:rPr lang="en-GB" sz="2000" dirty="0"/>
              <a:t>, El Niño</a:t>
            </a:r>
            <a:endParaRPr lang="en-US" sz="2000" dirty="0"/>
          </a:p>
        </p:txBody>
      </p:sp>
      <p:sp>
        <p:nvSpPr>
          <p:cNvPr id="9" name="Rectangle 8"/>
          <p:cNvSpPr/>
          <p:nvPr/>
        </p:nvSpPr>
        <p:spPr>
          <a:xfrm>
            <a:off x="-2059" y="4343400"/>
            <a:ext cx="9146058" cy="2400657"/>
          </a:xfrm>
          <a:prstGeom prst="rect">
            <a:avLst/>
          </a:prstGeom>
        </p:spPr>
        <p:txBody>
          <a:bodyPr wrap="square">
            <a:spAutoFit/>
          </a:bodyPr>
          <a:lstStyle/>
          <a:p>
            <a:pPr>
              <a:lnSpc>
                <a:spcPct val="150000"/>
              </a:lnSpc>
            </a:pPr>
            <a:r>
              <a:rPr lang="en-US" sz="2000" dirty="0" smtClean="0"/>
              <a:t>If </a:t>
            </a:r>
            <a:r>
              <a:rPr lang="en-US" sz="2000" b="1" dirty="0"/>
              <a:t>climate variability </a:t>
            </a:r>
            <a:r>
              <a:rPr lang="en-US" sz="2000" dirty="0"/>
              <a:t>is year to year  or month to month </a:t>
            </a:r>
            <a:r>
              <a:rPr lang="en-US" sz="2000" dirty="0" smtClean="0"/>
              <a:t>variation </a:t>
            </a:r>
            <a:r>
              <a:rPr lang="en-GB" sz="2000" dirty="0"/>
              <a:t>occurs over months</a:t>
            </a:r>
          </a:p>
          <a:p>
            <a:pPr>
              <a:lnSpc>
                <a:spcPct val="150000"/>
              </a:lnSpc>
            </a:pPr>
            <a:r>
              <a:rPr lang="en-GB" sz="2000" dirty="0"/>
              <a:t>to decades</a:t>
            </a:r>
            <a:r>
              <a:rPr lang="en-US" sz="2000" dirty="0" smtClean="0"/>
              <a:t>. </a:t>
            </a:r>
            <a:r>
              <a:rPr lang="en-US" sz="2000" b="1" dirty="0"/>
              <a:t>Climate change </a:t>
            </a:r>
            <a:r>
              <a:rPr lang="en-US" sz="2000" dirty="0"/>
              <a:t>is a long-term continuous change (increase or decrease) to </a:t>
            </a:r>
            <a:r>
              <a:rPr lang="en-US" sz="2000" b="1" dirty="0"/>
              <a:t>average </a:t>
            </a:r>
            <a:r>
              <a:rPr lang="en-US" sz="2000" dirty="0"/>
              <a:t>weather conditions (e.g. average </a:t>
            </a:r>
            <a:r>
              <a:rPr lang="en-US" sz="2000" dirty="0" smtClean="0"/>
              <a:t>temperature, rainfall ).  Both </a:t>
            </a:r>
            <a:r>
              <a:rPr lang="en-US" sz="2000" dirty="0"/>
              <a:t>can also happen simultaneously. Long-term means at least many decades</a:t>
            </a:r>
            <a:r>
              <a:rPr lang="en-US" sz="2000" dirty="0" smtClean="0"/>
              <a:t>.  </a:t>
            </a:r>
            <a:r>
              <a:rPr lang="en-US" sz="2000" dirty="0"/>
              <a:t>Climate change is slow and gradual, and unlike year-to-year or month to month </a:t>
            </a:r>
            <a:r>
              <a:rPr lang="en-US" sz="2000" dirty="0" smtClean="0"/>
              <a:t>like climate variability. </a:t>
            </a:r>
            <a:endParaRPr lang="en-US" sz="2000" dirty="0"/>
          </a:p>
        </p:txBody>
      </p:sp>
    </p:spTree>
    <p:extLst>
      <p:ext uri="{BB962C8B-B14F-4D97-AF65-F5344CB8AC3E}">
        <p14:creationId xmlns:p14="http://schemas.microsoft.com/office/powerpoint/2010/main" val="783018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8184" y="0"/>
            <a:ext cx="8229600" cy="1143000"/>
          </a:xfrm>
        </p:spPr>
        <p:txBody>
          <a:bodyPr/>
          <a:lstStyle/>
          <a:p>
            <a:pPr algn="l"/>
            <a:r>
              <a:rPr lang="en-US" b="1" dirty="0"/>
              <a:t>Chapter 1. Introduction </a:t>
            </a:r>
            <a:endParaRPr lang="en-US" dirty="0"/>
          </a:p>
        </p:txBody>
      </p:sp>
      <p:sp>
        <p:nvSpPr>
          <p:cNvPr id="6" name="Rectangle 5"/>
          <p:cNvSpPr/>
          <p:nvPr/>
        </p:nvSpPr>
        <p:spPr>
          <a:xfrm>
            <a:off x="38622" y="963582"/>
            <a:ext cx="5702202" cy="400110"/>
          </a:xfrm>
          <a:prstGeom prst="rect">
            <a:avLst/>
          </a:prstGeom>
          <a:ln>
            <a:solidFill>
              <a:srgbClr val="00B0F0"/>
            </a:solidFill>
          </a:ln>
        </p:spPr>
        <p:txBody>
          <a:bodyPr wrap="none">
            <a:spAutoFit/>
          </a:bodyPr>
          <a:lstStyle/>
          <a:p>
            <a:pPr lvl="1"/>
            <a:r>
              <a:rPr lang="en-US" sz="2000" b="1" dirty="0" smtClean="0">
                <a:latin typeface="Times New Roman" pitchFamily="18" charset="0"/>
                <a:cs typeface="Times New Roman" pitchFamily="18" charset="0"/>
              </a:rPr>
              <a:t>1.1 Climate </a:t>
            </a:r>
            <a:r>
              <a:rPr lang="en-US" sz="2000" b="1" dirty="0">
                <a:latin typeface="Times New Roman" pitchFamily="18" charset="0"/>
                <a:cs typeface="Times New Roman" pitchFamily="18" charset="0"/>
              </a:rPr>
              <a:t>change and variability </a:t>
            </a:r>
            <a:r>
              <a:rPr lang="en-US" sz="2000" dirty="0">
                <a:latin typeface="Times New Roman" pitchFamily="18" charset="0"/>
                <a:cs typeface="Times New Roman" pitchFamily="18" charset="0"/>
              </a:rPr>
              <a:t>(definition) </a:t>
            </a:r>
          </a:p>
        </p:txBody>
      </p:sp>
      <p:sp>
        <p:nvSpPr>
          <p:cNvPr id="2" name="Rectangle 1"/>
          <p:cNvSpPr/>
          <p:nvPr/>
        </p:nvSpPr>
        <p:spPr>
          <a:xfrm>
            <a:off x="333632" y="4800600"/>
            <a:ext cx="8610600" cy="1384995"/>
          </a:xfrm>
          <a:prstGeom prst="rect">
            <a:avLst/>
          </a:prstGeom>
        </p:spPr>
        <p:txBody>
          <a:bodyPr wrap="square">
            <a:spAutoFit/>
          </a:bodyPr>
          <a:lstStyle/>
          <a:p>
            <a:pPr>
              <a:lnSpc>
                <a:spcPct val="150000"/>
              </a:lnSpc>
            </a:pPr>
            <a:r>
              <a:rPr lang="en-GB" sz="2800" dirty="0"/>
              <a:t>“Climate is what we expect, weather is what </a:t>
            </a:r>
            <a:r>
              <a:rPr lang="en-GB" sz="2800" dirty="0" smtClean="0"/>
              <a:t>we get</a:t>
            </a:r>
            <a:r>
              <a:rPr lang="en-GB" sz="2800" dirty="0"/>
              <a:t>.”</a:t>
            </a:r>
          </a:p>
          <a:p>
            <a:pPr>
              <a:lnSpc>
                <a:spcPct val="150000"/>
              </a:lnSpc>
            </a:pPr>
            <a:r>
              <a:rPr lang="en-GB" sz="2800" dirty="0"/>
              <a:t>– Mark Twain</a:t>
            </a:r>
          </a:p>
        </p:txBody>
      </p:sp>
      <p:sp>
        <p:nvSpPr>
          <p:cNvPr id="7" name="Rectangle 6"/>
          <p:cNvSpPr/>
          <p:nvPr/>
        </p:nvSpPr>
        <p:spPr>
          <a:xfrm>
            <a:off x="3611" y="1981200"/>
            <a:ext cx="9084925" cy="1938992"/>
          </a:xfrm>
          <a:prstGeom prst="rect">
            <a:avLst/>
          </a:prstGeom>
        </p:spPr>
        <p:txBody>
          <a:bodyPr wrap="square">
            <a:spAutoFit/>
          </a:bodyPr>
          <a:lstStyle/>
          <a:p>
            <a:pPr>
              <a:lnSpc>
                <a:spcPct val="150000"/>
              </a:lnSpc>
            </a:pPr>
            <a:r>
              <a:rPr lang="en-US" sz="2000" b="1" dirty="0" smtClean="0"/>
              <a:t>Weather is  t</a:t>
            </a:r>
            <a:r>
              <a:rPr lang="en" sz="2000" dirty="0" smtClean="0"/>
              <a:t>he </a:t>
            </a:r>
            <a:r>
              <a:rPr lang="en" sz="2000" dirty="0"/>
              <a:t>actual state of the atmosphere in a period of several hours up to a few days (in a given </a:t>
            </a:r>
            <a:r>
              <a:rPr lang="en" sz="2000" dirty="0" smtClean="0"/>
              <a:t>place). </a:t>
            </a:r>
            <a:r>
              <a:rPr lang="en-GB" sz="2000" dirty="0"/>
              <a:t>“State of the atmosphere with respect to heat or cold, wetness or dryness, calm or storm, clearness or cloudiness. Also, weather is the meteorological day-to-day variations of the atmosphere and their effects on life and human activity. </a:t>
            </a:r>
            <a:endParaRPr lang="en-US" sz="2000" dirty="0"/>
          </a:p>
        </p:txBody>
      </p:sp>
    </p:spTree>
    <p:extLst>
      <p:ext uri="{BB962C8B-B14F-4D97-AF65-F5344CB8AC3E}">
        <p14:creationId xmlns:p14="http://schemas.microsoft.com/office/powerpoint/2010/main" val="812437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0" y="-228600"/>
            <a:ext cx="8229600" cy="1143000"/>
          </a:xfrm>
        </p:spPr>
        <p:txBody>
          <a:bodyPr/>
          <a:lstStyle/>
          <a:p>
            <a:pPr algn="l"/>
            <a:r>
              <a:rPr lang="en-US" b="1" dirty="0"/>
              <a:t>Chapter 1. Introduction </a:t>
            </a:r>
            <a:endParaRPr lang="en-US" dirty="0"/>
          </a:p>
        </p:txBody>
      </p:sp>
      <p:sp>
        <p:nvSpPr>
          <p:cNvPr id="5" name="Rectangle 4"/>
          <p:cNvSpPr/>
          <p:nvPr/>
        </p:nvSpPr>
        <p:spPr>
          <a:xfrm>
            <a:off x="-28184" y="677811"/>
            <a:ext cx="6858000" cy="400110"/>
          </a:xfrm>
          <a:prstGeom prst="rect">
            <a:avLst/>
          </a:prstGeom>
        </p:spPr>
        <p:txBody>
          <a:bodyPr wrap="square">
            <a:spAutoFit/>
          </a:bodyPr>
          <a:lstStyle/>
          <a:p>
            <a:pPr lvl="1"/>
            <a:r>
              <a:rPr lang="en-US" sz="2000" b="1" dirty="0" smtClean="0">
                <a:latin typeface="Times New Roman" pitchFamily="18" charset="0"/>
                <a:cs typeface="Times New Roman" pitchFamily="18" charset="0"/>
              </a:rPr>
              <a:t>1.2 Past</a:t>
            </a:r>
            <a:r>
              <a:rPr lang="en-US" sz="2000" b="1" dirty="0">
                <a:latin typeface="Times New Roman" pitchFamily="18" charset="0"/>
                <a:cs typeface="Times New Roman" pitchFamily="18" charset="0"/>
              </a:rPr>
              <a:t>, present and future predictions of climate change</a:t>
            </a:r>
            <a:endParaRPr lang="en-US" sz="2000" dirty="0">
              <a:latin typeface="Times New Roman" pitchFamily="18" charset="0"/>
              <a:cs typeface="Times New Roman" pitchFamily="18" charset="0"/>
            </a:endParaRPr>
          </a:p>
        </p:txBody>
      </p:sp>
      <p:sp>
        <p:nvSpPr>
          <p:cNvPr id="7" name="Rectangle 6"/>
          <p:cNvSpPr/>
          <p:nvPr/>
        </p:nvSpPr>
        <p:spPr>
          <a:xfrm>
            <a:off x="1191016" y="1077921"/>
            <a:ext cx="4828784" cy="400110"/>
          </a:xfrm>
          <a:prstGeom prst="rect">
            <a:avLst/>
          </a:prstGeom>
          <a:ln>
            <a:solidFill>
              <a:schemeClr val="tx2">
                <a:lumMod val="60000"/>
                <a:lumOff val="40000"/>
              </a:schemeClr>
            </a:solidFill>
          </a:ln>
        </p:spPr>
        <p:txBody>
          <a:bodyPr wrap="square">
            <a:spAutoFit/>
          </a:bodyPr>
          <a:lstStyle/>
          <a:p>
            <a:pPr lvl="1"/>
            <a:r>
              <a:rPr lang="en-US" sz="2000" b="1" dirty="0" smtClean="0">
                <a:latin typeface="Times New Roman" pitchFamily="18" charset="0"/>
                <a:cs typeface="Times New Roman" pitchFamily="18" charset="0"/>
              </a:rPr>
              <a:t>1.2.1    Past </a:t>
            </a:r>
            <a:r>
              <a:rPr lang="en-US" sz="2000" b="1" dirty="0">
                <a:latin typeface="Times New Roman" pitchFamily="18" charset="0"/>
                <a:cs typeface="Times New Roman" pitchFamily="18" charset="0"/>
              </a:rPr>
              <a:t>climate </a:t>
            </a:r>
            <a:r>
              <a:rPr lang="en-US" sz="2000" b="1" dirty="0" smtClean="0">
                <a:latin typeface="Times New Roman" pitchFamily="18" charset="0"/>
                <a:cs typeface="Times New Roman" pitchFamily="18" charset="0"/>
              </a:rPr>
              <a:t>(climate change)</a:t>
            </a:r>
            <a:endParaRPr lang="en-US" sz="2000" dirty="0">
              <a:latin typeface="Times New Roman" pitchFamily="18" charset="0"/>
              <a:cs typeface="Times New Roman" pitchFamily="18" charset="0"/>
            </a:endParaRPr>
          </a:p>
        </p:txBody>
      </p:sp>
      <p:sp>
        <p:nvSpPr>
          <p:cNvPr id="2" name="Rectangle 1"/>
          <p:cNvSpPr/>
          <p:nvPr/>
        </p:nvSpPr>
        <p:spPr>
          <a:xfrm>
            <a:off x="0" y="1371600"/>
            <a:ext cx="9067800" cy="3323987"/>
          </a:xfrm>
          <a:prstGeom prst="rect">
            <a:avLst/>
          </a:prstGeom>
        </p:spPr>
        <p:txBody>
          <a:bodyPr wrap="square">
            <a:spAutoFit/>
          </a:bodyPr>
          <a:lstStyle/>
          <a:p>
            <a:pPr algn="just">
              <a:lnSpc>
                <a:spcPct val="150000"/>
              </a:lnSpc>
            </a:pPr>
            <a:r>
              <a:rPr lang="en-GB" sz="2000" b="1" dirty="0"/>
              <a:t>Paleoclimatology </a:t>
            </a:r>
            <a:r>
              <a:rPr lang="en-GB" sz="2000" dirty="0"/>
              <a:t>is the study of climates for which direct measurements were not taken. As instrumental records only </a:t>
            </a:r>
            <a:r>
              <a:rPr lang="en-GB" sz="2000" dirty="0" smtClean="0"/>
              <a:t>a short period of time, </a:t>
            </a:r>
            <a:r>
              <a:rPr lang="en-GB" sz="2000" dirty="0"/>
              <a:t>the reconstruction of ancient climate is important to understand natural variation and the evolution of the current climate. </a:t>
            </a:r>
            <a:r>
              <a:rPr lang="en-GB" sz="2000" b="1" dirty="0"/>
              <a:t>Paleoclimatology</a:t>
            </a:r>
            <a:r>
              <a:rPr lang="en-GB" sz="2000" dirty="0"/>
              <a:t> uses a variety of proxy methods from the Earth and life sciences to obtain data previously preserved within rocks, sediments, </a:t>
            </a:r>
            <a:r>
              <a:rPr lang="en-GB" sz="2000" dirty="0" smtClean="0"/>
              <a:t>ice </a:t>
            </a:r>
            <a:r>
              <a:rPr lang="en-GB" sz="2000" dirty="0"/>
              <a:t>sheets, tree rings, corals, shells, and microfossils to determine the past states of Earth's atmosphere </a:t>
            </a:r>
            <a:r>
              <a:rPr lang="en-GB" sz="2000" dirty="0" smtClean="0"/>
              <a:t>combined </a:t>
            </a:r>
            <a:r>
              <a:rPr lang="en-GB" sz="2000" dirty="0"/>
              <a:t>with </a:t>
            </a:r>
            <a:r>
              <a:rPr lang="en-GB" sz="2000" dirty="0" smtClean="0"/>
              <a:t>the current techniques.</a:t>
            </a:r>
            <a:endParaRPr lang="en-GB" sz="2000" dirty="0"/>
          </a:p>
        </p:txBody>
      </p:sp>
      <p:sp>
        <p:nvSpPr>
          <p:cNvPr id="9" name="Rectangle 8"/>
          <p:cNvSpPr/>
          <p:nvPr/>
        </p:nvSpPr>
        <p:spPr>
          <a:xfrm>
            <a:off x="0" y="4495800"/>
            <a:ext cx="9061048" cy="2400657"/>
          </a:xfrm>
          <a:prstGeom prst="rect">
            <a:avLst/>
          </a:prstGeom>
        </p:spPr>
        <p:txBody>
          <a:bodyPr wrap="square">
            <a:spAutoFit/>
          </a:bodyPr>
          <a:lstStyle/>
          <a:p>
            <a:pPr algn="just">
              <a:lnSpc>
                <a:spcPct val="150000"/>
              </a:lnSpc>
            </a:pPr>
            <a:r>
              <a:rPr lang="en-GB" sz="2000" b="1" dirty="0"/>
              <a:t>P</a:t>
            </a:r>
            <a:r>
              <a:rPr lang="en-GB" sz="2000" b="1" dirty="0" smtClean="0"/>
              <a:t>aleoclimatology </a:t>
            </a:r>
            <a:r>
              <a:rPr lang="en-GB" sz="2000" dirty="0"/>
              <a:t>came to maturity in the </a:t>
            </a:r>
            <a:r>
              <a:rPr lang="en-GB" sz="2000" dirty="0" smtClean="0"/>
              <a:t>20</a:t>
            </a:r>
            <a:r>
              <a:rPr lang="en-GB" sz="2000" baseline="30000" dirty="0" smtClean="0"/>
              <a:t>th</a:t>
            </a:r>
            <a:r>
              <a:rPr lang="en-GB" sz="2000" dirty="0" smtClean="0"/>
              <a:t> Century due to the frequent glaciations, </a:t>
            </a:r>
            <a:r>
              <a:rPr lang="en-GB" sz="2000" b="1" dirty="0"/>
              <a:t>rapid cooling events </a:t>
            </a:r>
            <a:r>
              <a:rPr lang="en-GB" sz="2000" dirty="0"/>
              <a:t>such as </a:t>
            </a:r>
            <a:r>
              <a:rPr lang="en-GB" sz="2000" dirty="0" smtClean="0"/>
              <a:t>the </a:t>
            </a:r>
            <a:r>
              <a:rPr lang="en-GB" sz="2000" b="1" dirty="0" smtClean="0"/>
              <a:t>Younger </a:t>
            </a:r>
            <a:r>
              <a:rPr lang="en-GB" sz="2000" b="1" dirty="0" err="1"/>
              <a:t>Dryas</a:t>
            </a:r>
            <a:r>
              <a:rPr lang="en-GB" sz="2000" dirty="0"/>
              <a:t>, and the </a:t>
            </a:r>
            <a:r>
              <a:rPr lang="en-GB" sz="2000" b="1" dirty="0"/>
              <a:t>fast rate of warming </a:t>
            </a:r>
            <a:r>
              <a:rPr lang="en-GB" sz="2000" dirty="0"/>
              <a:t>during the </a:t>
            </a:r>
            <a:r>
              <a:rPr lang="en-GB" sz="2000" b="1" dirty="0" err="1"/>
              <a:t>Paleocene</a:t>
            </a:r>
            <a:r>
              <a:rPr lang="en-GB" sz="2000" b="1" dirty="0" smtClean="0"/>
              <a:t>– Eocene </a:t>
            </a:r>
            <a:r>
              <a:rPr lang="en-GB" sz="2000" b="1" dirty="0"/>
              <a:t>Thermal Maximum</a:t>
            </a:r>
            <a:r>
              <a:rPr lang="en-GB" sz="2000" dirty="0"/>
              <a:t>. </a:t>
            </a:r>
            <a:r>
              <a:rPr lang="en-GB" sz="2000" dirty="0" smtClean="0"/>
              <a:t>Studies </a:t>
            </a:r>
            <a:r>
              <a:rPr lang="en-GB" sz="2000" dirty="0"/>
              <a:t>of past changes in the </a:t>
            </a:r>
            <a:r>
              <a:rPr lang="en-GB" sz="2000" dirty="0" smtClean="0"/>
              <a:t>environment and </a:t>
            </a:r>
            <a:r>
              <a:rPr lang="en-GB" sz="2000" dirty="0"/>
              <a:t>biodiversity often reflect on the current situation, specifically </a:t>
            </a:r>
            <a:r>
              <a:rPr lang="en-GB" sz="2000" dirty="0" smtClean="0"/>
              <a:t>the impact </a:t>
            </a:r>
            <a:r>
              <a:rPr lang="en-GB" sz="2000" dirty="0"/>
              <a:t>of climate on mass extinctions </a:t>
            </a:r>
            <a:r>
              <a:rPr lang="en-GB" sz="2000" dirty="0" smtClean="0"/>
              <a:t> </a:t>
            </a:r>
            <a:r>
              <a:rPr lang="en-GB" sz="2000" dirty="0"/>
              <a:t>and </a:t>
            </a:r>
            <a:r>
              <a:rPr lang="en-GB" sz="2000" dirty="0" smtClean="0"/>
              <a:t>current global </a:t>
            </a:r>
            <a:r>
              <a:rPr lang="en-GB" sz="2000" dirty="0"/>
              <a:t>warming.</a:t>
            </a:r>
          </a:p>
        </p:txBody>
      </p:sp>
    </p:spTree>
    <p:extLst>
      <p:ext uri="{BB962C8B-B14F-4D97-AF65-F5344CB8AC3E}">
        <p14:creationId xmlns:p14="http://schemas.microsoft.com/office/powerpoint/2010/main" val="2035524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descr="AustPostmural"/>
          <p:cNvPicPr>
            <a:picLocks noChangeAspect="1" noChangeArrowheads="1"/>
          </p:cNvPicPr>
          <p:nvPr/>
        </p:nvPicPr>
        <p:blipFill>
          <a:blip r:embed="rId2" cstate="print">
            <a:lum bright="-42000" contrast="40000"/>
            <a:extLst>
              <a:ext uri="{28A0092B-C50C-407E-A947-70E740481C1C}">
                <a14:useLocalDpi xmlns:a14="http://schemas.microsoft.com/office/drawing/2010/main" val="0"/>
              </a:ext>
            </a:extLst>
          </a:blip>
          <a:srcRect/>
          <a:stretch>
            <a:fillRect/>
          </a:stretch>
        </p:blipFill>
        <p:spPr bwMode="auto">
          <a:xfrm>
            <a:off x="3221037" y="2313355"/>
            <a:ext cx="1667915" cy="88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p:cNvSpPr>
            <a:spLocks noGrp="1"/>
          </p:cNvSpPr>
          <p:nvPr>
            <p:ph type="title"/>
          </p:nvPr>
        </p:nvSpPr>
        <p:spPr>
          <a:xfrm>
            <a:off x="28184" y="-304800"/>
            <a:ext cx="8229600" cy="1143000"/>
          </a:xfrm>
        </p:spPr>
        <p:txBody>
          <a:bodyPr/>
          <a:lstStyle/>
          <a:p>
            <a:pPr algn="l"/>
            <a:r>
              <a:rPr lang="en-US" b="1" dirty="0"/>
              <a:t>Chapter 1. Introduction </a:t>
            </a:r>
            <a:endParaRPr lang="en-US" dirty="0"/>
          </a:p>
        </p:txBody>
      </p:sp>
      <p:sp>
        <p:nvSpPr>
          <p:cNvPr id="5" name="Rectangle 4"/>
          <p:cNvSpPr/>
          <p:nvPr/>
        </p:nvSpPr>
        <p:spPr>
          <a:xfrm>
            <a:off x="0" y="601611"/>
            <a:ext cx="6858000" cy="400110"/>
          </a:xfrm>
          <a:prstGeom prst="rect">
            <a:avLst/>
          </a:prstGeom>
        </p:spPr>
        <p:txBody>
          <a:bodyPr wrap="square">
            <a:spAutoFit/>
          </a:bodyPr>
          <a:lstStyle/>
          <a:p>
            <a:pPr lvl="1"/>
            <a:r>
              <a:rPr lang="en-US" sz="2000" b="1" dirty="0" smtClean="0">
                <a:latin typeface="Times New Roman" pitchFamily="18" charset="0"/>
                <a:cs typeface="Times New Roman" pitchFamily="18" charset="0"/>
              </a:rPr>
              <a:t>1.2 Past</a:t>
            </a:r>
            <a:r>
              <a:rPr lang="en-US" sz="2000" b="1" dirty="0">
                <a:latin typeface="Times New Roman" pitchFamily="18" charset="0"/>
                <a:cs typeface="Times New Roman" pitchFamily="18" charset="0"/>
              </a:rPr>
              <a:t>, present and future predictions of climate change</a:t>
            </a:r>
            <a:endParaRPr lang="en-US" sz="2000" dirty="0">
              <a:latin typeface="Times New Roman" pitchFamily="18" charset="0"/>
              <a:cs typeface="Times New Roman" pitchFamily="18" charset="0"/>
            </a:endParaRPr>
          </a:p>
        </p:txBody>
      </p:sp>
      <p:sp>
        <p:nvSpPr>
          <p:cNvPr id="6" name="Rectangle 5"/>
          <p:cNvSpPr/>
          <p:nvPr/>
        </p:nvSpPr>
        <p:spPr>
          <a:xfrm>
            <a:off x="374589" y="959306"/>
            <a:ext cx="5257800" cy="400110"/>
          </a:xfrm>
          <a:prstGeom prst="rect">
            <a:avLst/>
          </a:prstGeom>
          <a:ln>
            <a:solidFill>
              <a:schemeClr val="tx2">
                <a:lumMod val="60000"/>
                <a:lumOff val="40000"/>
              </a:schemeClr>
            </a:solidFill>
          </a:ln>
        </p:spPr>
        <p:txBody>
          <a:bodyPr wrap="square">
            <a:spAutoFit/>
          </a:bodyPr>
          <a:lstStyle/>
          <a:p>
            <a:pPr lvl="1"/>
            <a:r>
              <a:rPr lang="en-US" sz="2000" b="1" dirty="0" smtClean="0">
                <a:latin typeface="Times New Roman" pitchFamily="18" charset="0"/>
                <a:cs typeface="Times New Roman" pitchFamily="18" charset="0"/>
              </a:rPr>
              <a:t>1.2.1    Past </a:t>
            </a:r>
            <a:r>
              <a:rPr lang="en-US" sz="2000" b="1" dirty="0">
                <a:latin typeface="Times New Roman" pitchFamily="18" charset="0"/>
                <a:cs typeface="Times New Roman" pitchFamily="18" charset="0"/>
              </a:rPr>
              <a:t>climate </a:t>
            </a:r>
            <a:r>
              <a:rPr lang="en-US" sz="2000" b="1" dirty="0" smtClean="0">
                <a:latin typeface="Times New Roman" pitchFamily="18" charset="0"/>
                <a:cs typeface="Times New Roman" pitchFamily="18" charset="0"/>
              </a:rPr>
              <a:t>(climate change)</a:t>
            </a:r>
            <a:endParaRPr lang="en-US" sz="2000" dirty="0">
              <a:latin typeface="Times New Roman" pitchFamily="18" charset="0"/>
              <a:cs typeface="Times New Roman" pitchFamily="18" charset="0"/>
            </a:endParaRPr>
          </a:p>
        </p:txBody>
      </p:sp>
      <p:grpSp>
        <p:nvGrpSpPr>
          <p:cNvPr id="12" name="Group 14"/>
          <p:cNvGrpSpPr>
            <a:grpSpLocks/>
          </p:cNvGrpSpPr>
          <p:nvPr/>
        </p:nvGrpSpPr>
        <p:grpSpPr bwMode="auto">
          <a:xfrm>
            <a:off x="5069755" y="1159361"/>
            <a:ext cx="3998045" cy="5698639"/>
            <a:chOff x="112" y="0"/>
            <a:chExt cx="2865" cy="4138"/>
          </a:xfrm>
        </p:grpSpPr>
        <p:pic>
          <p:nvPicPr>
            <p:cNvPr id="13"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b="4203"/>
            <a:stretch/>
          </p:blipFill>
          <p:spPr bwMode="auto">
            <a:xfrm>
              <a:off x="112" y="0"/>
              <a:ext cx="2865" cy="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14" name="Text Box 10"/>
            <p:cNvSpPr txBox="1">
              <a:spLocks noChangeArrowheads="1"/>
            </p:cNvSpPr>
            <p:nvPr/>
          </p:nvSpPr>
          <p:spPr bwMode="auto">
            <a:xfrm rot="-5400000">
              <a:off x="1220" y="1539"/>
              <a:ext cx="66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600" dirty="0"/>
                <a:t>Mesozoic</a:t>
              </a:r>
            </a:p>
          </p:txBody>
        </p:sp>
        <p:sp>
          <p:nvSpPr>
            <p:cNvPr id="15" name="Text Box 11"/>
            <p:cNvSpPr txBox="1">
              <a:spLocks noChangeArrowheads="1"/>
            </p:cNvSpPr>
            <p:nvPr/>
          </p:nvSpPr>
          <p:spPr bwMode="auto">
            <a:xfrm rot="-5400000">
              <a:off x="1050" y="3365"/>
              <a:ext cx="928" cy="212"/>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600"/>
                <a:t>PreCambrian</a:t>
              </a:r>
            </a:p>
          </p:txBody>
        </p:sp>
        <p:sp>
          <p:nvSpPr>
            <p:cNvPr id="16" name="Text Box 12"/>
            <p:cNvSpPr txBox="1">
              <a:spLocks noChangeArrowheads="1"/>
            </p:cNvSpPr>
            <p:nvPr/>
          </p:nvSpPr>
          <p:spPr bwMode="auto">
            <a:xfrm rot="-5400000">
              <a:off x="1171" y="2289"/>
              <a:ext cx="72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600" dirty="0"/>
                <a:t>Paleozoic</a:t>
              </a:r>
            </a:p>
          </p:txBody>
        </p:sp>
        <p:sp>
          <p:nvSpPr>
            <p:cNvPr id="17" name="Text Box 13"/>
            <p:cNvSpPr txBox="1">
              <a:spLocks noChangeArrowheads="1"/>
            </p:cNvSpPr>
            <p:nvPr/>
          </p:nvSpPr>
          <p:spPr bwMode="auto">
            <a:xfrm rot="-5400000">
              <a:off x="1205" y="897"/>
              <a:ext cx="66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600" dirty="0"/>
                <a:t>Cenozoic</a:t>
              </a:r>
            </a:p>
          </p:txBody>
        </p:sp>
      </p:grpSp>
      <p:grpSp>
        <p:nvGrpSpPr>
          <p:cNvPr id="23" name="Group 22"/>
          <p:cNvGrpSpPr/>
          <p:nvPr/>
        </p:nvGrpSpPr>
        <p:grpSpPr>
          <a:xfrm>
            <a:off x="0" y="3429000"/>
            <a:ext cx="5069755" cy="3293220"/>
            <a:chOff x="188044" y="3564781"/>
            <a:chExt cx="5069755" cy="3293220"/>
          </a:xfrm>
        </p:grpSpPr>
        <p:pic>
          <p:nvPicPr>
            <p:cNvPr id="18" name="Picture 5" descr="https://cpb-us-w2.wpmucdn.com/sites.gsu.edu/dist/0/134/files/2013/03/Vostok_TemperatureCO2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044" y="3564781"/>
              <a:ext cx="5069755" cy="3293220"/>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p:cNvSpPr/>
            <p:nvPr/>
          </p:nvSpPr>
          <p:spPr>
            <a:xfrm>
              <a:off x="685800" y="5798507"/>
              <a:ext cx="1592103" cy="369332"/>
            </a:xfrm>
            <a:prstGeom prst="rect">
              <a:avLst/>
            </a:prstGeom>
          </p:spPr>
          <p:txBody>
            <a:bodyPr wrap="none">
              <a:spAutoFit/>
            </a:bodyPr>
            <a:lstStyle/>
            <a:p>
              <a:r>
                <a:rPr lang="en-GB" b="1" dirty="0" smtClean="0"/>
                <a:t>Glacial periods</a:t>
              </a:r>
              <a:endParaRPr lang="en-GB" dirty="0"/>
            </a:p>
          </p:txBody>
        </p:sp>
        <p:sp>
          <p:nvSpPr>
            <p:cNvPr id="20" name="Rectangle 19"/>
            <p:cNvSpPr/>
            <p:nvPr/>
          </p:nvSpPr>
          <p:spPr>
            <a:xfrm>
              <a:off x="1635105" y="3947403"/>
              <a:ext cx="2044534" cy="369332"/>
            </a:xfrm>
            <a:prstGeom prst="rect">
              <a:avLst/>
            </a:prstGeom>
          </p:spPr>
          <p:txBody>
            <a:bodyPr wrap="none">
              <a:spAutoFit/>
            </a:bodyPr>
            <a:lstStyle/>
            <a:p>
              <a:r>
                <a:rPr lang="en-GB" b="1" dirty="0"/>
                <a:t>interglacial</a:t>
              </a:r>
              <a:r>
                <a:rPr lang="en-GB" dirty="0"/>
                <a:t> </a:t>
              </a:r>
              <a:r>
                <a:rPr lang="en-GB" b="1" dirty="0" smtClean="0"/>
                <a:t>periods</a:t>
              </a:r>
              <a:r>
                <a:rPr lang="en-GB" dirty="0" smtClean="0"/>
                <a:t> </a:t>
              </a:r>
              <a:endParaRPr lang="en-GB" dirty="0"/>
            </a:p>
          </p:txBody>
        </p:sp>
        <p:cxnSp>
          <p:nvCxnSpPr>
            <p:cNvPr id="22" name="Straight Connector 21"/>
            <p:cNvCxnSpPr/>
            <p:nvPr/>
          </p:nvCxnSpPr>
          <p:spPr>
            <a:xfrm>
              <a:off x="609600" y="5410200"/>
              <a:ext cx="411480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4" name="Rectangle 23"/>
          <p:cNvSpPr/>
          <p:nvPr/>
        </p:nvSpPr>
        <p:spPr>
          <a:xfrm>
            <a:off x="6128587" y="5053427"/>
            <a:ext cx="1042273" cy="261610"/>
          </a:xfrm>
          <a:prstGeom prst="rect">
            <a:avLst/>
          </a:prstGeom>
          <a:solidFill>
            <a:srgbClr val="0070C0"/>
          </a:solidFill>
        </p:spPr>
        <p:txBody>
          <a:bodyPr wrap="none">
            <a:spAutoFit/>
          </a:bodyPr>
          <a:lstStyle/>
          <a:p>
            <a:r>
              <a:rPr lang="en-GB" sz="1100" dirty="0"/>
              <a:t>Snowball earth</a:t>
            </a:r>
          </a:p>
        </p:txBody>
      </p:sp>
      <p:sp>
        <p:nvSpPr>
          <p:cNvPr id="25" name="Rectangle 24"/>
          <p:cNvSpPr/>
          <p:nvPr/>
        </p:nvSpPr>
        <p:spPr>
          <a:xfrm>
            <a:off x="4114800" y="6564868"/>
            <a:ext cx="1263679" cy="369332"/>
          </a:xfrm>
          <a:prstGeom prst="rect">
            <a:avLst/>
          </a:prstGeom>
          <a:ln>
            <a:solidFill>
              <a:schemeClr val="accent2"/>
            </a:solidFill>
          </a:ln>
        </p:spPr>
        <p:txBody>
          <a:bodyPr wrap="none">
            <a:spAutoFit/>
          </a:bodyPr>
          <a:lstStyle/>
          <a:p>
            <a:r>
              <a:rPr lang="en-GB" b="1" dirty="0" smtClean="0"/>
              <a:t>Earth birth </a:t>
            </a:r>
            <a:endParaRPr lang="en-GB" b="1" dirty="0"/>
          </a:p>
        </p:txBody>
      </p:sp>
      <p:sp>
        <p:nvSpPr>
          <p:cNvPr id="26" name="Rectangle 25"/>
          <p:cNvSpPr/>
          <p:nvPr/>
        </p:nvSpPr>
        <p:spPr>
          <a:xfrm>
            <a:off x="4267200" y="1676400"/>
            <a:ext cx="1358834" cy="369332"/>
          </a:xfrm>
          <a:prstGeom prst="rect">
            <a:avLst/>
          </a:prstGeom>
          <a:ln>
            <a:solidFill>
              <a:schemeClr val="accent2"/>
            </a:solidFill>
          </a:ln>
        </p:spPr>
        <p:txBody>
          <a:bodyPr wrap="none">
            <a:spAutoFit/>
          </a:bodyPr>
          <a:lstStyle/>
          <a:p>
            <a:r>
              <a:rPr lang="en-GB" b="1" dirty="0" smtClean="0"/>
              <a:t>Present day </a:t>
            </a:r>
            <a:endParaRPr lang="en-GB" b="1" dirty="0"/>
          </a:p>
        </p:txBody>
      </p:sp>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11" y="1365617"/>
            <a:ext cx="3341687" cy="189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5875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8100" y="1447800"/>
            <a:ext cx="8915400" cy="4247317"/>
          </a:xfrm>
          <a:prstGeom prst="rect">
            <a:avLst/>
          </a:prstGeom>
        </p:spPr>
        <p:txBody>
          <a:bodyPr wrap="square">
            <a:spAutoFit/>
          </a:bodyPr>
          <a:lstStyle/>
          <a:p>
            <a:pPr algn="just">
              <a:lnSpc>
                <a:spcPct val="150000"/>
              </a:lnSpc>
            </a:pPr>
            <a:r>
              <a:rPr lang="en-GB" sz="2000" b="1" dirty="0" err="1"/>
              <a:t>Glacials</a:t>
            </a:r>
            <a:r>
              <a:rPr lang="en-GB" sz="2000" dirty="0"/>
              <a:t> and </a:t>
            </a:r>
            <a:r>
              <a:rPr lang="en-GB" sz="2000" b="1" dirty="0" err="1"/>
              <a:t>interglacials</a:t>
            </a:r>
            <a:r>
              <a:rPr lang="en-GB" sz="2000" dirty="0"/>
              <a:t> </a:t>
            </a:r>
            <a:r>
              <a:rPr lang="en-GB" sz="2000" dirty="0" smtClean="0"/>
              <a:t>had occurred </a:t>
            </a:r>
            <a:r>
              <a:rPr lang="en-GB" sz="2000" dirty="0"/>
              <a:t>in fairly </a:t>
            </a:r>
            <a:r>
              <a:rPr lang="en-GB" sz="2000" dirty="0" smtClean="0"/>
              <a:t>in regular </a:t>
            </a:r>
            <a:r>
              <a:rPr lang="en-GB" sz="2000" dirty="0"/>
              <a:t>repeated cycles. The timing is governed to a large degree by predictable cyclic changes in Earth’s orbit, which affect the amount of sunlight reaching different parts of Earth’s surface</a:t>
            </a:r>
            <a:r>
              <a:rPr lang="en-GB" sz="2000" dirty="0" smtClean="0"/>
              <a:t>.</a:t>
            </a:r>
          </a:p>
          <a:p>
            <a:pPr algn="just">
              <a:lnSpc>
                <a:spcPct val="150000"/>
              </a:lnSpc>
            </a:pPr>
            <a:r>
              <a:rPr lang="en-GB" sz="2000" dirty="0" smtClean="0"/>
              <a:t> A,  The </a:t>
            </a:r>
            <a:r>
              <a:rPr lang="en-GB" sz="2000" dirty="0"/>
              <a:t>three orbital variations are: </a:t>
            </a:r>
            <a:endParaRPr lang="en-GB" sz="2000" dirty="0" smtClean="0"/>
          </a:p>
          <a:p>
            <a:pPr marL="342900" indent="-342900" algn="just">
              <a:lnSpc>
                <a:spcPct val="150000"/>
              </a:lnSpc>
              <a:buAutoNum type="arabicParenBoth"/>
            </a:pPr>
            <a:r>
              <a:rPr lang="en-GB" sz="2000" dirty="0" smtClean="0"/>
              <a:t>changes </a:t>
            </a:r>
            <a:r>
              <a:rPr lang="en-GB" sz="2000" dirty="0"/>
              <a:t>in Earth’s orbit around the Sun (eccentricity</a:t>
            </a:r>
            <a:r>
              <a:rPr lang="en-GB" sz="2000" dirty="0" smtClean="0"/>
              <a:t>),</a:t>
            </a:r>
          </a:p>
          <a:p>
            <a:pPr marL="342900" indent="-342900" algn="just">
              <a:lnSpc>
                <a:spcPct val="150000"/>
              </a:lnSpc>
              <a:buAutoNum type="arabicParenBoth"/>
            </a:pPr>
            <a:endParaRPr lang="en-GB" sz="2000" dirty="0" smtClean="0"/>
          </a:p>
          <a:p>
            <a:pPr marL="342900" indent="-342900" algn="just">
              <a:lnSpc>
                <a:spcPct val="150000"/>
              </a:lnSpc>
              <a:buAutoNum type="arabicParenBoth"/>
            </a:pPr>
            <a:r>
              <a:rPr lang="en-GB" sz="2000" dirty="0" smtClean="0"/>
              <a:t> shifts </a:t>
            </a:r>
            <a:r>
              <a:rPr lang="en-GB" sz="2000" dirty="0"/>
              <a:t>in the tilt of Earth’s axis (obliquity), </a:t>
            </a:r>
            <a:r>
              <a:rPr lang="en-GB" sz="2000" dirty="0" smtClean="0"/>
              <a:t>and</a:t>
            </a:r>
          </a:p>
          <a:p>
            <a:pPr marL="342900" indent="-342900" algn="just">
              <a:lnSpc>
                <a:spcPct val="150000"/>
              </a:lnSpc>
              <a:buAutoNum type="arabicParenBoth"/>
            </a:pPr>
            <a:endParaRPr lang="en-GB" sz="2000" dirty="0" smtClean="0"/>
          </a:p>
          <a:p>
            <a:pPr marL="342900" indent="-342900" algn="just">
              <a:lnSpc>
                <a:spcPct val="150000"/>
              </a:lnSpc>
              <a:buAutoNum type="arabicParenBoth"/>
            </a:pPr>
            <a:r>
              <a:rPr lang="en-GB" sz="2000" dirty="0" smtClean="0"/>
              <a:t> the </a:t>
            </a:r>
            <a:r>
              <a:rPr lang="en-GB" sz="2000" dirty="0"/>
              <a:t>wobbling motion of Earth’s axis (precession).</a:t>
            </a:r>
          </a:p>
        </p:txBody>
      </p:sp>
      <p:sp>
        <p:nvSpPr>
          <p:cNvPr id="9" name="Title 1"/>
          <p:cNvSpPr>
            <a:spLocks noGrp="1"/>
          </p:cNvSpPr>
          <p:nvPr>
            <p:ph type="title"/>
          </p:nvPr>
        </p:nvSpPr>
        <p:spPr>
          <a:xfrm>
            <a:off x="28184" y="-228600"/>
            <a:ext cx="8229600" cy="1143000"/>
          </a:xfrm>
        </p:spPr>
        <p:txBody>
          <a:bodyPr/>
          <a:lstStyle/>
          <a:p>
            <a:pPr algn="l"/>
            <a:r>
              <a:rPr lang="en-US" b="1" dirty="0"/>
              <a:t>Chapter 1. Introduction </a:t>
            </a:r>
            <a:endParaRPr lang="en-US" dirty="0"/>
          </a:p>
        </p:txBody>
      </p:sp>
      <p:sp>
        <p:nvSpPr>
          <p:cNvPr id="10" name="Rectangle 9"/>
          <p:cNvSpPr/>
          <p:nvPr/>
        </p:nvSpPr>
        <p:spPr>
          <a:xfrm>
            <a:off x="0" y="677811"/>
            <a:ext cx="6858000" cy="400110"/>
          </a:xfrm>
          <a:prstGeom prst="rect">
            <a:avLst/>
          </a:prstGeom>
        </p:spPr>
        <p:txBody>
          <a:bodyPr wrap="square">
            <a:spAutoFit/>
          </a:bodyPr>
          <a:lstStyle/>
          <a:p>
            <a:pPr lvl="1"/>
            <a:r>
              <a:rPr lang="en-US" sz="2000" b="1" dirty="0" smtClean="0">
                <a:latin typeface="Times New Roman" pitchFamily="18" charset="0"/>
                <a:cs typeface="Times New Roman" pitchFamily="18" charset="0"/>
              </a:rPr>
              <a:t>1.2 Past</a:t>
            </a:r>
            <a:r>
              <a:rPr lang="en-US" sz="2000" b="1" dirty="0">
                <a:latin typeface="Times New Roman" pitchFamily="18" charset="0"/>
                <a:cs typeface="Times New Roman" pitchFamily="18" charset="0"/>
              </a:rPr>
              <a:t>, present and future predictions of climate change</a:t>
            </a:r>
            <a:endParaRPr lang="en-US" sz="2000" dirty="0">
              <a:latin typeface="Times New Roman" pitchFamily="18" charset="0"/>
              <a:cs typeface="Times New Roman" pitchFamily="18" charset="0"/>
            </a:endParaRPr>
          </a:p>
        </p:txBody>
      </p:sp>
      <p:sp>
        <p:nvSpPr>
          <p:cNvPr id="11" name="Rectangle 10"/>
          <p:cNvSpPr/>
          <p:nvPr/>
        </p:nvSpPr>
        <p:spPr>
          <a:xfrm>
            <a:off x="1219200" y="1077921"/>
            <a:ext cx="5257800" cy="400110"/>
          </a:xfrm>
          <a:prstGeom prst="rect">
            <a:avLst/>
          </a:prstGeom>
          <a:ln>
            <a:solidFill>
              <a:schemeClr val="tx2">
                <a:lumMod val="60000"/>
                <a:lumOff val="40000"/>
              </a:schemeClr>
            </a:solidFill>
          </a:ln>
        </p:spPr>
        <p:txBody>
          <a:bodyPr wrap="square">
            <a:spAutoFit/>
          </a:bodyPr>
          <a:lstStyle/>
          <a:p>
            <a:pPr lvl="1"/>
            <a:r>
              <a:rPr lang="en-US" sz="2000" b="1" dirty="0" smtClean="0">
                <a:latin typeface="Times New Roman" pitchFamily="18" charset="0"/>
                <a:cs typeface="Times New Roman" pitchFamily="18" charset="0"/>
              </a:rPr>
              <a:t>1.2.1    Past </a:t>
            </a:r>
            <a:r>
              <a:rPr lang="en-US" sz="2000" b="1" dirty="0">
                <a:latin typeface="Times New Roman" pitchFamily="18" charset="0"/>
                <a:cs typeface="Times New Roman" pitchFamily="18" charset="0"/>
              </a:rPr>
              <a:t>climate </a:t>
            </a:r>
            <a:r>
              <a:rPr lang="en-US" sz="2000" b="1" dirty="0" smtClean="0">
                <a:latin typeface="Times New Roman" pitchFamily="18" charset="0"/>
                <a:cs typeface="Times New Roman" pitchFamily="18" charset="0"/>
              </a:rPr>
              <a:t>(climate change)</a:t>
            </a:r>
            <a:endParaRPr lang="en-US" sz="2000" dirty="0">
              <a:latin typeface="Times New Roman" pitchFamily="18" charset="0"/>
              <a:cs typeface="Times New Roman" pitchFamily="18" charset="0"/>
            </a:endParaRPr>
          </a:p>
        </p:txBody>
      </p:sp>
      <p:pic>
        <p:nvPicPr>
          <p:cNvPr id="1026" name="Picture 12" descr="Description: https://www.globalchange.umich.edu/globalchange1/current/lectures/kling/paleoclimate/paleo_fig11.gif">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3276600"/>
            <a:ext cx="917575" cy="572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7056824" y="3276600"/>
            <a:ext cx="2132250" cy="584775"/>
          </a:xfrm>
          <a:prstGeom prst="rect">
            <a:avLst/>
          </a:prstGeom>
        </p:spPr>
        <p:txBody>
          <a:bodyPr wrap="none">
            <a:spAutoFit/>
          </a:bodyPr>
          <a:lstStyle/>
          <a:p>
            <a:r>
              <a:rPr lang="en-GB" sz="1600" dirty="0"/>
              <a:t>Eccentricity changes </a:t>
            </a:r>
            <a:r>
              <a:rPr lang="en-GB" sz="1600" dirty="0" smtClean="0"/>
              <a:t>on</a:t>
            </a:r>
          </a:p>
          <a:p>
            <a:r>
              <a:rPr lang="en-GB" sz="1600" dirty="0" smtClean="0"/>
              <a:t> </a:t>
            </a:r>
            <a:r>
              <a:rPr lang="en-GB" sz="1600" dirty="0"/>
              <a:t>a ~100,000 year cycle</a:t>
            </a:r>
            <a:endParaRPr lang="en-US" sz="1600" dirty="0"/>
          </a:p>
        </p:txBody>
      </p:sp>
      <p:sp>
        <p:nvSpPr>
          <p:cNvPr id="4" name="Rectangle 3"/>
          <p:cNvSpPr/>
          <p:nvPr/>
        </p:nvSpPr>
        <p:spPr>
          <a:xfrm>
            <a:off x="38100" y="4648200"/>
            <a:ext cx="9150974" cy="523220"/>
          </a:xfrm>
          <a:prstGeom prst="rect">
            <a:avLst/>
          </a:prstGeom>
        </p:spPr>
        <p:txBody>
          <a:bodyPr wrap="square">
            <a:spAutoFit/>
          </a:bodyPr>
          <a:lstStyle/>
          <a:p>
            <a:r>
              <a:rPr lang="en-GB" sz="1400" b="1" dirty="0"/>
              <a:t>T</a:t>
            </a:r>
            <a:r>
              <a:rPr lang="en-GB" sz="1400" b="1" dirty="0" smtClean="0"/>
              <a:t>he  axis </a:t>
            </a:r>
            <a:r>
              <a:rPr lang="en-GB" sz="1400" b="1" dirty="0"/>
              <a:t>tilt is 23.5°, but the </a:t>
            </a:r>
            <a:r>
              <a:rPr lang="en-GB" sz="1400" b="1" dirty="0" smtClean="0"/>
              <a:t>axis varies </a:t>
            </a:r>
            <a:r>
              <a:rPr lang="en-GB" sz="1400" b="1" dirty="0"/>
              <a:t>from ~22° to 24.5</a:t>
            </a:r>
            <a:r>
              <a:rPr lang="en-GB" sz="1400" b="1" dirty="0" smtClean="0"/>
              <a:t>° once </a:t>
            </a:r>
            <a:r>
              <a:rPr lang="en-GB" sz="1400" b="1" dirty="0"/>
              <a:t>every 41,000 </a:t>
            </a:r>
            <a:r>
              <a:rPr lang="en-GB" sz="1400" b="1" dirty="0" smtClean="0"/>
              <a:t>year. </a:t>
            </a:r>
            <a:r>
              <a:rPr lang="en-GB" sz="1400" b="1" dirty="0"/>
              <a:t>The smaller the tilt, the less seasonal </a:t>
            </a:r>
            <a:r>
              <a:rPr lang="en-GB" sz="1400" b="1" dirty="0" smtClean="0"/>
              <a:t>variation.</a:t>
            </a:r>
            <a:r>
              <a:rPr lang="en-GB" sz="1400" b="1" dirty="0"/>
              <a:t> For small tilt, the winters would tend to be milder and the summers cooler. This would lead to more glaciation.</a:t>
            </a:r>
            <a:endParaRPr lang="en-US" sz="1400" b="1" dirty="0"/>
          </a:p>
        </p:txBody>
      </p:sp>
      <p:sp>
        <p:nvSpPr>
          <p:cNvPr id="8" name="Rectangle 7"/>
          <p:cNvSpPr/>
          <p:nvPr/>
        </p:nvSpPr>
        <p:spPr>
          <a:xfrm>
            <a:off x="144719" y="5695117"/>
            <a:ext cx="8845851" cy="646331"/>
          </a:xfrm>
          <a:prstGeom prst="rect">
            <a:avLst/>
          </a:prstGeom>
        </p:spPr>
        <p:txBody>
          <a:bodyPr wrap="square">
            <a:spAutoFit/>
          </a:bodyPr>
          <a:lstStyle/>
          <a:p>
            <a:r>
              <a:rPr lang="en-GB" dirty="0"/>
              <a:t>precession = wobbliness of Earth from gravitational pull of other planets - occurs every 23,000 years Northern Hemisphere</a:t>
            </a:r>
            <a:endParaRPr lang="en-US" dirty="0"/>
          </a:p>
        </p:txBody>
      </p:sp>
      <p:sp>
        <p:nvSpPr>
          <p:cNvPr id="6" name="Rectangle 5"/>
          <p:cNvSpPr/>
          <p:nvPr/>
        </p:nvSpPr>
        <p:spPr>
          <a:xfrm>
            <a:off x="76200" y="3810000"/>
            <a:ext cx="8763000" cy="523220"/>
          </a:xfrm>
          <a:prstGeom prst="rect">
            <a:avLst/>
          </a:prstGeom>
        </p:spPr>
        <p:txBody>
          <a:bodyPr wrap="square">
            <a:spAutoFit/>
          </a:bodyPr>
          <a:lstStyle/>
          <a:p>
            <a:r>
              <a:rPr lang="en-GB" sz="1400" b="1" dirty="0"/>
              <a:t>changes in the </a:t>
            </a:r>
            <a:r>
              <a:rPr lang="en-GB" sz="1400" b="1" u="sng" dirty="0"/>
              <a:t>shape</a:t>
            </a:r>
            <a:r>
              <a:rPr lang="en-GB" sz="1400" b="1" dirty="0"/>
              <a:t> of the Earth's orbit as the Earth rotates about the Sun. The more eccentric the orbit the more elliptical the orbital shape. </a:t>
            </a:r>
            <a:r>
              <a:rPr lang="en-US" sz="1400" b="1" dirty="0"/>
              <a:t>There is a good correlation, between periods of low eccentricity and glacial periods</a:t>
            </a:r>
          </a:p>
        </p:txBody>
      </p:sp>
    </p:spTree>
    <p:extLst>
      <p:ext uri="{BB962C8B-B14F-4D97-AF65-F5344CB8AC3E}">
        <p14:creationId xmlns:p14="http://schemas.microsoft.com/office/powerpoint/2010/main" val="21375360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8184" y="-228600"/>
            <a:ext cx="8229600" cy="1143000"/>
          </a:xfrm>
        </p:spPr>
        <p:txBody>
          <a:bodyPr/>
          <a:lstStyle/>
          <a:p>
            <a:pPr algn="l"/>
            <a:r>
              <a:rPr lang="en-US" b="1" dirty="0"/>
              <a:t>Chapter 1. Introduction </a:t>
            </a:r>
            <a:endParaRPr lang="en-US" dirty="0"/>
          </a:p>
        </p:txBody>
      </p:sp>
      <p:sp>
        <p:nvSpPr>
          <p:cNvPr id="5" name="Rectangle 4"/>
          <p:cNvSpPr/>
          <p:nvPr/>
        </p:nvSpPr>
        <p:spPr>
          <a:xfrm>
            <a:off x="0" y="677811"/>
            <a:ext cx="6858000" cy="400110"/>
          </a:xfrm>
          <a:prstGeom prst="rect">
            <a:avLst/>
          </a:prstGeom>
        </p:spPr>
        <p:txBody>
          <a:bodyPr wrap="square">
            <a:spAutoFit/>
          </a:bodyPr>
          <a:lstStyle/>
          <a:p>
            <a:pPr lvl="1"/>
            <a:r>
              <a:rPr lang="en-US" sz="2000" b="1" dirty="0" smtClean="0">
                <a:latin typeface="Times New Roman" pitchFamily="18" charset="0"/>
                <a:cs typeface="Times New Roman" pitchFamily="18" charset="0"/>
              </a:rPr>
              <a:t>1.2 Past</a:t>
            </a:r>
            <a:r>
              <a:rPr lang="en-US" sz="2000" b="1" dirty="0">
                <a:latin typeface="Times New Roman" pitchFamily="18" charset="0"/>
                <a:cs typeface="Times New Roman" pitchFamily="18" charset="0"/>
              </a:rPr>
              <a:t>, present and future predictions of climate change</a:t>
            </a:r>
            <a:endParaRPr lang="en-US" sz="2000" dirty="0">
              <a:latin typeface="Times New Roman" pitchFamily="18" charset="0"/>
              <a:cs typeface="Times New Roman" pitchFamily="18" charset="0"/>
            </a:endParaRPr>
          </a:p>
        </p:txBody>
      </p:sp>
      <p:pic>
        <p:nvPicPr>
          <p:cNvPr id="6" name="Picture 3" descr="milankovitch"/>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95400" y="1294696"/>
            <a:ext cx="4267200" cy="5487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How many planets are there in the Solar System? - YouTub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1670" y="1600200"/>
            <a:ext cx="3352330" cy="2514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67936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357" y="2057400"/>
            <a:ext cx="498597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a:xfrm>
            <a:off x="28184" y="-304800"/>
            <a:ext cx="8229600" cy="1143000"/>
          </a:xfrm>
        </p:spPr>
        <p:txBody>
          <a:bodyPr/>
          <a:lstStyle/>
          <a:p>
            <a:pPr algn="l"/>
            <a:r>
              <a:rPr lang="en-US" b="1" dirty="0"/>
              <a:t>Chapter 1. Introduction </a:t>
            </a:r>
            <a:endParaRPr lang="en-US" dirty="0"/>
          </a:p>
        </p:txBody>
      </p:sp>
      <p:sp>
        <p:nvSpPr>
          <p:cNvPr id="6" name="Rectangle 5"/>
          <p:cNvSpPr/>
          <p:nvPr/>
        </p:nvSpPr>
        <p:spPr>
          <a:xfrm>
            <a:off x="0" y="601611"/>
            <a:ext cx="6858000" cy="400110"/>
          </a:xfrm>
          <a:prstGeom prst="rect">
            <a:avLst/>
          </a:prstGeom>
        </p:spPr>
        <p:txBody>
          <a:bodyPr wrap="square">
            <a:spAutoFit/>
          </a:bodyPr>
          <a:lstStyle/>
          <a:p>
            <a:pPr lvl="1"/>
            <a:r>
              <a:rPr lang="en-US" sz="2000" b="1" dirty="0" smtClean="0">
                <a:latin typeface="Times New Roman" pitchFamily="18" charset="0"/>
                <a:cs typeface="Times New Roman" pitchFamily="18" charset="0"/>
              </a:rPr>
              <a:t>1.2 Past</a:t>
            </a:r>
            <a:r>
              <a:rPr lang="en-US" sz="2000" b="1" dirty="0">
                <a:latin typeface="Times New Roman" pitchFamily="18" charset="0"/>
                <a:cs typeface="Times New Roman" pitchFamily="18" charset="0"/>
              </a:rPr>
              <a:t>, present and future predictions of climate change</a:t>
            </a:r>
            <a:endParaRPr lang="en-US" sz="2000" dirty="0">
              <a:latin typeface="Times New Roman" pitchFamily="18" charset="0"/>
              <a:cs typeface="Times New Roman" pitchFamily="18" charset="0"/>
            </a:endParaRPr>
          </a:p>
        </p:txBody>
      </p:sp>
      <p:sp>
        <p:nvSpPr>
          <p:cNvPr id="7" name="Rectangle 6"/>
          <p:cNvSpPr/>
          <p:nvPr/>
        </p:nvSpPr>
        <p:spPr>
          <a:xfrm>
            <a:off x="1219200" y="1001721"/>
            <a:ext cx="5257800" cy="400110"/>
          </a:xfrm>
          <a:prstGeom prst="rect">
            <a:avLst/>
          </a:prstGeom>
          <a:ln>
            <a:solidFill>
              <a:schemeClr val="tx2">
                <a:lumMod val="60000"/>
                <a:lumOff val="40000"/>
              </a:schemeClr>
            </a:solidFill>
          </a:ln>
        </p:spPr>
        <p:txBody>
          <a:bodyPr wrap="square">
            <a:spAutoFit/>
          </a:bodyPr>
          <a:lstStyle/>
          <a:p>
            <a:pPr lvl="1"/>
            <a:r>
              <a:rPr lang="en-US" sz="2000" b="1" dirty="0" smtClean="0">
                <a:latin typeface="Times New Roman" pitchFamily="18" charset="0"/>
                <a:cs typeface="Times New Roman" pitchFamily="18" charset="0"/>
              </a:rPr>
              <a:t>1.2.1    Past </a:t>
            </a:r>
            <a:r>
              <a:rPr lang="en-US" sz="2000" b="1" dirty="0">
                <a:latin typeface="Times New Roman" pitchFamily="18" charset="0"/>
                <a:cs typeface="Times New Roman" pitchFamily="18" charset="0"/>
              </a:rPr>
              <a:t>climate </a:t>
            </a:r>
            <a:r>
              <a:rPr lang="en-US" sz="2000" b="1" dirty="0" smtClean="0">
                <a:latin typeface="Times New Roman" pitchFamily="18" charset="0"/>
                <a:cs typeface="Times New Roman" pitchFamily="18" charset="0"/>
              </a:rPr>
              <a:t>(climate change)</a:t>
            </a:r>
            <a:endParaRPr lang="en-US" sz="2000" dirty="0">
              <a:latin typeface="Times New Roman" pitchFamily="18" charset="0"/>
              <a:cs typeface="Times New Roman" pitchFamily="18" charset="0"/>
            </a:endParaRPr>
          </a:p>
        </p:txBody>
      </p:sp>
      <p:pic>
        <p:nvPicPr>
          <p:cNvPr id="614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12363" y="2057400"/>
            <a:ext cx="3998686" cy="226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76200" y="5029200"/>
            <a:ext cx="2971800" cy="1754326"/>
          </a:xfrm>
          <a:prstGeom prst="rect">
            <a:avLst/>
          </a:prstGeom>
        </p:spPr>
        <p:txBody>
          <a:bodyPr wrap="square">
            <a:spAutoFit/>
          </a:bodyPr>
          <a:lstStyle/>
          <a:p>
            <a:r>
              <a:rPr lang="en-GB" dirty="0"/>
              <a:t>It is also important to recognize that CO2, CH4, and NO2 show high </a:t>
            </a:r>
            <a:r>
              <a:rPr lang="en-GB" dirty="0" smtClean="0"/>
              <a:t>concentration during </a:t>
            </a:r>
            <a:r>
              <a:rPr lang="en-GB" dirty="0"/>
              <a:t>interglacial times and lower concentrations during the glacial episode.</a:t>
            </a:r>
          </a:p>
        </p:txBody>
      </p:sp>
      <p:pic>
        <p:nvPicPr>
          <p:cNvPr id="2050"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65573" y="4724400"/>
            <a:ext cx="3200399" cy="1961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41189" y="1448482"/>
            <a:ext cx="1871025" cy="369332"/>
          </a:xfrm>
          <a:prstGeom prst="rect">
            <a:avLst/>
          </a:prstGeom>
        </p:spPr>
        <p:txBody>
          <a:bodyPr wrap="none">
            <a:spAutoFit/>
          </a:bodyPr>
          <a:lstStyle/>
          <a:p>
            <a:r>
              <a:rPr lang="en-GB" b="1" dirty="0" smtClean="0"/>
              <a:t>B,  Plate </a:t>
            </a:r>
            <a:r>
              <a:rPr lang="en-GB" b="1" dirty="0"/>
              <a:t>tectonics</a:t>
            </a:r>
          </a:p>
        </p:txBody>
      </p:sp>
    </p:spTree>
    <p:extLst>
      <p:ext uri="{BB962C8B-B14F-4D97-AF65-F5344CB8AC3E}">
        <p14:creationId xmlns:p14="http://schemas.microsoft.com/office/powerpoint/2010/main" val="16076175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8184" y="-304800"/>
            <a:ext cx="8229600" cy="1143000"/>
          </a:xfrm>
        </p:spPr>
        <p:txBody>
          <a:bodyPr/>
          <a:lstStyle/>
          <a:p>
            <a:pPr algn="l"/>
            <a:r>
              <a:rPr lang="en-US" b="1" dirty="0"/>
              <a:t>Chapter 1. Introduction </a:t>
            </a:r>
            <a:endParaRPr lang="en-US" dirty="0"/>
          </a:p>
        </p:txBody>
      </p:sp>
      <p:sp>
        <p:nvSpPr>
          <p:cNvPr id="5" name="Rectangle 4"/>
          <p:cNvSpPr/>
          <p:nvPr/>
        </p:nvSpPr>
        <p:spPr>
          <a:xfrm>
            <a:off x="0" y="457200"/>
            <a:ext cx="6858000" cy="400110"/>
          </a:xfrm>
          <a:prstGeom prst="rect">
            <a:avLst/>
          </a:prstGeom>
        </p:spPr>
        <p:txBody>
          <a:bodyPr wrap="square">
            <a:spAutoFit/>
          </a:bodyPr>
          <a:lstStyle/>
          <a:p>
            <a:pPr lvl="1"/>
            <a:r>
              <a:rPr lang="en-US" sz="2000" b="1" dirty="0" smtClean="0">
                <a:latin typeface="Times New Roman" pitchFamily="18" charset="0"/>
                <a:cs typeface="Times New Roman" pitchFamily="18" charset="0"/>
              </a:rPr>
              <a:t>1.2 Past</a:t>
            </a:r>
            <a:r>
              <a:rPr lang="en-US" sz="2000" b="1" dirty="0">
                <a:latin typeface="Times New Roman" pitchFamily="18" charset="0"/>
                <a:cs typeface="Times New Roman" pitchFamily="18" charset="0"/>
              </a:rPr>
              <a:t>, present and future predictions of climate change</a:t>
            </a:r>
            <a:endParaRPr lang="en-US" sz="2000" dirty="0">
              <a:latin typeface="Times New Roman" pitchFamily="18" charset="0"/>
              <a:cs typeface="Times New Roman" pitchFamily="18" charset="0"/>
            </a:endParaRPr>
          </a:p>
        </p:txBody>
      </p:sp>
      <p:sp>
        <p:nvSpPr>
          <p:cNvPr id="6" name="Rectangle 5"/>
          <p:cNvSpPr/>
          <p:nvPr/>
        </p:nvSpPr>
        <p:spPr>
          <a:xfrm>
            <a:off x="0" y="882847"/>
            <a:ext cx="5257800" cy="400110"/>
          </a:xfrm>
          <a:prstGeom prst="rect">
            <a:avLst/>
          </a:prstGeom>
          <a:ln>
            <a:solidFill>
              <a:schemeClr val="tx2">
                <a:lumMod val="60000"/>
                <a:lumOff val="40000"/>
              </a:schemeClr>
            </a:solidFill>
          </a:ln>
        </p:spPr>
        <p:txBody>
          <a:bodyPr wrap="square">
            <a:spAutoFit/>
          </a:bodyPr>
          <a:lstStyle/>
          <a:p>
            <a:pPr lvl="1"/>
            <a:r>
              <a:rPr lang="en-US" sz="2000" b="1" dirty="0" smtClean="0">
                <a:latin typeface="Times New Roman" pitchFamily="18" charset="0"/>
                <a:cs typeface="Times New Roman" pitchFamily="18" charset="0"/>
              </a:rPr>
              <a:t>1.2.1    Past </a:t>
            </a:r>
            <a:r>
              <a:rPr lang="en-US" sz="2000" b="1" dirty="0">
                <a:latin typeface="Times New Roman" pitchFamily="18" charset="0"/>
                <a:cs typeface="Times New Roman" pitchFamily="18" charset="0"/>
              </a:rPr>
              <a:t>climate </a:t>
            </a:r>
            <a:r>
              <a:rPr lang="en-US" sz="2000" b="1" dirty="0" smtClean="0">
                <a:latin typeface="Times New Roman" pitchFamily="18" charset="0"/>
                <a:cs typeface="Times New Roman" pitchFamily="18" charset="0"/>
              </a:rPr>
              <a:t>(climate change)</a:t>
            </a:r>
            <a:endParaRPr lang="en-US" sz="2000" dirty="0">
              <a:latin typeface="Times New Roman" pitchFamily="18" charset="0"/>
              <a:cs typeface="Times New Roman" pitchFamily="18" charset="0"/>
            </a:endParaRPr>
          </a:p>
        </p:txBody>
      </p:sp>
      <p:pic>
        <p:nvPicPr>
          <p:cNvPr id="7"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901" r="2248"/>
          <a:stretch/>
        </p:blipFill>
        <p:spPr bwMode="auto">
          <a:xfrm>
            <a:off x="76200" y="1401832"/>
            <a:ext cx="5208373" cy="3046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p:cNvSpPr/>
          <p:nvPr/>
        </p:nvSpPr>
        <p:spPr>
          <a:xfrm>
            <a:off x="5486401" y="4114800"/>
            <a:ext cx="3809999" cy="1631216"/>
          </a:xfrm>
          <a:prstGeom prst="rect">
            <a:avLst/>
          </a:prstGeom>
        </p:spPr>
        <p:txBody>
          <a:bodyPr wrap="square">
            <a:spAutoFit/>
          </a:bodyPr>
          <a:lstStyle/>
          <a:p>
            <a:r>
              <a:rPr lang="en-GB" sz="2000" b="1" dirty="0"/>
              <a:t>What explains the cooling</a:t>
            </a:r>
            <a:r>
              <a:rPr lang="en-GB" sz="2000" b="1" dirty="0" smtClean="0"/>
              <a:t>?       </a:t>
            </a:r>
            <a:r>
              <a:rPr lang="en-GB" sz="2000" dirty="0" smtClean="0"/>
              <a:t>Atmospheric </a:t>
            </a:r>
            <a:r>
              <a:rPr lang="en-GB" sz="2000" dirty="0"/>
              <a:t>CO2 </a:t>
            </a:r>
            <a:r>
              <a:rPr lang="en-GB" sz="2000" dirty="0" smtClean="0"/>
              <a:t>decrease du</a:t>
            </a:r>
            <a:r>
              <a:rPr lang="en-GB" sz="2000" i="1" dirty="0" smtClean="0"/>
              <a:t>e to </a:t>
            </a:r>
            <a:endParaRPr lang="en-GB" sz="2000" i="1" dirty="0"/>
          </a:p>
          <a:p>
            <a:r>
              <a:rPr lang="en-GB" sz="2000" dirty="0" smtClean="0"/>
              <a:t>• </a:t>
            </a:r>
            <a:r>
              <a:rPr lang="en-GB" sz="2000" dirty="0"/>
              <a:t>Reduced </a:t>
            </a:r>
            <a:r>
              <a:rPr lang="en-GB" sz="2000" dirty="0" smtClean="0"/>
              <a:t>Volcanism</a:t>
            </a:r>
            <a:endParaRPr lang="en-GB" sz="2000" dirty="0"/>
          </a:p>
          <a:p>
            <a:r>
              <a:rPr lang="en-GB" sz="2000" dirty="0"/>
              <a:t>• Increased chemical </a:t>
            </a:r>
            <a:r>
              <a:rPr lang="en-GB" sz="2000" dirty="0" smtClean="0"/>
              <a:t>weathering</a:t>
            </a:r>
          </a:p>
          <a:p>
            <a:pPr marL="285750" indent="-285750">
              <a:buFont typeface="Arial" pitchFamily="34" charset="0"/>
              <a:buChar char="•"/>
            </a:pPr>
            <a:r>
              <a:rPr lang="en-US" sz="2000" dirty="0" smtClean="0"/>
              <a:t>Photosynthesis </a:t>
            </a:r>
            <a:endParaRPr lang="en-GB" sz="2000" dirty="0"/>
          </a:p>
        </p:txBody>
      </p:sp>
      <p:sp>
        <p:nvSpPr>
          <p:cNvPr id="10" name="Rectangle 9"/>
          <p:cNvSpPr/>
          <p:nvPr/>
        </p:nvSpPr>
        <p:spPr>
          <a:xfrm>
            <a:off x="5334000" y="1600200"/>
            <a:ext cx="3810000" cy="1631216"/>
          </a:xfrm>
          <a:prstGeom prst="rect">
            <a:avLst/>
          </a:prstGeom>
        </p:spPr>
        <p:txBody>
          <a:bodyPr wrap="square">
            <a:spAutoFit/>
          </a:bodyPr>
          <a:lstStyle/>
          <a:p>
            <a:r>
              <a:rPr lang="en-GB" sz="2000" b="1" dirty="0"/>
              <a:t>What explains the </a:t>
            </a:r>
            <a:r>
              <a:rPr lang="en-GB" sz="2000" b="1" dirty="0" smtClean="0"/>
              <a:t>warming?       </a:t>
            </a:r>
            <a:r>
              <a:rPr lang="en-GB" sz="2000" dirty="0" smtClean="0"/>
              <a:t>Atmospheric </a:t>
            </a:r>
            <a:r>
              <a:rPr lang="en-GB" sz="2000" dirty="0"/>
              <a:t>CO2 </a:t>
            </a:r>
            <a:r>
              <a:rPr lang="en-GB" sz="2000" dirty="0" smtClean="0"/>
              <a:t>decrease du</a:t>
            </a:r>
            <a:r>
              <a:rPr lang="en-GB" sz="2000" i="1" dirty="0" smtClean="0"/>
              <a:t>e to </a:t>
            </a:r>
            <a:endParaRPr lang="en-GB" sz="2000" i="1" dirty="0"/>
          </a:p>
          <a:p>
            <a:r>
              <a:rPr lang="en-GB" sz="2000" dirty="0" smtClean="0"/>
              <a:t>• increase of  Volcanism</a:t>
            </a:r>
            <a:endParaRPr lang="en-GB" sz="2000" dirty="0"/>
          </a:p>
          <a:p>
            <a:r>
              <a:rPr lang="en-GB" sz="2000" dirty="0"/>
              <a:t>• </a:t>
            </a:r>
            <a:r>
              <a:rPr lang="en-GB" sz="2000" dirty="0" smtClean="0"/>
              <a:t>decrease of </a:t>
            </a:r>
            <a:r>
              <a:rPr lang="en-GB" sz="2000" dirty="0"/>
              <a:t>chemical </a:t>
            </a:r>
            <a:r>
              <a:rPr lang="en-GB" sz="2000" dirty="0" smtClean="0"/>
              <a:t>weathering</a:t>
            </a:r>
          </a:p>
          <a:p>
            <a:pPr marL="285750" indent="-285750">
              <a:buFont typeface="Arial" pitchFamily="34" charset="0"/>
              <a:buChar char="•"/>
            </a:pPr>
            <a:r>
              <a:rPr lang="en-US" sz="2000" dirty="0" smtClean="0"/>
              <a:t>respiration</a:t>
            </a:r>
            <a:endParaRPr lang="en-GB" sz="2000" dirty="0"/>
          </a:p>
        </p:txBody>
      </p:sp>
      <p:pic>
        <p:nvPicPr>
          <p:cNvPr id="11" name="Picture 3"/>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3848" r="2843"/>
          <a:stretch/>
        </p:blipFill>
        <p:spPr bwMode="auto">
          <a:xfrm>
            <a:off x="49427" y="4455873"/>
            <a:ext cx="5208373" cy="2402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Rectangle 11"/>
          <p:cNvSpPr/>
          <p:nvPr/>
        </p:nvSpPr>
        <p:spPr>
          <a:xfrm>
            <a:off x="5508163" y="6466695"/>
            <a:ext cx="2569037" cy="369332"/>
          </a:xfrm>
          <a:prstGeom prst="rect">
            <a:avLst/>
          </a:prstGeom>
        </p:spPr>
        <p:txBody>
          <a:bodyPr wrap="none">
            <a:spAutoFit/>
          </a:bodyPr>
          <a:lstStyle/>
          <a:p>
            <a:r>
              <a:rPr lang="en-GB" dirty="0" smtClean="0"/>
              <a:t>Unit of carbon </a:t>
            </a:r>
            <a:r>
              <a:rPr lang="en-GB" dirty="0" err="1" smtClean="0"/>
              <a:t>Petagrams</a:t>
            </a:r>
            <a:endParaRPr lang="en-GB" dirty="0"/>
          </a:p>
        </p:txBody>
      </p:sp>
      <p:sp>
        <p:nvSpPr>
          <p:cNvPr id="13" name="Rectangle 12"/>
          <p:cNvSpPr/>
          <p:nvPr/>
        </p:nvSpPr>
        <p:spPr>
          <a:xfrm>
            <a:off x="5479185" y="1055068"/>
            <a:ext cx="1871025" cy="369332"/>
          </a:xfrm>
          <a:prstGeom prst="rect">
            <a:avLst/>
          </a:prstGeom>
        </p:spPr>
        <p:txBody>
          <a:bodyPr wrap="none">
            <a:spAutoFit/>
          </a:bodyPr>
          <a:lstStyle/>
          <a:p>
            <a:r>
              <a:rPr lang="en-GB" b="1" dirty="0" smtClean="0"/>
              <a:t>B,  Plate </a:t>
            </a:r>
            <a:r>
              <a:rPr lang="en-GB" b="1" dirty="0"/>
              <a:t>tectonics</a:t>
            </a:r>
          </a:p>
        </p:txBody>
      </p:sp>
    </p:spTree>
    <p:extLst>
      <p:ext uri="{BB962C8B-B14F-4D97-AF65-F5344CB8AC3E}">
        <p14:creationId xmlns:p14="http://schemas.microsoft.com/office/powerpoint/2010/main" val="5605169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40777" y="1478031"/>
            <a:ext cx="5362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lgn="ctr" hangingPunct="0">
              <a:lnSpc>
                <a:spcPct val="110000"/>
              </a:lnSpc>
            </a:pPr>
            <a:r>
              <a:rPr kumimoji="1" lang="en-US" b="1" dirty="0">
                <a:solidFill>
                  <a:srgbClr val="A50021"/>
                </a:solidFill>
                <a:latin typeface="+mj-lt"/>
              </a:rPr>
              <a:t>Methods to establish past climate</a:t>
            </a:r>
          </a:p>
        </p:txBody>
      </p:sp>
      <p:sp>
        <p:nvSpPr>
          <p:cNvPr id="6" name="Title 1"/>
          <p:cNvSpPr>
            <a:spLocks noGrp="1"/>
          </p:cNvSpPr>
          <p:nvPr>
            <p:ph type="title"/>
          </p:nvPr>
        </p:nvSpPr>
        <p:spPr>
          <a:xfrm>
            <a:off x="28184" y="-228600"/>
            <a:ext cx="8229600" cy="1143000"/>
          </a:xfrm>
        </p:spPr>
        <p:txBody>
          <a:bodyPr/>
          <a:lstStyle/>
          <a:p>
            <a:pPr algn="l"/>
            <a:r>
              <a:rPr lang="en-US" b="1" dirty="0"/>
              <a:t>Chapter 1. Introduction </a:t>
            </a:r>
            <a:endParaRPr lang="en-US" dirty="0"/>
          </a:p>
        </p:txBody>
      </p:sp>
      <p:sp>
        <p:nvSpPr>
          <p:cNvPr id="7" name="Rectangle 6"/>
          <p:cNvSpPr/>
          <p:nvPr/>
        </p:nvSpPr>
        <p:spPr>
          <a:xfrm>
            <a:off x="0" y="677811"/>
            <a:ext cx="6858000" cy="400110"/>
          </a:xfrm>
          <a:prstGeom prst="rect">
            <a:avLst/>
          </a:prstGeom>
        </p:spPr>
        <p:txBody>
          <a:bodyPr wrap="square">
            <a:spAutoFit/>
          </a:bodyPr>
          <a:lstStyle/>
          <a:p>
            <a:pPr lvl="1"/>
            <a:r>
              <a:rPr lang="en-US" sz="2000" b="1" dirty="0" smtClean="0">
                <a:latin typeface="Times New Roman" pitchFamily="18" charset="0"/>
                <a:cs typeface="Times New Roman" pitchFamily="18" charset="0"/>
              </a:rPr>
              <a:t>1.2 Past</a:t>
            </a:r>
            <a:r>
              <a:rPr lang="en-US" sz="2000" b="1" dirty="0">
                <a:latin typeface="Times New Roman" pitchFamily="18" charset="0"/>
                <a:cs typeface="Times New Roman" pitchFamily="18" charset="0"/>
              </a:rPr>
              <a:t>, present and future predictions of climate change</a:t>
            </a:r>
            <a:endParaRPr lang="en-US" sz="2000" dirty="0">
              <a:latin typeface="Times New Roman" pitchFamily="18" charset="0"/>
              <a:cs typeface="Times New Roman" pitchFamily="18" charset="0"/>
            </a:endParaRPr>
          </a:p>
        </p:txBody>
      </p:sp>
      <p:sp>
        <p:nvSpPr>
          <p:cNvPr id="8" name="Rectangle 7"/>
          <p:cNvSpPr/>
          <p:nvPr/>
        </p:nvSpPr>
        <p:spPr>
          <a:xfrm>
            <a:off x="1219200" y="1077921"/>
            <a:ext cx="5257800" cy="400110"/>
          </a:xfrm>
          <a:prstGeom prst="rect">
            <a:avLst/>
          </a:prstGeom>
          <a:ln>
            <a:solidFill>
              <a:schemeClr val="tx2">
                <a:lumMod val="60000"/>
                <a:lumOff val="40000"/>
              </a:schemeClr>
            </a:solidFill>
          </a:ln>
        </p:spPr>
        <p:txBody>
          <a:bodyPr wrap="square">
            <a:spAutoFit/>
          </a:bodyPr>
          <a:lstStyle/>
          <a:p>
            <a:pPr lvl="1"/>
            <a:r>
              <a:rPr lang="en-US" sz="2000" b="1" dirty="0" smtClean="0">
                <a:latin typeface="Times New Roman" pitchFamily="18" charset="0"/>
                <a:cs typeface="Times New Roman" pitchFamily="18" charset="0"/>
              </a:rPr>
              <a:t>1.2.1    Past </a:t>
            </a:r>
            <a:r>
              <a:rPr lang="en-US" sz="2000" b="1" dirty="0">
                <a:latin typeface="Times New Roman" pitchFamily="18" charset="0"/>
                <a:cs typeface="Times New Roman" pitchFamily="18" charset="0"/>
              </a:rPr>
              <a:t>climate </a:t>
            </a:r>
            <a:r>
              <a:rPr lang="en-US" sz="2000" b="1" dirty="0" smtClean="0">
                <a:latin typeface="Times New Roman" pitchFamily="18" charset="0"/>
                <a:cs typeface="Times New Roman" pitchFamily="18" charset="0"/>
              </a:rPr>
              <a:t>(climate change)</a:t>
            </a:r>
            <a:endParaRPr lang="en-US" sz="2000" dirty="0">
              <a:latin typeface="Times New Roman" pitchFamily="18" charset="0"/>
              <a:cs typeface="Times New Roman" pitchFamily="18" charset="0"/>
            </a:endParaRPr>
          </a:p>
        </p:txBody>
      </p:sp>
      <p:sp>
        <p:nvSpPr>
          <p:cNvPr id="9" name="Rectangle 8"/>
          <p:cNvSpPr/>
          <p:nvPr/>
        </p:nvSpPr>
        <p:spPr>
          <a:xfrm>
            <a:off x="49015" y="3352800"/>
            <a:ext cx="9103223" cy="1015663"/>
          </a:xfrm>
          <a:prstGeom prst="rect">
            <a:avLst/>
          </a:prstGeom>
        </p:spPr>
        <p:txBody>
          <a:bodyPr wrap="square">
            <a:spAutoFit/>
          </a:bodyPr>
          <a:lstStyle/>
          <a:p>
            <a:pPr>
              <a:lnSpc>
                <a:spcPct val="150000"/>
              </a:lnSpc>
            </a:pPr>
            <a:r>
              <a:rPr lang="en-GB" sz="2000" dirty="0" smtClean="0"/>
              <a:t>Based on ice core, t</a:t>
            </a:r>
            <a:r>
              <a:rPr lang="en-US" sz="2000" dirty="0" smtClean="0"/>
              <a:t>he summer band of ice appear to be white because of the snow experiences sunlight for 24 </a:t>
            </a:r>
            <a:r>
              <a:rPr lang="en-US" sz="2000" dirty="0" err="1" smtClean="0"/>
              <a:t>hrs</a:t>
            </a:r>
            <a:r>
              <a:rPr lang="en-US" sz="2000" dirty="0" smtClean="0"/>
              <a:t> and ice appear s to be dark in the winter . </a:t>
            </a:r>
            <a:endParaRPr lang="en-US" sz="2000" dirty="0"/>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061" t="8769" b="4741"/>
          <a:stretch/>
        </p:blipFill>
        <p:spPr bwMode="auto">
          <a:xfrm>
            <a:off x="5965371" y="4454101"/>
            <a:ext cx="3102429" cy="1946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p:nvSpPr>
        <p:spPr>
          <a:xfrm>
            <a:off x="-412" y="1910517"/>
            <a:ext cx="8839200" cy="1169551"/>
          </a:xfrm>
          <a:prstGeom prst="rect">
            <a:avLst/>
          </a:prstGeom>
        </p:spPr>
        <p:txBody>
          <a:bodyPr wrap="square">
            <a:spAutoFit/>
          </a:bodyPr>
          <a:lstStyle/>
          <a:p>
            <a:pPr marL="457200" indent="-457200">
              <a:spcBef>
                <a:spcPct val="50000"/>
              </a:spcBef>
              <a:buFontTx/>
              <a:buChar char="•"/>
            </a:pPr>
            <a:r>
              <a:rPr kumimoji="1" lang="en-US" sz="2000" b="1" dirty="0">
                <a:solidFill>
                  <a:srgbClr val="0000FF"/>
                </a:solidFill>
                <a:latin typeface="+mj-lt"/>
              </a:rPr>
              <a:t>Isotopic Geochemical Studies</a:t>
            </a:r>
            <a:r>
              <a:rPr kumimoji="1" lang="en-US" sz="2000" dirty="0">
                <a:latin typeface="+mj-lt"/>
              </a:rPr>
              <a:t>: the study of rock isotopic ratios, ice core bubbles, etc. </a:t>
            </a:r>
          </a:p>
          <a:p>
            <a:pPr marL="457200" indent="-457200">
              <a:spcBef>
                <a:spcPct val="50000"/>
              </a:spcBef>
              <a:buFontTx/>
              <a:buChar char="•"/>
            </a:pPr>
            <a:r>
              <a:rPr kumimoji="1" lang="en-US" sz="2000" b="1" dirty="0">
                <a:solidFill>
                  <a:srgbClr val="0000FF"/>
                </a:solidFill>
                <a:latin typeface="+mj-lt"/>
              </a:rPr>
              <a:t>Dendroclimatology</a:t>
            </a:r>
            <a:r>
              <a:rPr kumimoji="1" lang="en-US" sz="2000" dirty="0" smtClean="0">
                <a:latin typeface="+mj-lt"/>
              </a:rPr>
              <a:t>: </a:t>
            </a:r>
            <a:r>
              <a:rPr kumimoji="1" lang="en-US" sz="2000" dirty="0">
                <a:latin typeface="+mj-lt"/>
              </a:rPr>
              <a:t>the study of tree rings </a:t>
            </a:r>
          </a:p>
        </p:txBody>
      </p:sp>
      <p:sp>
        <p:nvSpPr>
          <p:cNvPr id="11" name="Rectangle 10"/>
          <p:cNvSpPr/>
          <p:nvPr/>
        </p:nvSpPr>
        <p:spPr>
          <a:xfrm>
            <a:off x="192315" y="3014179"/>
            <a:ext cx="2691121" cy="461665"/>
          </a:xfrm>
          <a:prstGeom prst="rect">
            <a:avLst/>
          </a:prstGeom>
        </p:spPr>
        <p:txBody>
          <a:bodyPr wrap="none">
            <a:spAutoFit/>
          </a:bodyPr>
          <a:lstStyle/>
          <a:p>
            <a:r>
              <a:rPr kumimoji="1" lang="en-US" sz="2400" b="1" dirty="0" smtClean="0">
                <a:latin typeface="+mj-lt"/>
              </a:rPr>
              <a:t>1. Ice </a:t>
            </a:r>
            <a:r>
              <a:rPr kumimoji="1" lang="en-US" sz="2400" b="1" dirty="0">
                <a:latin typeface="+mj-lt"/>
              </a:rPr>
              <a:t>core </a:t>
            </a:r>
            <a:r>
              <a:rPr kumimoji="1" lang="en-US" sz="2400" b="1" dirty="0" smtClean="0">
                <a:latin typeface="+mj-lt"/>
              </a:rPr>
              <a:t> method </a:t>
            </a:r>
            <a:endParaRPr lang="en-US" sz="2400" b="1" dirty="0">
              <a:latin typeface="+mj-lt"/>
            </a:endParaRPr>
          </a:p>
        </p:txBody>
      </p:sp>
      <p:sp>
        <p:nvSpPr>
          <p:cNvPr id="3" name="Rectangle 2"/>
          <p:cNvSpPr/>
          <p:nvPr/>
        </p:nvSpPr>
        <p:spPr>
          <a:xfrm>
            <a:off x="-76200" y="4346658"/>
            <a:ext cx="6324600" cy="2585323"/>
          </a:xfrm>
          <a:prstGeom prst="rect">
            <a:avLst/>
          </a:prstGeom>
        </p:spPr>
        <p:txBody>
          <a:bodyPr wrap="square">
            <a:spAutoFit/>
          </a:bodyPr>
          <a:lstStyle/>
          <a:p>
            <a:pPr marL="514350" indent="-514350">
              <a:lnSpc>
                <a:spcPct val="150000"/>
              </a:lnSpc>
              <a:buAutoNum type="arabicParenR"/>
            </a:pPr>
            <a:r>
              <a:rPr lang="en-GB" dirty="0"/>
              <a:t>Air trapped within fallen snow becomes encased in tiny bubbles as the snow is compressed into ice in the glacier under the weight of later years' snow. The trapped air has proven a tremendously valuable source for direct measurement of the composition of air from the time the ice was formed. </a:t>
            </a:r>
          </a:p>
        </p:txBody>
      </p:sp>
    </p:spTree>
    <p:extLst>
      <p:ext uri="{BB962C8B-B14F-4D97-AF65-F5344CB8AC3E}">
        <p14:creationId xmlns:p14="http://schemas.microsoft.com/office/powerpoint/2010/main" val="30729019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8184" y="-304800"/>
            <a:ext cx="8229600" cy="1143000"/>
          </a:xfrm>
        </p:spPr>
        <p:txBody>
          <a:bodyPr/>
          <a:lstStyle/>
          <a:p>
            <a:pPr algn="l"/>
            <a:r>
              <a:rPr lang="en-US" b="1" dirty="0"/>
              <a:t>Chapter 1. Introduction </a:t>
            </a:r>
            <a:endParaRPr lang="en-US" dirty="0"/>
          </a:p>
        </p:txBody>
      </p:sp>
      <p:sp>
        <p:nvSpPr>
          <p:cNvPr id="5" name="Rectangle 4"/>
          <p:cNvSpPr/>
          <p:nvPr/>
        </p:nvSpPr>
        <p:spPr>
          <a:xfrm>
            <a:off x="0" y="601611"/>
            <a:ext cx="6858000" cy="400110"/>
          </a:xfrm>
          <a:prstGeom prst="rect">
            <a:avLst/>
          </a:prstGeom>
        </p:spPr>
        <p:txBody>
          <a:bodyPr wrap="square">
            <a:spAutoFit/>
          </a:bodyPr>
          <a:lstStyle/>
          <a:p>
            <a:pPr lvl="1"/>
            <a:r>
              <a:rPr lang="en-US" sz="2000" b="1" dirty="0" smtClean="0">
                <a:latin typeface="Times New Roman" pitchFamily="18" charset="0"/>
                <a:cs typeface="Times New Roman" pitchFamily="18" charset="0"/>
              </a:rPr>
              <a:t>1.2 Past</a:t>
            </a:r>
            <a:r>
              <a:rPr lang="en-US" sz="2000" b="1" dirty="0">
                <a:latin typeface="Times New Roman" pitchFamily="18" charset="0"/>
                <a:cs typeface="Times New Roman" pitchFamily="18" charset="0"/>
              </a:rPr>
              <a:t>, present and future predictions of climate change</a:t>
            </a:r>
            <a:endParaRPr lang="en-US" sz="2000" dirty="0">
              <a:latin typeface="Times New Roman" pitchFamily="18" charset="0"/>
              <a:cs typeface="Times New Roman" pitchFamily="18" charset="0"/>
            </a:endParaRPr>
          </a:p>
        </p:txBody>
      </p:sp>
      <p:sp>
        <p:nvSpPr>
          <p:cNvPr id="6" name="Rectangle 5"/>
          <p:cNvSpPr/>
          <p:nvPr/>
        </p:nvSpPr>
        <p:spPr>
          <a:xfrm>
            <a:off x="1219200" y="1001721"/>
            <a:ext cx="5257800" cy="400110"/>
          </a:xfrm>
          <a:prstGeom prst="rect">
            <a:avLst/>
          </a:prstGeom>
          <a:ln>
            <a:solidFill>
              <a:schemeClr val="tx2">
                <a:lumMod val="60000"/>
                <a:lumOff val="40000"/>
              </a:schemeClr>
            </a:solidFill>
          </a:ln>
        </p:spPr>
        <p:txBody>
          <a:bodyPr wrap="square">
            <a:spAutoFit/>
          </a:bodyPr>
          <a:lstStyle/>
          <a:p>
            <a:pPr lvl="1"/>
            <a:r>
              <a:rPr lang="en-US" sz="2000" b="1" dirty="0" smtClean="0">
                <a:latin typeface="Times New Roman" pitchFamily="18" charset="0"/>
                <a:cs typeface="Times New Roman" pitchFamily="18" charset="0"/>
              </a:rPr>
              <a:t>1.2.1    Past </a:t>
            </a:r>
            <a:r>
              <a:rPr lang="en-US" sz="2000" b="1" dirty="0">
                <a:latin typeface="Times New Roman" pitchFamily="18" charset="0"/>
                <a:cs typeface="Times New Roman" pitchFamily="18" charset="0"/>
              </a:rPr>
              <a:t>climate </a:t>
            </a:r>
            <a:r>
              <a:rPr lang="en-US" sz="2000" b="1" dirty="0" smtClean="0">
                <a:latin typeface="Times New Roman" pitchFamily="18" charset="0"/>
                <a:cs typeface="Times New Roman" pitchFamily="18" charset="0"/>
              </a:rPr>
              <a:t>(climate change)</a:t>
            </a:r>
            <a:endParaRPr lang="en-US" sz="2000" dirty="0">
              <a:latin typeface="Times New Roman" pitchFamily="18" charset="0"/>
              <a:cs typeface="Times New Roman" pitchFamily="18" charset="0"/>
            </a:endParaRPr>
          </a:p>
        </p:txBody>
      </p:sp>
      <p:sp>
        <p:nvSpPr>
          <p:cNvPr id="3" name="Rectangle 2"/>
          <p:cNvSpPr/>
          <p:nvPr/>
        </p:nvSpPr>
        <p:spPr>
          <a:xfrm>
            <a:off x="10886" y="2229683"/>
            <a:ext cx="9056914" cy="4247317"/>
          </a:xfrm>
          <a:prstGeom prst="rect">
            <a:avLst/>
          </a:prstGeom>
        </p:spPr>
        <p:txBody>
          <a:bodyPr wrap="square">
            <a:spAutoFit/>
          </a:bodyPr>
          <a:lstStyle/>
          <a:p>
            <a:pPr marL="514350" indent="-514350">
              <a:lnSpc>
                <a:spcPct val="150000"/>
              </a:lnSpc>
              <a:buFont typeface="+mj-lt"/>
              <a:buAutoNum type="arabicParenR" startAt="2"/>
            </a:pPr>
            <a:r>
              <a:rPr lang="en-GB" dirty="0" smtClean="0"/>
              <a:t>Layering </a:t>
            </a:r>
            <a:r>
              <a:rPr lang="en-GB" dirty="0"/>
              <a:t>can be observed because of seasonal pauses in ice accumulation and can be used to establish chronology, associating specific depths of the core with ranges of time. </a:t>
            </a:r>
          </a:p>
          <a:p>
            <a:pPr marL="514350" indent="-514350">
              <a:lnSpc>
                <a:spcPct val="150000"/>
              </a:lnSpc>
              <a:buAutoNum type="arabicParenR" startAt="2"/>
            </a:pPr>
            <a:r>
              <a:rPr lang="en-GB" dirty="0"/>
              <a:t>Changes in the layering thickness can be used to determine changes in precipitation or temperature. </a:t>
            </a:r>
          </a:p>
          <a:p>
            <a:pPr marL="514350" indent="-514350">
              <a:lnSpc>
                <a:spcPct val="150000"/>
              </a:lnSpc>
              <a:buAutoNum type="arabicParenR" startAt="2"/>
            </a:pPr>
            <a:r>
              <a:rPr lang="en-GB" dirty="0"/>
              <a:t>Oxygen-18 quantity changes </a:t>
            </a:r>
            <a:r>
              <a:rPr lang="en-GB" dirty="0" smtClean="0"/>
              <a:t> </a:t>
            </a:r>
            <a:r>
              <a:rPr lang="en-GB" dirty="0"/>
              <a:t>in ice layers represent changes in average </a:t>
            </a:r>
            <a:r>
              <a:rPr lang="en-GB" dirty="0" smtClean="0"/>
              <a:t>temperature</a:t>
            </a:r>
            <a:r>
              <a:rPr lang="en-GB" dirty="0"/>
              <a:t>. Water molecules containing the heavier 18O evaporate at a higher temperature than water molecules containing the normal Oxygen-16 isotope. </a:t>
            </a:r>
            <a:endParaRPr lang="en-GB" dirty="0" smtClean="0"/>
          </a:p>
          <a:p>
            <a:pPr marL="514350" indent="-514350">
              <a:lnSpc>
                <a:spcPct val="150000"/>
              </a:lnSpc>
              <a:buAutoNum type="arabicParenR" startAt="2"/>
            </a:pPr>
            <a:r>
              <a:rPr lang="en-GB" dirty="0" smtClean="0"/>
              <a:t>Pollen </a:t>
            </a:r>
            <a:r>
              <a:rPr lang="en-GB" dirty="0"/>
              <a:t>has been observed in the ice cores and can be used to understand which plants were present as the layer formed</a:t>
            </a:r>
            <a:r>
              <a:rPr lang="en-GB" dirty="0" smtClean="0"/>
              <a:t>. Knowing </a:t>
            </a:r>
            <a:r>
              <a:rPr lang="en-GB" dirty="0"/>
              <a:t>which plants were present leads to an understanding of precipitation and temperature, and types of fauna present. </a:t>
            </a:r>
          </a:p>
        </p:txBody>
      </p:sp>
      <p:sp>
        <p:nvSpPr>
          <p:cNvPr id="8" name="Rectangle 7"/>
          <p:cNvSpPr/>
          <p:nvPr/>
        </p:nvSpPr>
        <p:spPr>
          <a:xfrm>
            <a:off x="381000" y="1447800"/>
            <a:ext cx="2691121" cy="461665"/>
          </a:xfrm>
          <a:prstGeom prst="rect">
            <a:avLst/>
          </a:prstGeom>
        </p:spPr>
        <p:txBody>
          <a:bodyPr wrap="none">
            <a:spAutoFit/>
          </a:bodyPr>
          <a:lstStyle/>
          <a:p>
            <a:r>
              <a:rPr kumimoji="1" lang="en-US" sz="2400" b="1" dirty="0" smtClean="0">
                <a:latin typeface="+mj-lt"/>
              </a:rPr>
              <a:t>1. Ice </a:t>
            </a:r>
            <a:r>
              <a:rPr kumimoji="1" lang="en-US" sz="2400" b="1" dirty="0">
                <a:latin typeface="+mj-lt"/>
              </a:rPr>
              <a:t>core </a:t>
            </a:r>
            <a:r>
              <a:rPr kumimoji="1" lang="en-US" sz="2400" b="1" dirty="0" smtClean="0">
                <a:latin typeface="+mj-lt"/>
              </a:rPr>
              <a:t> method </a:t>
            </a:r>
            <a:endParaRPr lang="en-US" sz="2400" b="1" dirty="0">
              <a:latin typeface="+mj-lt"/>
            </a:endParaRPr>
          </a:p>
        </p:txBody>
      </p:sp>
    </p:spTree>
    <p:extLst>
      <p:ext uri="{BB962C8B-B14F-4D97-AF65-F5344CB8AC3E}">
        <p14:creationId xmlns:p14="http://schemas.microsoft.com/office/powerpoint/2010/main" val="23294858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2315" y="1371600"/>
            <a:ext cx="2777812" cy="461665"/>
          </a:xfrm>
          <a:prstGeom prst="rect">
            <a:avLst/>
          </a:prstGeom>
        </p:spPr>
        <p:txBody>
          <a:bodyPr wrap="none">
            <a:spAutoFit/>
          </a:bodyPr>
          <a:lstStyle/>
          <a:p>
            <a:r>
              <a:rPr kumimoji="1" lang="en-US" sz="2400" b="1" dirty="0">
                <a:latin typeface="+mj-lt"/>
              </a:rPr>
              <a:t>2</a:t>
            </a:r>
            <a:r>
              <a:rPr kumimoji="1" lang="en-US" sz="2400" b="1" dirty="0" smtClean="0">
                <a:latin typeface="+mj-lt"/>
              </a:rPr>
              <a:t>. Tree-ring method </a:t>
            </a:r>
            <a:endParaRPr lang="en-US" sz="2400" b="1" dirty="0">
              <a:latin typeface="+mj-lt"/>
            </a:endParaRPr>
          </a:p>
        </p:txBody>
      </p:sp>
      <p:sp>
        <p:nvSpPr>
          <p:cNvPr id="6" name="Title 1"/>
          <p:cNvSpPr>
            <a:spLocks noGrp="1"/>
          </p:cNvSpPr>
          <p:nvPr>
            <p:ph type="title"/>
          </p:nvPr>
        </p:nvSpPr>
        <p:spPr>
          <a:xfrm>
            <a:off x="28184" y="-304800"/>
            <a:ext cx="8229600" cy="1143000"/>
          </a:xfrm>
        </p:spPr>
        <p:txBody>
          <a:bodyPr/>
          <a:lstStyle/>
          <a:p>
            <a:pPr algn="l"/>
            <a:r>
              <a:rPr lang="en-US" b="1" dirty="0"/>
              <a:t>Chapter 1. Introduction </a:t>
            </a:r>
            <a:endParaRPr lang="en-US" dirty="0"/>
          </a:p>
        </p:txBody>
      </p:sp>
      <p:sp>
        <p:nvSpPr>
          <p:cNvPr id="7" name="Rectangle 6"/>
          <p:cNvSpPr/>
          <p:nvPr/>
        </p:nvSpPr>
        <p:spPr>
          <a:xfrm>
            <a:off x="0" y="601611"/>
            <a:ext cx="6858000" cy="400110"/>
          </a:xfrm>
          <a:prstGeom prst="rect">
            <a:avLst/>
          </a:prstGeom>
        </p:spPr>
        <p:txBody>
          <a:bodyPr wrap="square">
            <a:spAutoFit/>
          </a:bodyPr>
          <a:lstStyle/>
          <a:p>
            <a:pPr lvl="1"/>
            <a:r>
              <a:rPr lang="en-US" sz="2000" b="1" dirty="0" smtClean="0">
                <a:latin typeface="Times New Roman" pitchFamily="18" charset="0"/>
                <a:cs typeface="Times New Roman" pitchFamily="18" charset="0"/>
              </a:rPr>
              <a:t>1.2 Past</a:t>
            </a:r>
            <a:r>
              <a:rPr lang="en-US" sz="2000" b="1" dirty="0">
                <a:latin typeface="Times New Roman" pitchFamily="18" charset="0"/>
                <a:cs typeface="Times New Roman" pitchFamily="18" charset="0"/>
              </a:rPr>
              <a:t>, present and future predictions of climate change</a:t>
            </a:r>
            <a:endParaRPr lang="en-US" sz="2000" dirty="0">
              <a:latin typeface="Times New Roman" pitchFamily="18" charset="0"/>
              <a:cs typeface="Times New Roman" pitchFamily="18" charset="0"/>
            </a:endParaRPr>
          </a:p>
        </p:txBody>
      </p:sp>
      <p:sp>
        <p:nvSpPr>
          <p:cNvPr id="8" name="Rectangle 7"/>
          <p:cNvSpPr/>
          <p:nvPr/>
        </p:nvSpPr>
        <p:spPr>
          <a:xfrm>
            <a:off x="1219200" y="1001721"/>
            <a:ext cx="5257800" cy="400110"/>
          </a:xfrm>
          <a:prstGeom prst="rect">
            <a:avLst/>
          </a:prstGeom>
          <a:ln>
            <a:solidFill>
              <a:schemeClr val="tx2">
                <a:lumMod val="60000"/>
                <a:lumOff val="40000"/>
              </a:schemeClr>
            </a:solidFill>
          </a:ln>
        </p:spPr>
        <p:txBody>
          <a:bodyPr wrap="square">
            <a:spAutoFit/>
          </a:bodyPr>
          <a:lstStyle/>
          <a:p>
            <a:pPr lvl="1"/>
            <a:r>
              <a:rPr lang="en-US" sz="2000" b="1" dirty="0" smtClean="0">
                <a:latin typeface="Times New Roman" pitchFamily="18" charset="0"/>
                <a:cs typeface="Times New Roman" pitchFamily="18" charset="0"/>
              </a:rPr>
              <a:t>1.2.1    Past </a:t>
            </a:r>
            <a:r>
              <a:rPr lang="en-US" sz="2000" b="1" dirty="0">
                <a:latin typeface="Times New Roman" pitchFamily="18" charset="0"/>
                <a:cs typeface="Times New Roman" pitchFamily="18" charset="0"/>
              </a:rPr>
              <a:t>climate </a:t>
            </a:r>
            <a:r>
              <a:rPr lang="en-US" sz="2000" b="1" dirty="0" smtClean="0">
                <a:latin typeface="Times New Roman" pitchFamily="18" charset="0"/>
                <a:cs typeface="Times New Roman" pitchFamily="18" charset="0"/>
              </a:rPr>
              <a:t>(climate change)</a:t>
            </a:r>
            <a:endParaRPr lang="en-US" sz="2000" dirty="0">
              <a:latin typeface="Times New Roman" pitchFamily="18" charset="0"/>
              <a:cs typeface="Times New Roman" pitchFamily="18" charset="0"/>
            </a:endParaRPr>
          </a:p>
        </p:txBody>
      </p:sp>
      <p:pic>
        <p:nvPicPr>
          <p:cNvPr id="1026" name="Picture 2" descr="C:\Users\user\Pictures\Untitled.png"/>
          <p:cNvPicPr>
            <a:picLocks noChangeAspect="1" noChangeArrowheads="1"/>
          </p:cNvPicPr>
          <p:nvPr/>
        </p:nvPicPr>
        <p:blipFill rotWithShape="1">
          <a:blip r:embed="rId2">
            <a:extLst>
              <a:ext uri="{28A0092B-C50C-407E-A947-70E740481C1C}">
                <a14:useLocalDpi xmlns:a14="http://schemas.microsoft.com/office/drawing/2010/main" val="0"/>
              </a:ext>
            </a:extLst>
          </a:blip>
          <a:srcRect r="32005" b="27472"/>
          <a:stretch/>
        </p:blipFill>
        <p:spPr bwMode="auto">
          <a:xfrm>
            <a:off x="3812635" y="2971800"/>
            <a:ext cx="4740175" cy="28441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8557" y="1676400"/>
            <a:ext cx="9124043" cy="3323987"/>
          </a:xfrm>
          <a:prstGeom prst="rect">
            <a:avLst/>
          </a:prstGeom>
        </p:spPr>
        <p:txBody>
          <a:bodyPr wrap="square">
            <a:spAutoFit/>
          </a:bodyPr>
          <a:lstStyle/>
          <a:p>
            <a:pPr>
              <a:lnSpc>
                <a:spcPct val="150000"/>
              </a:lnSpc>
            </a:pPr>
            <a:r>
              <a:rPr lang="en-GB" sz="2000" dirty="0" smtClean="0"/>
              <a:t>Generally</a:t>
            </a:r>
            <a:r>
              <a:rPr lang="en-GB" sz="2000" dirty="0"/>
              <a:t>, trees respond to changes in climatic variables by speeding up or slowing down growth, which in turn is generally reflected by a greater or lesser thickness in growth rings. Different species, however, respond to changes in climatic variables in different </a:t>
            </a:r>
            <a:r>
              <a:rPr lang="en-GB" sz="2000" dirty="0" smtClean="0"/>
              <a:t>ways. </a:t>
            </a:r>
          </a:p>
          <a:p>
            <a:pPr marL="285750" indent="-285750">
              <a:lnSpc>
                <a:spcPct val="150000"/>
              </a:lnSpc>
              <a:buFont typeface="Wingdings" pitchFamily="2" charset="2"/>
              <a:buChar char="§"/>
            </a:pPr>
            <a:r>
              <a:rPr lang="en-GB" sz="2000" dirty="0" smtClean="0"/>
              <a:t>Trees add rings every year</a:t>
            </a:r>
          </a:p>
          <a:p>
            <a:pPr>
              <a:lnSpc>
                <a:spcPct val="150000"/>
              </a:lnSpc>
            </a:pPr>
            <a:r>
              <a:rPr lang="en-GB" sz="2000" dirty="0" smtClean="0"/>
              <a:t>• </a:t>
            </a:r>
            <a:r>
              <a:rPr lang="en-GB" sz="2000" dirty="0"/>
              <a:t>Ring width reflects </a:t>
            </a:r>
            <a:r>
              <a:rPr lang="en-GB" sz="2000" dirty="0" smtClean="0"/>
              <a:t>tree age</a:t>
            </a:r>
            <a:endParaRPr lang="en-GB" sz="2000" dirty="0"/>
          </a:p>
          <a:p>
            <a:pPr>
              <a:lnSpc>
                <a:spcPct val="150000"/>
              </a:lnSpc>
            </a:pPr>
            <a:r>
              <a:rPr lang="en-GB" sz="2000" dirty="0" smtClean="0"/>
              <a:t> </a:t>
            </a:r>
            <a:r>
              <a:rPr lang="en-GB" sz="2000" dirty="0"/>
              <a:t>and </a:t>
            </a:r>
            <a:r>
              <a:rPr lang="en-GB" sz="2000" dirty="0" smtClean="0"/>
              <a:t>environmental conditions</a:t>
            </a:r>
            <a:endParaRPr lang="en-GB" sz="2000" dirty="0"/>
          </a:p>
        </p:txBody>
      </p:sp>
      <p:sp>
        <p:nvSpPr>
          <p:cNvPr id="9" name="Rectangle 8"/>
          <p:cNvSpPr/>
          <p:nvPr/>
        </p:nvSpPr>
        <p:spPr>
          <a:xfrm>
            <a:off x="-17643" y="5638800"/>
            <a:ext cx="9085443" cy="1323439"/>
          </a:xfrm>
          <a:prstGeom prst="rect">
            <a:avLst/>
          </a:prstGeom>
        </p:spPr>
        <p:txBody>
          <a:bodyPr wrap="square">
            <a:spAutoFit/>
          </a:bodyPr>
          <a:lstStyle/>
          <a:p>
            <a:r>
              <a:rPr lang="en-GB" sz="1600" dirty="0"/>
              <a:t>During photosynthesis, </a:t>
            </a:r>
            <a:r>
              <a:rPr lang="en-GB" sz="1600" dirty="0" smtClean="0"/>
              <a:t>carbon </a:t>
            </a:r>
            <a:r>
              <a:rPr lang="en-GB" sz="1600" dirty="0"/>
              <a:t>dioxide </a:t>
            </a:r>
            <a:r>
              <a:rPr lang="en-GB" sz="1600" dirty="0" smtClean="0"/>
              <a:t> stored in the part of the tree from the atmosphere. </a:t>
            </a:r>
            <a:r>
              <a:rPr lang="en-GB" sz="1600" dirty="0"/>
              <a:t>The result is sugar that a tree uses to build its rings. Therefore, the carbon that was taken into a tree at a particular time becomes captured in the cells of the tree. This can give us information about the atmospheric gases at the time that a particular tree ring </a:t>
            </a:r>
            <a:r>
              <a:rPr lang="en-GB" sz="1600" dirty="0" smtClean="0"/>
              <a:t>formed. Carbon 12 and </a:t>
            </a:r>
            <a:r>
              <a:rPr lang="en-GB" sz="1600" dirty="0"/>
              <a:t>13 isotopes. </a:t>
            </a:r>
            <a:r>
              <a:rPr lang="en-GB" sz="1600" dirty="0" smtClean="0"/>
              <a:t>Most of </a:t>
            </a:r>
            <a:r>
              <a:rPr lang="en-GB" sz="1600" dirty="0"/>
              <a:t>the carbon in our atmosphere is </a:t>
            </a:r>
            <a:r>
              <a:rPr lang="en-GB" sz="1600" baseline="50000" dirty="0" smtClean="0"/>
              <a:t>12</a:t>
            </a:r>
            <a:r>
              <a:rPr lang="en-GB" sz="1600" dirty="0" smtClean="0"/>
              <a:t>C.</a:t>
            </a:r>
            <a:endParaRPr lang="en-GB" sz="1600" dirty="0"/>
          </a:p>
        </p:txBody>
      </p:sp>
      <p:sp>
        <p:nvSpPr>
          <p:cNvPr id="10" name="Rectangle 9"/>
          <p:cNvSpPr/>
          <p:nvPr/>
        </p:nvSpPr>
        <p:spPr>
          <a:xfrm>
            <a:off x="52378" y="4861798"/>
            <a:ext cx="6272222" cy="738664"/>
          </a:xfrm>
          <a:prstGeom prst="rect">
            <a:avLst/>
          </a:prstGeom>
        </p:spPr>
        <p:txBody>
          <a:bodyPr wrap="square">
            <a:spAutoFit/>
          </a:bodyPr>
          <a:lstStyle/>
          <a:p>
            <a:r>
              <a:rPr lang="en-US" sz="1400" dirty="0" smtClean="0"/>
              <a:t>With the help of instrumental </a:t>
            </a:r>
            <a:r>
              <a:rPr lang="en-US" sz="1400" dirty="0"/>
              <a:t>record of temperature for the last 80 </a:t>
            </a:r>
            <a:r>
              <a:rPr lang="en-US" sz="1400" dirty="0" smtClean="0"/>
              <a:t>years, regression correlation analysis of tree </a:t>
            </a:r>
            <a:r>
              <a:rPr lang="en-US" sz="1400" dirty="0"/>
              <a:t>ring widths </a:t>
            </a:r>
            <a:r>
              <a:rPr lang="en-US" sz="1400" dirty="0" smtClean="0"/>
              <a:t>with </a:t>
            </a:r>
            <a:r>
              <a:rPr lang="en-US" sz="1400" dirty="0"/>
              <a:t>measured temperature for that same set of </a:t>
            </a:r>
            <a:r>
              <a:rPr lang="en-US" sz="1400" dirty="0" smtClean="0"/>
              <a:t>years can be conducted and extrapolated for the remaining years. </a:t>
            </a:r>
            <a:endParaRPr lang="en-US" sz="1400" dirty="0"/>
          </a:p>
        </p:txBody>
      </p:sp>
    </p:spTree>
    <p:extLst>
      <p:ext uri="{BB962C8B-B14F-4D97-AF65-F5344CB8AC3E}">
        <p14:creationId xmlns:p14="http://schemas.microsoft.com/office/powerpoint/2010/main" val="17254030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88720" y="1111316"/>
            <a:ext cx="5257800" cy="400110"/>
          </a:xfrm>
          <a:prstGeom prst="rect">
            <a:avLst/>
          </a:prstGeom>
          <a:ln>
            <a:solidFill>
              <a:schemeClr val="tx2">
                <a:lumMod val="60000"/>
                <a:lumOff val="40000"/>
              </a:schemeClr>
            </a:solidFill>
          </a:ln>
        </p:spPr>
        <p:txBody>
          <a:bodyPr wrap="square">
            <a:spAutoFit/>
          </a:bodyPr>
          <a:lstStyle/>
          <a:p>
            <a:pPr lvl="1"/>
            <a:r>
              <a:rPr lang="en-US" sz="2000" b="1" dirty="0" smtClean="0">
                <a:latin typeface="Times New Roman" pitchFamily="18" charset="0"/>
                <a:cs typeface="Times New Roman" pitchFamily="18" charset="0"/>
              </a:rPr>
              <a:t>1.2.2    Present </a:t>
            </a:r>
            <a:r>
              <a:rPr lang="en-US" sz="2000" b="1" dirty="0">
                <a:latin typeface="Times New Roman" pitchFamily="18" charset="0"/>
                <a:cs typeface="Times New Roman" pitchFamily="18" charset="0"/>
              </a:rPr>
              <a:t>climate </a:t>
            </a:r>
            <a:r>
              <a:rPr lang="en-US" sz="2000" b="1" dirty="0" smtClean="0">
                <a:latin typeface="Times New Roman" pitchFamily="18" charset="0"/>
                <a:cs typeface="Times New Roman" pitchFamily="18" charset="0"/>
              </a:rPr>
              <a:t>(climate change)</a:t>
            </a:r>
            <a:endParaRPr lang="en-US" sz="2000" dirty="0">
              <a:latin typeface="Times New Roman" pitchFamily="18" charset="0"/>
              <a:cs typeface="Times New Roman" pitchFamily="18" charset="0"/>
            </a:endParaRPr>
          </a:p>
        </p:txBody>
      </p:sp>
      <p:sp>
        <p:nvSpPr>
          <p:cNvPr id="5" name="Title 1"/>
          <p:cNvSpPr>
            <a:spLocks noGrp="1"/>
          </p:cNvSpPr>
          <p:nvPr>
            <p:ph type="title"/>
          </p:nvPr>
        </p:nvSpPr>
        <p:spPr>
          <a:xfrm>
            <a:off x="180703" y="-304800"/>
            <a:ext cx="8229600" cy="1143000"/>
          </a:xfrm>
        </p:spPr>
        <p:txBody>
          <a:bodyPr/>
          <a:lstStyle/>
          <a:p>
            <a:pPr algn="l"/>
            <a:r>
              <a:rPr lang="en-US" b="1" dirty="0"/>
              <a:t>Chapter 1. Introduction </a:t>
            </a:r>
            <a:endParaRPr lang="en-US" dirty="0"/>
          </a:p>
        </p:txBody>
      </p:sp>
      <p:sp>
        <p:nvSpPr>
          <p:cNvPr id="6" name="Rectangle 5"/>
          <p:cNvSpPr/>
          <p:nvPr/>
        </p:nvSpPr>
        <p:spPr>
          <a:xfrm>
            <a:off x="180703" y="638145"/>
            <a:ext cx="6858000" cy="400110"/>
          </a:xfrm>
          <a:prstGeom prst="rect">
            <a:avLst/>
          </a:prstGeom>
        </p:spPr>
        <p:txBody>
          <a:bodyPr wrap="square">
            <a:spAutoFit/>
          </a:bodyPr>
          <a:lstStyle/>
          <a:p>
            <a:pPr lvl="1"/>
            <a:r>
              <a:rPr lang="en-US" sz="2000" b="1" dirty="0" smtClean="0">
                <a:latin typeface="Times New Roman" pitchFamily="18" charset="0"/>
                <a:cs typeface="Times New Roman" pitchFamily="18" charset="0"/>
              </a:rPr>
              <a:t>1.2 Past</a:t>
            </a:r>
            <a:r>
              <a:rPr lang="en-US" sz="2000" b="1" dirty="0">
                <a:latin typeface="Times New Roman" pitchFamily="18" charset="0"/>
                <a:cs typeface="Times New Roman" pitchFamily="18" charset="0"/>
              </a:rPr>
              <a:t>, present and future predictions of climate change</a:t>
            </a:r>
            <a:endParaRPr lang="en-US" sz="2000" dirty="0">
              <a:latin typeface="Times New Roman" pitchFamily="18" charset="0"/>
              <a:cs typeface="Times New Roman" pitchFamily="18" charset="0"/>
            </a:endParaRPr>
          </a:p>
        </p:txBody>
      </p:sp>
      <p:sp>
        <p:nvSpPr>
          <p:cNvPr id="8" name="Rectangle 7"/>
          <p:cNvSpPr/>
          <p:nvPr/>
        </p:nvSpPr>
        <p:spPr>
          <a:xfrm>
            <a:off x="10297" y="1371600"/>
            <a:ext cx="9144000" cy="5632311"/>
          </a:xfrm>
          <a:prstGeom prst="rect">
            <a:avLst/>
          </a:prstGeom>
        </p:spPr>
        <p:txBody>
          <a:bodyPr wrap="square">
            <a:spAutoFit/>
          </a:bodyPr>
          <a:lstStyle/>
          <a:p>
            <a:pPr fontAlgn="base">
              <a:lnSpc>
                <a:spcPct val="150000"/>
              </a:lnSpc>
            </a:pPr>
            <a:r>
              <a:rPr lang="en-US" sz="2000" dirty="0" smtClean="0"/>
              <a:t>Thanks to technology,  we now have </a:t>
            </a:r>
            <a:r>
              <a:rPr lang="en-US" sz="2000" dirty="0"/>
              <a:t>long-term monitoring </a:t>
            </a:r>
            <a:r>
              <a:rPr lang="en-US" sz="2000" dirty="0" smtClean="0"/>
              <a:t>programs via  </a:t>
            </a:r>
            <a:r>
              <a:rPr lang="en-GB" sz="2000" b="1" dirty="0"/>
              <a:t>advanced  remote satellite and radar data with ground-truth </a:t>
            </a:r>
            <a:r>
              <a:rPr lang="en-GB" sz="2000" b="1" dirty="0" smtClean="0"/>
              <a:t>measurements </a:t>
            </a:r>
            <a:r>
              <a:rPr lang="en-GB" sz="2000" dirty="0" smtClean="0"/>
              <a:t>, which </a:t>
            </a:r>
            <a:r>
              <a:rPr lang="en-US" sz="2000" dirty="0" smtClean="0"/>
              <a:t>aim </a:t>
            </a:r>
            <a:r>
              <a:rPr lang="en-US" sz="2000" dirty="0"/>
              <a:t>to measure the current state of our oceans, </a:t>
            </a:r>
            <a:r>
              <a:rPr lang="en-US" sz="2000" dirty="0" smtClean="0"/>
              <a:t>land  and atmosphere. </a:t>
            </a:r>
          </a:p>
          <a:p>
            <a:pPr fontAlgn="base">
              <a:lnSpc>
                <a:spcPct val="150000"/>
              </a:lnSpc>
            </a:pPr>
            <a:r>
              <a:rPr lang="en-US" sz="2000" dirty="0" smtClean="0"/>
              <a:t>Historic </a:t>
            </a:r>
            <a:r>
              <a:rPr lang="en-US" sz="2000" dirty="0"/>
              <a:t>and instrumental records of climatic change demonstrate that global average </a:t>
            </a:r>
            <a:r>
              <a:rPr lang="en-US" sz="2000" b="1" dirty="0"/>
              <a:t>temperatures have risen by 0.72 ºC since the </a:t>
            </a:r>
            <a:r>
              <a:rPr lang="en-US" sz="2000" b="1" dirty="0" smtClean="0"/>
              <a:t>1950’s ( industrial revolution) </a:t>
            </a:r>
            <a:r>
              <a:rPr lang="en-US" sz="2000" dirty="0" smtClean="0"/>
              <a:t>due to the </a:t>
            </a:r>
            <a:r>
              <a:rPr lang="en-GB" sz="2000" dirty="0" smtClean="0"/>
              <a:t>increase of CO2 or  (GHGs)  </a:t>
            </a:r>
            <a:r>
              <a:rPr lang="en-GB" sz="2000" dirty="0"/>
              <a:t>concentration </a:t>
            </a:r>
            <a:r>
              <a:rPr lang="en-GB" sz="2000" dirty="0" smtClean="0"/>
              <a:t>in the atmosphere as a result of burning </a:t>
            </a:r>
            <a:r>
              <a:rPr lang="en-GB" sz="2000" dirty="0"/>
              <a:t>fossil </a:t>
            </a:r>
            <a:r>
              <a:rPr lang="en-GB" sz="2000" dirty="0" smtClean="0"/>
              <a:t>fuels, deforestation etc. </a:t>
            </a:r>
            <a:endParaRPr lang="en-GB" sz="2000" dirty="0"/>
          </a:p>
          <a:p>
            <a:pPr>
              <a:lnSpc>
                <a:spcPct val="150000"/>
              </a:lnSpc>
            </a:pPr>
            <a:r>
              <a:rPr lang="en-GB" sz="2000" b="1" dirty="0" smtClean="0"/>
              <a:t>Global </a:t>
            </a:r>
            <a:r>
              <a:rPr lang="en-GB" sz="2000" b="1" dirty="0"/>
              <a:t>warming</a:t>
            </a:r>
            <a:r>
              <a:rPr lang="en-GB" sz="2000" dirty="0"/>
              <a:t>, resulting from climate change, has emerged as the most serious</a:t>
            </a:r>
          </a:p>
          <a:p>
            <a:pPr>
              <a:lnSpc>
                <a:spcPct val="150000"/>
              </a:lnSpc>
            </a:pPr>
            <a:r>
              <a:rPr lang="en-GB" sz="2000" dirty="0"/>
              <a:t>environmental threat, suggesting that the mankind is heading for deep trouble</a:t>
            </a:r>
          </a:p>
          <a:p>
            <a:pPr>
              <a:lnSpc>
                <a:spcPct val="150000"/>
              </a:lnSpc>
            </a:pPr>
            <a:r>
              <a:rPr lang="en-GB" sz="2000" dirty="0"/>
              <a:t>unless a drastic cut is made in emission of greenhouse gases into the atmosphere. . An increasing rate of warming has taken place over the 3 last 25 years, and 11 of the 12 warmest years on record have occurred in the past 12 years. </a:t>
            </a:r>
            <a:endParaRPr lang="en-US" sz="2000" dirty="0"/>
          </a:p>
        </p:txBody>
      </p:sp>
    </p:spTree>
    <p:extLst>
      <p:ext uri="{BB962C8B-B14F-4D97-AF65-F5344CB8AC3E}">
        <p14:creationId xmlns:p14="http://schemas.microsoft.com/office/powerpoint/2010/main" val="37769194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88720" y="1111316"/>
            <a:ext cx="5257800" cy="400110"/>
          </a:xfrm>
          <a:prstGeom prst="rect">
            <a:avLst/>
          </a:prstGeom>
          <a:ln>
            <a:solidFill>
              <a:schemeClr val="tx2">
                <a:lumMod val="60000"/>
                <a:lumOff val="40000"/>
              </a:schemeClr>
            </a:solidFill>
          </a:ln>
        </p:spPr>
        <p:txBody>
          <a:bodyPr wrap="square">
            <a:spAutoFit/>
          </a:bodyPr>
          <a:lstStyle/>
          <a:p>
            <a:pPr lvl="1"/>
            <a:r>
              <a:rPr lang="en-US" sz="2000" b="1" dirty="0" smtClean="0">
                <a:latin typeface="Times New Roman" pitchFamily="18" charset="0"/>
                <a:cs typeface="Times New Roman" pitchFamily="18" charset="0"/>
              </a:rPr>
              <a:t>1.2.2    Present </a:t>
            </a:r>
            <a:r>
              <a:rPr lang="en-US" sz="2000" b="1" dirty="0">
                <a:latin typeface="Times New Roman" pitchFamily="18" charset="0"/>
                <a:cs typeface="Times New Roman" pitchFamily="18" charset="0"/>
              </a:rPr>
              <a:t>climate </a:t>
            </a:r>
            <a:r>
              <a:rPr lang="en-US" sz="2000" b="1" dirty="0" smtClean="0">
                <a:latin typeface="Times New Roman" pitchFamily="18" charset="0"/>
                <a:cs typeface="Times New Roman" pitchFamily="18" charset="0"/>
              </a:rPr>
              <a:t>(climate change)</a:t>
            </a:r>
            <a:endParaRPr lang="en-US" sz="2000" dirty="0">
              <a:latin typeface="Times New Roman" pitchFamily="18" charset="0"/>
              <a:cs typeface="Times New Roman" pitchFamily="18" charset="0"/>
            </a:endParaRPr>
          </a:p>
        </p:txBody>
      </p:sp>
      <p:sp>
        <p:nvSpPr>
          <p:cNvPr id="5" name="Title 1"/>
          <p:cNvSpPr>
            <a:spLocks noGrp="1"/>
          </p:cNvSpPr>
          <p:nvPr>
            <p:ph type="title"/>
          </p:nvPr>
        </p:nvSpPr>
        <p:spPr>
          <a:xfrm>
            <a:off x="180703" y="-304800"/>
            <a:ext cx="8229600" cy="1143000"/>
          </a:xfrm>
        </p:spPr>
        <p:txBody>
          <a:bodyPr/>
          <a:lstStyle/>
          <a:p>
            <a:pPr algn="l"/>
            <a:r>
              <a:rPr lang="en-US" b="1" dirty="0"/>
              <a:t>Chapter 1. Introduction </a:t>
            </a:r>
            <a:endParaRPr lang="en-US" dirty="0"/>
          </a:p>
        </p:txBody>
      </p:sp>
      <p:sp>
        <p:nvSpPr>
          <p:cNvPr id="6" name="Rectangle 5"/>
          <p:cNvSpPr/>
          <p:nvPr/>
        </p:nvSpPr>
        <p:spPr>
          <a:xfrm>
            <a:off x="180703" y="638145"/>
            <a:ext cx="6858000" cy="400110"/>
          </a:xfrm>
          <a:prstGeom prst="rect">
            <a:avLst/>
          </a:prstGeom>
        </p:spPr>
        <p:txBody>
          <a:bodyPr wrap="square">
            <a:spAutoFit/>
          </a:bodyPr>
          <a:lstStyle/>
          <a:p>
            <a:pPr lvl="1"/>
            <a:r>
              <a:rPr lang="en-US" sz="2000" b="1" dirty="0" smtClean="0">
                <a:latin typeface="Times New Roman" pitchFamily="18" charset="0"/>
                <a:cs typeface="Times New Roman" pitchFamily="18" charset="0"/>
              </a:rPr>
              <a:t>1.2 Past</a:t>
            </a:r>
            <a:r>
              <a:rPr lang="en-US" sz="2000" b="1" dirty="0">
                <a:latin typeface="Times New Roman" pitchFamily="18" charset="0"/>
                <a:cs typeface="Times New Roman" pitchFamily="18" charset="0"/>
              </a:rPr>
              <a:t>, present and future predictions of climate change</a:t>
            </a:r>
            <a:endParaRPr lang="en-US" sz="2000" dirty="0">
              <a:latin typeface="Times New Roman" pitchFamily="18" charset="0"/>
              <a:cs typeface="Times New Roman" pitchFamily="18" charset="0"/>
            </a:endParaRPr>
          </a:p>
        </p:txBody>
      </p:sp>
      <p:sp>
        <p:nvSpPr>
          <p:cNvPr id="7" name="Rectangle 6"/>
          <p:cNvSpPr/>
          <p:nvPr/>
        </p:nvSpPr>
        <p:spPr>
          <a:xfrm>
            <a:off x="70846" y="1511426"/>
            <a:ext cx="9144000" cy="1891287"/>
          </a:xfrm>
          <a:prstGeom prst="rect">
            <a:avLst/>
          </a:prstGeom>
        </p:spPr>
        <p:txBody>
          <a:bodyPr wrap="square">
            <a:spAutoFit/>
          </a:bodyPr>
          <a:lstStyle/>
          <a:p>
            <a:pPr>
              <a:lnSpc>
                <a:spcPct val="150000"/>
              </a:lnSpc>
            </a:pPr>
            <a:r>
              <a:rPr lang="en-GB" sz="2000" dirty="0"/>
              <a:t>Beneath the increasing trends of temperature , current climate shows significant variability, on timescales of years to decades, which are of importance to agriculture and forestry. Those that are most important </a:t>
            </a:r>
            <a:r>
              <a:rPr lang="en-GB" sz="2000" dirty="0" err="1"/>
              <a:t>interannually</a:t>
            </a:r>
            <a:r>
              <a:rPr lang="en-GB" sz="2000" dirty="0"/>
              <a:t> are the </a:t>
            </a:r>
            <a:r>
              <a:rPr lang="en-GB" sz="2000" b="1" dirty="0"/>
              <a:t>El Niño/Southern Oscillation (ENSO) </a:t>
            </a:r>
            <a:r>
              <a:rPr lang="en-GB" sz="2000" dirty="0"/>
              <a:t>and the North Atlantic Oscillation (NAO).  </a:t>
            </a:r>
            <a:endParaRPr lang="en-US" sz="2000" dirty="0"/>
          </a:p>
        </p:txBody>
      </p:sp>
      <p:sp>
        <p:nvSpPr>
          <p:cNvPr id="11" name="Rectangle 10"/>
          <p:cNvSpPr/>
          <p:nvPr/>
        </p:nvSpPr>
        <p:spPr>
          <a:xfrm>
            <a:off x="23066" y="3581400"/>
            <a:ext cx="9191780" cy="3276282"/>
          </a:xfrm>
          <a:prstGeom prst="rect">
            <a:avLst/>
          </a:prstGeom>
        </p:spPr>
        <p:txBody>
          <a:bodyPr wrap="square">
            <a:spAutoFit/>
          </a:bodyPr>
          <a:lstStyle/>
          <a:p>
            <a:pPr>
              <a:lnSpc>
                <a:spcPct val="150000"/>
              </a:lnSpc>
            </a:pPr>
            <a:r>
              <a:rPr lang="en-US" sz="2000" dirty="0" smtClean="0"/>
              <a:t>There </a:t>
            </a:r>
            <a:r>
              <a:rPr lang="en-US" sz="2000" dirty="0"/>
              <a:t>is nothing inherently wrong with climate change. It has happened in the past and will happen again</a:t>
            </a:r>
            <a:r>
              <a:rPr lang="en-US" sz="2000" dirty="0" smtClean="0"/>
              <a:t>.  </a:t>
            </a:r>
            <a:r>
              <a:rPr lang="en-US" sz="2000" dirty="0"/>
              <a:t>The current concern stems from the rate of change – how quickly changes are happening. </a:t>
            </a:r>
            <a:endParaRPr lang="en-US" sz="2000" dirty="0" smtClean="0"/>
          </a:p>
          <a:p>
            <a:pPr>
              <a:lnSpc>
                <a:spcPct val="150000"/>
              </a:lnSpc>
            </a:pPr>
            <a:r>
              <a:rPr lang="en-US" sz="2000" dirty="0" smtClean="0"/>
              <a:t>Scientists </a:t>
            </a:r>
            <a:r>
              <a:rPr lang="en-US" sz="2000" dirty="0"/>
              <a:t>have found that the current rate of temperature increase is higher than any previously seen in the last 800,000 years</a:t>
            </a:r>
            <a:r>
              <a:rPr lang="en-US" sz="2000" dirty="0" smtClean="0"/>
              <a:t>.  </a:t>
            </a:r>
            <a:r>
              <a:rPr lang="en-US" sz="2000" dirty="0"/>
              <a:t>Evidence strongly indicates that human-driven changes in the atmosphere are contributing to the unprecedented rate of temperature increase</a:t>
            </a:r>
            <a:r>
              <a:rPr lang="en-US" sz="2000" dirty="0" smtClean="0"/>
              <a:t>.</a:t>
            </a:r>
            <a:endParaRPr lang="en-US" sz="2000" dirty="0"/>
          </a:p>
        </p:txBody>
      </p:sp>
    </p:spTree>
    <p:extLst>
      <p:ext uri="{BB962C8B-B14F-4D97-AF65-F5344CB8AC3E}">
        <p14:creationId xmlns:p14="http://schemas.microsoft.com/office/powerpoint/2010/main" val="404329414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88720" y="1111316"/>
            <a:ext cx="5257800" cy="400110"/>
          </a:xfrm>
          <a:prstGeom prst="rect">
            <a:avLst/>
          </a:prstGeom>
          <a:ln>
            <a:solidFill>
              <a:schemeClr val="tx2">
                <a:lumMod val="60000"/>
                <a:lumOff val="40000"/>
              </a:schemeClr>
            </a:solidFill>
          </a:ln>
        </p:spPr>
        <p:txBody>
          <a:bodyPr wrap="square">
            <a:spAutoFit/>
          </a:bodyPr>
          <a:lstStyle/>
          <a:p>
            <a:pPr lvl="1"/>
            <a:r>
              <a:rPr lang="en-US" sz="2000" b="1" dirty="0" smtClean="0">
                <a:latin typeface="Times New Roman" pitchFamily="18" charset="0"/>
                <a:cs typeface="Times New Roman" pitchFamily="18" charset="0"/>
              </a:rPr>
              <a:t>1.2.2    Present </a:t>
            </a:r>
            <a:r>
              <a:rPr lang="en-US" sz="2000" b="1" dirty="0">
                <a:latin typeface="Times New Roman" pitchFamily="18" charset="0"/>
                <a:cs typeface="Times New Roman" pitchFamily="18" charset="0"/>
              </a:rPr>
              <a:t>climate </a:t>
            </a:r>
            <a:r>
              <a:rPr lang="en-US" sz="2000" b="1" dirty="0" smtClean="0">
                <a:latin typeface="Times New Roman" pitchFamily="18" charset="0"/>
                <a:cs typeface="Times New Roman" pitchFamily="18" charset="0"/>
              </a:rPr>
              <a:t>(climate change)</a:t>
            </a:r>
            <a:endParaRPr lang="en-US" sz="2000" dirty="0">
              <a:latin typeface="Times New Roman" pitchFamily="18" charset="0"/>
              <a:cs typeface="Times New Roman" pitchFamily="18" charset="0"/>
            </a:endParaRPr>
          </a:p>
        </p:txBody>
      </p:sp>
      <p:sp>
        <p:nvSpPr>
          <p:cNvPr id="5" name="Title 1"/>
          <p:cNvSpPr>
            <a:spLocks noGrp="1"/>
          </p:cNvSpPr>
          <p:nvPr>
            <p:ph type="title"/>
          </p:nvPr>
        </p:nvSpPr>
        <p:spPr>
          <a:xfrm>
            <a:off x="180703" y="-304800"/>
            <a:ext cx="8229600" cy="1143000"/>
          </a:xfrm>
        </p:spPr>
        <p:txBody>
          <a:bodyPr/>
          <a:lstStyle/>
          <a:p>
            <a:pPr algn="l"/>
            <a:r>
              <a:rPr lang="en-US" b="1" dirty="0"/>
              <a:t>Chapter 1. Introduction </a:t>
            </a:r>
            <a:endParaRPr lang="en-US" dirty="0"/>
          </a:p>
        </p:txBody>
      </p:sp>
      <p:sp>
        <p:nvSpPr>
          <p:cNvPr id="6" name="Rectangle 5"/>
          <p:cNvSpPr/>
          <p:nvPr/>
        </p:nvSpPr>
        <p:spPr>
          <a:xfrm>
            <a:off x="180703" y="638145"/>
            <a:ext cx="6858000" cy="400110"/>
          </a:xfrm>
          <a:prstGeom prst="rect">
            <a:avLst/>
          </a:prstGeom>
        </p:spPr>
        <p:txBody>
          <a:bodyPr wrap="square">
            <a:spAutoFit/>
          </a:bodyPr>
          <a:lstStyle/>
          <a:p>
            <a:pPr lvl="1"/>
            <a:r>
              <a:rPr lang="en-US" sz="2000" b="1" dirty="0" smtClean="0">
                <a:latin typeface="Times New Roman" pitchFamily="18" charset="0"/>
                <a:cs typeface="Times New Roman" pitchFamily="18" charset="0"/>
              </a:rPr>
              <a:t>1.2 Past</a:t>
            </a:r>
            <a:r>
              <a:rPr lang="en-US" sz="2000" b="1" dirty="0">
                <a:latin typeface="Times New Roman" pitchFamily="18" charset="0"/>
                <a:cs typeface="Times New Roman" pitchFamily="18" charset="0"/>
              </a:rPr>
              <a:t>, present and future predictions of climate change</a:t>
            </a:r>
            <a:endParaRPr lang="en-US" sz="2000" dirty="0">
              <a:latin typeface="Times New Roman" pitchFamily="18" charset="0"/>
              <a:cs typeface="Times New Roman" pitchFamily="18" charset="0"/>
            </a:endParaRPr>
          </a:p>
        </p:txBody>
      </p:sp>
      <p:sp>
        <p:nvSpPr>
          <p:cNvPr id="7" name="Rectangle 6"/>
          <p:cNvSpPr/>
          <p:nvPr/>
        </p:nvSpPr>
        <p:spPr>
          <a:xfrm>
            <a:off x="0" y="2057400"/>
            <a:ext cx="9175304" cy="4662815"/>
          </a:xfrm>
          <a:prstGeom prst="rect">
            <a:avLst/>
          </a:prstGeom>
        </p:spPr>
        <p:txBody>
          <a:bodyPr wrap="square">
            <a:spAutoFit/>
          </a:bodyPr>
          <a:lstStyle/>
          <a:p>
            <a:pPr marL="342900" marR="0" lvl="0" indent="-342900" algn="just">
              <a:lnSpc>
                <a:spcPct val="150000"/>
              </a:lnSpc>
              <a:spcBef>
                <a:spcPts val="0"/>
              </a:spcBef>
              <a:spcAft>
                <a:spcPts val="0"/>
              </a:spcAft>
              <a:buFont typeface="Symbol"/>
              <a:buChar char=""/>
            </a:pPr>
            <a:r>
              <a:rPr lang="en-US" dirty="0" smtClean="0">
                <a:solidFill>
                  <a:srgbClr val="000000"/>
                </a:solidFill>
                <a:latin typeface="Times New Roman"/>
                <a:ea typeface="Calibri"/>
                <a:cs typeface="Times New Roman"/>
              </a:rPr>
              <a:t>Increases </a:t>
            </a:r>
            <a:r>
              <a:rPr lang="en-US" dirty="0">
                <a:solidFill>
                  <a:srgbClr val="000000"/>
                </a:solidFill>
                <a:latin typeface="Times New Roman"/>
                <a:ea typeface="Calibri"/>
                <a:cs typeface="Times New Roman"/>
              </a:rPr>
              <a:t>in the amount </a:t>
            </a:r>
            <a:r>
              <a:rPr lang="en-US" dirty="0" smtClean="0">
                <a:solidFill>
                  <a:srgbClr val="000000"/>
                </a:solidFill>
                <a:latin typeface="Times New Roman"/>
                <a:ea typeface="Calibri"/>
                <a:cs typeface="Times New Roman"/>
              </a:rPr>
              <a:t>of rainfall </a:t>
            </a:r>
            <a:r>
              <a:rPr lang="en-US" dirty="0">
                <a:solidFill>
                  <a:srgbClr val="000000"/>
                </a:solidFill>
                <a:latin typeface="Times New Roman"/>
                <a:ea typeface="Calibri"/>
                <a:cs typeface="Times New Roman"/>
              </a:rPr>
              <a:t>are very likely in high latitudes, </a:t>
            </a:r>
            <a:r>
              <a:rPr lang="en-US" dirty="0" smtClean="0">
                <a:solidFill>
                  <a:srgbClr val="000000"/>
                </a:solidFill>
                <a:latin typeface="Times New Roman"/>
                <a:ea typeface="Calibri"/>
                <a:cs typeface="Times New Roman"/>
              </a:rPr>
              <a:t>while decreases </a:t>
            </a:r>
            <a:r>
              <a:rPr lang="en-US" dirty="0">
                <a:solidFill>
                  <a:srgbClr val="000000"/>
                </a:solidFill>
                <a:latin typeface="Times New Roman"/>
                <a:ea typeface="Calibri"/>
                <a:cs typeface="Times New Roman"/>
              </a:rPr>
              <a:t>are likely in most subtropical land regions.</a:t>
            </a:r>
            <a:endParaRPr lang="en-GB" sz="1600" dirty="0">
              <a:ea typeface="Times New Roman"/>
              <a:cs typeface="Times New Roman"/>
            </a:endParaRPr>
          </a:p>
          <a:p>
            <a:pPr marL="342900" marR="0" lvl="0" indent="-342900" algn="just">
              <a:lnSpc>
                <a:spcPct val="150000"/>
              </a:lnSpc>
              <a:spcBef>
                <a:spcPts val="0"/>
              </a:spcBef>
              <a:spcAft>
                <a:spcPts val="0"/>
              </a:spcAft>
              <a:buFont typeface="Symbol"/>
              <a:buChar char=""/>
            </a:pPr>
            <a:r>
              <a:rPr lang="en-US" dirty="0">
                <a:solidFill>
                  <a:srgbClr val="000000"/>
                </a:solidFill>
                <a:latin typeface="Times New Roman"/>
                <a:ea typeface="Calibri"/>
                <a:cs typeface="Times New Roman"/>
              </a:rPr>
              <a:t>Drought-affected areas will likely increase in extent.</a:t>
            </a:r>
            <a:endParaRPr lang="en-GB" sz="1600" dirty="0">
              <a:ea typeface="Times New Roman"/>
              <a:cs typeface="Times New Roman"/>
            </a:endParaRPr>
          </a:p>
          <a:p>
            <a:pPr marL="342900" marR="0" lvl="0" indent="-342900" algn="just">
              <a:lnSpc>
                <a:spcPct val="150000"/>
              </a:lnSpc>
              <a:spcBef>
                <a:spcPts val="0"/>
              </a:spcBef>
              <a:spcAft>
                <a:spcPts val="0"/>
              </a:spcAft>
              <a:buFont typeface="Symbol"/>
              <a:buChar char=""/>
            </a:pPr>
            <a:r>
              <a:rPr lang="en-US" dirty="0">
                <a:solidFill>
                  <a:srgbClr val="000000"/>
                </a:solidFill>
                <a:latin typeface="Times New Roman"/>
                <a:ea typeface="Calibri"/>
                <a:cs typeface="Times New Roman"/>
              </a:rPr>
              <a:t>It is very likely that hot extremes, heat waves and </a:t>
            </a:r>
            <a:r>
              <a:rPr lang="en-US" dirty="0" smtClean="0">
                <a:solidFill>
                  <a:srgbClr val="000000"/>
                </a:solidFill>
                <a:latin typeface="Times New Roman"/>
                <a:ea typeface="Calibri"/>
                <a:cs typeface="Times New Roman"/>
              </a:rPr>
              <a:t>heavy rainfall </a:t>
            </a:r>
            <a:r>
              <a:rPr lang="en-US" dirty="0">
                <a:solidFill>
                  <a:srgbClr val="000000"/>
                </a:solidFill>
                <a:latin typeface="Times New Roman"/>
                <a:ea typeface="Calibri"/>
                <a:cs typeface="Times New Roman"/>
              </a:rPr>
              <a:t>events will continue to become </a:t>
            </a:r>
            <a:r>
              <a:rPr lang="en-US" dirty="0" smtClean="0">
                <a:solidFill>
                  <a:srgbClr val="000000"/>
                </a:solidFill>
                <a:latin typeface="Times New Roman"/>
                <a:ea typeface="Calibri"/>
                <a:cs typeface="Times New Roman"/>
              </a:rPr>
              <a:t>more frequent</a:t>
            </a:r>
            <a:r>
              <a:rPr lang="en-US" dirty="0">
                <a:solidFill>
                  <a:srgbClr val="000000"/>
                </a:solidFill>
                <a:latin typeface="Times New Roman"/>
                <a:ea typeface="Calibri"/>
                <a:cs typeface="Times New Roman"/>
              </a:rPr>
              <a:t>.</a:t>
            </a:r>
            <a:endParaRPr lang="en-GB" sz="1600" dirty="0">
              <a:ea typeface="Times New Roman"/>
              <a:cs typeface="Times New Roman"/>
            </a:endParaRPr>
          </a:p>
          <a:p>
            <a:pPr marL="342900" marR="0" lvl="0" indent="-342900" algn="just">
              <a:lnSpc>
                <a:spcPct val="150000"/>
              </a:lnSpc>
              <a:spcBef>
                <a:spcPts val="0"/>
              </a:spcBef>
              <a:spcAft>
                <a:spcPts val="0"/>
              </a:spcAft>
              <a:buFont typeface="Symbol"/>
              <a:buChar char=""/>
            </a:pPr>
            <a:r>
              <a:rPr lang="en-US" dirty="0">
                <a:solidFill>
                  <a:srgbClr val="000000"/>
                </a:solidFill>
                <a:latin typeface="Times New Roman"/>
                <a:ea typeface="Calibri"/>
                <a:cs typeface="Times New Roman"/>
              </a:rPr>
              <a:t>Water resources are </a:t>
            </a:r>
            <a:r>
              <a:rPr lang="en-US" dirty="0" smtClean="0">
                <a:solidFill>
                  <a:srgbClr val="000000"/>
                </a:solidFill>
                <a:latin typeface="Times New Roman"/>
                <a:ea typeface="Calibri"/>
                <a:cs typeface="Times New Roman"/>
              </a:rPr>
              <a:t>inseparably </a:t>
            </a:r>
            <a:r>
              <a:rPr lang="en-US" dirty="0">
                <a:solidFill>
                  <a:srgbClr val="000000"/>
                </a:solidFill>
                <a:latin typeface="Times New Roman"/>
                <a:ea typeface="Calibri"/>
                <a:cs typeface="Times New Roman"/>
              </a:rPr>
              <a:t>linked with agriculture</a:t>
            </a:r>
            <a:r>
              <a:rPr lang="en-US" dirty="0" smtClean="0">
                <a:solidFill>
                  <a:srgbClr val="000000"/>
                </a:solidFill>
                <a:latin typeface="Times New Roman"/>
                <a:ea typeface="Calibri"/>
                <a:cs typeface="Times New Roman"/>
              </a:rPr>
              <a:t>. Annual </a:t>
            </a:r>
            <a:r>
              <a:rPr lang="en-US" dirty="0">
                <a:solidFill>
                  <a:srgbClr val="000000"/>
                </a:solidFill>
                <a:latin typeface="Times New Roman"/>
                <a:ea typeface="Calibri"/>
                <a:cs typeface="Times New Roman"/>
              </a:rPr>
              <a:t>average river runoff and water availability </a:t>
            </a:r>
            <a:r>
              <a:rPr lang="en-US" dirty="0" smtClean="0">
                <a:solidFill>
                  <a:srgbClr val="000000"/>
                </a:solidFill>
                <a:latin typeface="Times New Roman"/>
                <a:ea typeface="Calibri"/>
                <a:cs typeface="Times New Roman"/>
              </a:rPr>
              <a:t>are projected </a:t>
            </a:r>
            <a:r>
              <a:rPr lang="en-US" dirty="0">
                <a:solidFill>
                  <a:srgbClr val="000000"/>
                </a:solidFill>
                <a:latin typeface="Times New Roman"/>
                <a:ea typeface="Calibri"/>
                <a:cs typeface="Times New Roman"/>
              </a:rPr>
              <a:t>to increase by 10-40% at high </a:t>
            </a:r>
            <a:r>
              <a:rPr lang="en-US" dirty="0" smtClean="0">
                <a:solidFill>
                  <a:srgbClr val="000000"/>
                </a:solidFill>
                <a:latin typeface="Times New Roman"/>
                <a:ea typeface="Calibri"/>
                <a:cs typeface="Times New Roman"/>
              </a:rPr>
              <a:t>latitudes, </a:t>
            </a:r>
            <a:r>
              <a:rPr lang="en-US" dirty="0">
                <a:solidFill>
                  <a:srgbClr val="000000"/>
                </a:solidFill>
                <a:latin typeface="Times New Roman"/>
                <a:ea typeface="Calibri"/>
                <a:cs typeface="Times New Roman"/>
              </a:rPr>
              <a:t>and decrease by 10-30%over some dry regions at mid-latitudes and in the </a:t>
            </a:r>
            <a:r>
              <a:rPr lang="en-US" dirty="0" smtClean="0">
                <a:solidFill>
                  <a:srgbClr val="000000"/>
                </a:solidFill>
                <a:latin typeface="Times New Roman"/>
                <a:ea typeface="Calibri"/>
                <a:cs typeface="Times New Roman"/>
              </a:rPr>
              <a:t>dry tropics</a:t>
            </a:r>
            <a:r>
              <a:rPr lang="en-US" dirty="0">
                <a:solidFill>
                  <a:srgbClr val="000000"/>
                </a:solidFill>
                <a:latin typeface="Times New Roman"/>
                <a:ea typeface="Calibri"/>
                <a:cs typeface="Times New Roman"/>
              </a:rPr>
              <a:t>.</a:t>
            </a:r>
            <a:endParaRPr lang="en-GB" sz="1600" dirty="0">
              <a:ea typeface="Times New Roman"/>
              <a:cs typeface="Times New Roman"/>
            </a:endParaRPr>
          </a:p>
          <a:p>
            <a:pPr marL="342900" marR="0" lvl="0" indent="-342900" algn="just">
              <a:lnSpc>
                <a:spcPct val="150000"/>
              </a:lnSpc>
              <a:spcBef>
                <a:spcPts val="0"/>
              </a:spcBef>
              <a:spcAft>
                <a:spcPts val="0"/>
              </a:spcAft>
              <a:buFont typeface="Symbol"/>
              <a:buChar char=""/>
            </a:pPr>
            <a:r>
              <a:rPr lang="en-US" dirty="0">
                <a:solidFill>
                  <a:srgbClr val="000000"/>
                </a:solidFill>
                <a:latin typeface="Times New Roman"/>
                <a:ea typeface="Calibri"/>
                <a:cs typeface="Times New Roman"/>
              </a:rPr>
              <a:t>Increases in drought and flood frequency are projected to affect local crop production negatively, especially in subsistence sectors at low latitudes.</a:t>
            </a:r>
            <a:endParaRPr lang="en-GB" sz="1600" dirty="0">
              <a:ea typeface="Times New Roman"/>
              <a:cs typeface="Times New Roman"/>
            </a:endParaRPr>
          </a:p>
          <a:p>
            <a:pPr marL="342900" marR="0" lvl="0" indent="-342900" algn="just">
              <a:lnSpc>
                <a:spcPct val="150000"/>
              </a:lnSpc>
              <a:spcBef>
                <a:spcPts val="0"/>
              </a:spcBef>
              <a:spcAft>
                <a:spcPts val="1000"/>
              </a:spcAft>
              <a:buFont typeface="Symbol"/>
              <a:buChar char=""/>
            </a:pPr>
            <a:r>
              <a:rPr lang="en-US" dirty="0" smtClean="0">
                <a:solidFill>
                  <a:srgbClr val="000000"/>
                </a:solidFill>
                <a:latin typeface="Times New Roman"/>
                <a:ea typeface="Calibri"/>
                <a:cs typeface="Times New Roman"/>
              </a:rPr>
              <a:t>There have been increased </a:t>
            </a:r>
            <a:r>
              <a:rPr lang="en-US" dirty="0">
                <a:solidFill>
                  <a:srgbClr val="000000"/>
                </a:solidFill>
                <a:latin typeface="Times New Roman"/>
                <a:ea typeface="Calibri"/>
                <a:cs typeface="Times New Roman"/>
              </a:rPr>
              <a:t>insect outbreaks impacting agriculture, </a:t>
            </a:r>
            <a:r>
              <a:rPr lang="en-US" dirty="0" smtClean="0">
                <a:solidFill>
                  <a:srgbClr val="000000"/>
                </a:solidFill>
                <a:latin typeface="Times New Roman"/>
                <a:ea typeface="Calibri"/>
                <a:cs typeface="Times New Roman"/>
              </a:rPr>
              <a:t>forestry and </a:t>
            </a:r>
            <a:r>
              <a:rPr lang="en-US" dirty="0">
                <a:solidFill>
                  <a:srgbClr val="000000"/>
                </a:solidFill>
                <a:latin typeface="Times New Roman"/>
                <a:ea typeface="Calibri"/>
                <a:cs typeface="Times New Roman"/>
              </a:rPr>
              <a:t>ecosystems.</a:t>
            </a:r>
            <a:endParaRPr lang="en-GB" sz="1600" dirty="0">
              <a:ea typeface="Times New Roman"/>
              <a:cs typeface="Times New Roman"/>
            </a:endParaRPr>
          </a:p>
        </p:txBody>
      </p:sp>
      <p:sp>
        <p:nvSpPr>
          <p:cNvPr id="8" name="Rectangle 7"/>
          <p:cNvSpPr/>
          <p:nvPr/>
        </p:nvSpPr>
        <p:spPr>
          <a:xfrm>
            <a:off x="-25534" y="1600200"/>
            <a:ext cx="9158827" cy="446276"/>
          </a:xfrm>
          <a:prstGeom prst="rect">
            <a:avLst/>
          </a:prstGeom>
        </p:spPr>
        <p:txBody>
          <a:bodyPr wrap="square">
            <a:spAutoFit/>
          </a:bodyPr>
          <a:lstStyle/>
          <a:p>
            <a:pPr algn="just">
              <a:lnSpc>
                <a:spcPct val="115000"/>
              </a:lnSpc>
            </a:pPr>
            <a:r>
              <a:rPr lang="en-US" sz="2000" b="1" dirty="0">
                <a:solidFill>
                  <a:srgbClr val="000000"/>
                </a:solidFill>
                <a:latin typeface="Times New Roman"/>
                <a:ea typeface="Calibri"/>
                <a:cs typeface="Times New Roman"/>
              </a:rPr>
              <a:t>Warming in the 21st century greatest over land </a:t>
            </a:r>
            <a:r>
              <a:rPr lang="en-US" sz="2000" b="1" dirty="0" smtClean="0">
                <a:solidFill>
                  <a:srgbClr val="000000"/>
                </a:solidFill>
                <a:latin typeface="Times New Roman"/>
                <a:ea typeface="Calibri"/>
                <a:cs typeface="Times New Roman"/>
              </a:rPr>
              <a:t>with the following impacts </a:t>
            </a:r>
            <a:endParaRPr lang="en-GB" sz="2000" b="1" dirty="0">
              <a:ea typeface="Times New Roman"/>
              <a:cs typeface="Times New Roman"/>
            </a:endParaRPr>
          </a:p>
        </p:txBody>
      </p:sp>
    </p:spTree>
    <p:extLst>
      <p:ext uri="{BB962C8B-B14F-4D97-AF65-F5344CB8AC3E}">
        <p14:creationId xmlns:p14="http://schemas.microsoft.com/office/powerpoint/2010/main" val="391447241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6"/>
          <p:cNvSpPr>
            <a:spLocks noChangeArrowheads="1"/>
          </p:cNvSpPr>
          <p:nvPr/>
        </p:nvSpPr>
        <p:spPr bwMode="auto">
          <a:xfrm>
            <a:off x="-6276" y="2446514"/>
            <a:ext cx="897008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7200" indent="-457200" eaLnBrk="1" hangingPunct="1">
              <a:buFont typeface="Wingdings" pitchFamily="2" charset="2"/>
              <a:buChar char="Ø"/>
            </a:pPr>
            <a:r>
              <a:rPr lang="en-US" altLang="en-US" sz="2400" dirty="0">
                <a:solidFill>
                  <a:srgbClr val="0070C0"/>
                </a:solidFill>
                <a:latin typeface="Times New Roman" pitchFamily="18" charset="0"/>
                <a:cs typeface="Times New Roman" pitchFamily="18" charset="0"/>
              </a:rPr>
              <a:t>IPCC</a:t>
            </a:r>
            <a:r>
              <a:rPr lang="en-US" altLang="en-US" sz="2400" dirty="0">
                <a:latin typeface="Times New Roman" pitchFamily="18" charset="0"/>
                <a:cs typeface="Times New Roman" pitchFamily="18" charset="0"/>
              </a:rPr>
              <a:t> describe how the future holds with respect to the variety of factors (</a:t>
            </a:r>
            <a:r>
              <a:rPr lang="en-US" altLang="en-US" sz="2400" dirty="0">
                <a:solidFill>
                  <a:srgbClr val="0070C0"/>
                </a:solidFill>
                <a:latin typeface="Times New Roman" pitchFamily="18" charset="0"/>
                <a:cs typeface="Times New Roman" pitchFamily="18" charset="0"/>
              </a:rPr>
              <a:t>socio-economic change, technological change, emissions of GHGs</a:t>
            </a:r>
            <a:r>
              <a:rPr lang="en-US" altLang="en-US" sz="2400" dirty="0">
                <a:latin typeface="Times New Roman" pitchFamily="18" charset="0"/>
                <a:cs typeface="Times New Roman" pitchFamily="18" charset="0"/>
              </a:rPr>
              <a:t>).</a:t>
            </a:r>
          </a:p>
        </p:txBody>
      </p:sp>
      <p:graphicFrame>
        <p:nvGraphicFramePr>
          <p:cNvPr id="4" name="Table 3"/>
          <p:cNvGraphicFramePr>
            <a:graphicFrameLocks noGrp="1"/>
          </p:cNvGraphicFramePr>
          <p:nvPr>
            <p:extLst>
              <p:ext uri="{D42A27DB-BD31-4B8C-83A1-F6EECF244321}">
                <p14:modId xmlns:p14="http://schemas.microsoft.com/office/powerpoint/2010/main" val="1336810098"/>
              </p:ext>
            </p:extLst>
          </p:nvPr>
        </p:nvGraphicFramePr>
        <p:xfrm>
          <a:off x="3352800" y="4000931"/>
          <a:ext cx="5611009" cy="2530474"/>
        </p:xfrm>
        <a:graphic>
          <a:graphicData uri="http://schemas.openxmlformats.org/drawingml/2006/table">
            <a:tbl>
              <a:tblPr firstRow="1" bandRow="1">
                <a:tableStyleId>{D7AC3CCA-C797-4891-BE02-D94E43425B78}</a:tableStyleId>
              </a:tblPr>
              <a:tblGrid>
                <a:gridCol w="838200">
                  <a:extLst>
                    <a:ext uri="{9D8B030D-6E8A-4147-A177-3AD203B41FA5}">
                      <a16:colId xmlns="" xmlns:a16="http://schemas.microsoft.com/office/drawing/2014/main" val="3116171462"/>
                    </a:ext>
                  </a:extLst>
                </a:gridCol>
                <a:gridCol w="685800"/>
                <a:gridCol w="716223">
                  <a:extLst>
                    <a:ext uri="{9D8B030D-6E8A-4147-A177-3AD203B41FA5}">
                      <a16:colId xmlns="" xmlns:a16="http://schemas.microsoft.com/office/drawing/2014/main" val="3484493459"/>
                    </a:ext>
                  </a:extLst>
                </a:gridCol>
                <a:gridCol w="1004238">
                  <a:extLst>
                    <a:ext uri="{9D8B030D-6E8A-4147-A177-3AD203B41FA5}">
                      <a16:colId xmlns="" xmlns:a16="http://schemas.microsoft.com/office/drawing/2014/main" val="2915352873"/>
                    </a:ext>
                  </a:extLst>
                </a:gridCol>
                <a:gridCol w="899118">
                  <a:extLst>
                    <a:ext uri="{9D8B030D-6E8A-4147-A177-3AD203B41FA5}">
                      <a16:colId xmlns="" xmlns:a16="http://schemas.microsoft.com/office/drawing/2014/main" val="2057468765"/>
                    </a:ext>
                  </a:extLst>
                </a:gridCol>
                <a:gridCol w="1467430">
                  <a:extLst>
                    <a:ext uri="{9D8B030D-6E8A-4147-A177-3AD203B41FA5}">
                      <a16:colId xmlns="" xmlns:a16="http://schemas.microsoft.com/office/drawing/2014/main" val="1843181659"/>
                    </a:ext>
                  </a:extLst>
                </a:gridCol>
              </a:tblGrid>
              <a:tr h="823189">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smtClean="0"/>
                        <a:t>GHG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smtClean="0"/>
                        <a:t>Emissions </a:t>
                      </a:r>
                      <a:endParaRPr lang="en-US" sz="1800" dirty="0"/>
                    </a:p>
                  </a:txBody>
                  <a:tcPr marL="91436" marR="91436" marT="45722" marB="45722">
                    <a:lnR w="12700" cap="flat" cmpd="sng" algn="ctr">
                      <a:solidFill>
                        <a:schemeClr val="tx1"/>
                      </a:solidFill>
                      <a:prstDash val="solid"/>
                      <a:round/>
                      <a:headEnd type="none" w="med" len="med"/>
                      <a:tailEnd type="none" w="med" len="med"/>
                    </a:lnR>
                  </a:tcPr>
                </a:tc>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Scenarios</a:t>
                      </a:r>
                      <a:endParaRPr lang="en-US" sz="1800" dirty="0" smtClean="0"/>
                    </a:p>
                    <a:p>
                      <a:endParaRPr lang="en-US" sz="1600" dirty="0" smtClean="0"/>
                    </a:p>
                  </a:txBody>
                  <a:tcPr marL="91436" marR="91436" marT="45722" marB="45722">
                    <a:lnL w="12700" cap="flat" cmpd="sng" algn="ctr">
                      <a:solidFill>
                        <a:schemeClr val="tx1"/>
                      </a:solidFill>
                      <a:prstDash val="solid"/>
                      <a:round/>
                      <a:headEnd type="none" w="med" len="med"/>
                      <a:tailEnd type="none" w="med" len="med"/>
                    </a:lnL>
                  </a:tcPr>
                </a:tc>
                <a:tc hMerge="1">
                  <a:txBody>
                    <a:bodyPr/>
                    <a:lstStyle/>
                    <a:p>
                      <a:endParaRPr lang="en-US"/>
                    </a:p>
                  </a:txBody>
                  <a:tcPr/>
                </a:tc>
                <a:tc gridSpan="2">
                  <a:txBody>
                    <a:bodyPr/>
                    <a:lstStyle/>
                    <a:p>
                      <a:r>
                        <a:rPr lang="en-US" sz="1600" dirty="0" smtClean="0"/>
                        <a:t>Tem (°C) increase by </a:t>
                      </a:r>
                      <a:r>
                        <a:rPr lang="en-US" sz="1600" dirty="0" smtClean="0">
                          <a:solidFill>
                            <a:srgbClr val="7030A0"/>
                          </a:solidFill>
                        </a:rPr>
                        <a:t>2081-2100</a:t>
                      </a:r>
                      <a:r>
                        <a:rPr lang="en-US" sz="1600" dirty="0" smtClean="0"/>
                        <a:t> relative to 1850-1900 </a:t>
                      </a:r>
                    </a:p>
                  </a:txBody>
                  <a:tcPr marL="91436" marR="91436" marT="45722" marB="45722">
                    <a:lnR w="12700" cmpd="sng">
                      <a:noFill/>
                    </a:lnR>
                    <a:lnB w="12700" cmpd="sng">
                      <a:noFill/>
                    </a:lnB>
                  </a:tcPr>
                </a:tc>
                <a:tc hMerge="1">
                  <a:txBody>
                    <a:bodyPr/>
                    <a:lstStyle/>
                    <a:p>
                      <a:endParaRPr lang="en-US" dirty="0" smtClean="0"/>
                    </a:p>
                  </a:txBody>
                  <a:tcPr>
                    <a:lnB w="12700" cmpd="sng">
                      <a:noFill/>
                    </a:lnB>
                  </a:tcPr>
                </a:tc>
                <a:tc>
                  <a:txBody>
                    <a:bodyPr/>
                    <a:lstStyle/>
                    <a:p>
                      <a:r>
                        <a:rPr lang="en-US" sz="1600" dirty="0" smtClean="0"/>
                        <a:t> Mean Tem rise and C0</a:t>
                      </a:r>
                      <a:r>
                        <a:rPr lang="en-US" sz="1600" baseline="-45000" dirty="0" smtClean="0"/>
                        <a:t>2</a:t>
                      </a:r>
                    </a:p>
                  </a:txBody>
                  <a:tcPr marL="91436" marR="91436" marT="45722" marB="45722">
                    <a:lnL w="12700" cmpd="sng">
                      <a:noFill/>
                    </a:lnL>
                    <a:lnB w="12700" cmpd="sng">
                      <a:noFill/>
                    </a:lnB>
                  </a:tcPr>
                </a:tc>
                <a:extLst>
                  <a:ext uri="{0D108BD9-81ED-4DB2-BD59-A6C34878D82A}">
                    <a16:rowId xmlns="" xmlns:a16="http://schemas.microsoft.com/office/drawing/2014/main" val="1901508097"/>
                  </a:ext>
                </a:extLst>
              </a:tr>
              <a:tr h="365849">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marL="91436" marR="91436" marT="45722" marB="45722">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smtClean="0"/>
                        <a:t>RCP</a:t>
                      </a:r>
                      <a:endParaRPr lang="en-US" sz="1800" dirty="0"/>
                    </a:p>
                  </a:txBody>
                  <a:tcPr marL="91436" marR="91436" marT="45722" marB="45722">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smtClean="0"/>
                        <a:t>SRES</a:t>
                      </a:r>
                      <a:endParaRPr lang="en-US" sz="1800" dirty="0"/>
                    </a:p>
                  </a:txBody>
                  <a:tcPr marL="91436" marR="91436" marT="45722" marB="45722"/>
                </a:tc>
                <a:tc>
                  <a:txBody>
                    <a:bodyPr/>
                    <a:lstStyle/>
                    <a:p>
                      <a:r>
                        <a:rPr lang="en-US" sz="1600" dirty="0" smtClean="0"/>
                        <a:t>SRES</a:t>
                      </a:r>
                      <a:endParaRPr lang="en-US" sz="1600" dirty="0"/>
                    </a:p>
                  </a:txBody>
                  <a:tcPr marL="91436" marR="91436" marT="45722" marB="45722">
                    <a:lnT w="12700" cmpd="sng">
                      <a:noFill/>
                    </a:lnT>
                  </a:tcPr>
                </a:tc>
                <a:tc>
                  <a:txBody>
                    <a:bodyPr/>
                    <a:lstStyle/>
                    <a:p>
                      <a:r>
                        <a:rPr lang="en-US" sz="1600" dirty="0" smtClean="0"/>
                        <a:t>RCP</a:t>
                      </a:r>
                      <a:endParaRPr lang="en-US" sz="1600" dirty="0"/>
                    </a:p>
                  </a:txBody>
                  <a:tcPr marL="91436" marR="91436" marT="45722" marB="45722">
                    <a:lnR w="12700" cmpd="sng">
                      <a:noFill/>
                    </a:lnR>
                    <a:lnT w="12700" cmpd="sng">
                      <a:noFill/>
                    </a:lnT>
                  </a:tcPr>
                </a:tc>
                <a:tc>
                  <a:txBody>
                    <a:bodyPr/>
                    <a:lstStyle/>
                    <a:p>
                      <a:endParaRPr lang="en-US" sz="1600" dirty="0"/>
                    </a:p>
                  </a:txBody>
                  <a:tcPr marL="91436" marR="91436" marT="45722" marB="45722">
                    <a:lnL w="12700" cmpd="sng">
                      <a:noFill/>
                    </a:lnL>
                    <a:lnT w="12700" cmpd="sng">
                      <a:noFill/>
                    </a:lnT>
                  </a:tcPr>
                </a:tc>
                <a:extLst>
                  <a:ext uri="{0D108BD9-81ED-4DB2-BD59-A6C34878D82A}">
                    <a16:rowId xmlns="" xmlns:a16="http://schemas.microsoft.com/office/drawing/2014/main" val="1344720636"/>
                  </a:ext>
                </a:extLst>
              </a:tr>
              <a:tr h="335359">
                <a:tc>
                  <a:txBody>
                    <a:bodyPr/>
                    <a:lstStyle/>
                    <a:p>
                      <a:r>
                        <a:rPr lang="en-US" sz="1600" dirty="0" smtClean="0"/>
                        <a:t>High</a:t>
                      </a:r>
                      <a:endParaRPr lang="en-US" sz="1600" dirty="0"/>
                    </a:p>
                  </a:txBody>
                  <a:tcPr marL="91436" marR="91436" marT="45722" marB="45722">
                    <a:lnR w="12700" cap="flat" cmpd="sng" algn="ctr">
                      <a:solidFill>
                        <a:schemeClr val="tx1"/>
                      </a:solidFill>
                      <a:prstDash val="solid"/>
                      <a:round/>
                      <a:headEnd type="none" w="med" len="med"/>
                      <a:tailEnd type="none" w="med" len="med"/>
                    </a:lnR>
                  </a:tcPr>
                </a:tc>
                <a:tc>
                  <a:txBody>
                    <a:bodyPr/>
                    <a:lstStyle/>
                    <a:p>
                      <a:r>
                        <a:rPr lang="en-US" sz="1600" dirty="0" smtClean="0"/>
                        <a:t>8.5</a:t>
                      </a:r>
                      <a:endParaRPr lang="en-US" sz="1600" dirty="0"/>
                    </a:p>
                  </a:txBody>
                  <a:tcPr marL="91436" marR="91436" marT="45722" marB="45722">
                    <a:lnL w="12700" cap="flat" cmpd="sng" algn="ctr">
                      <a:solidFill>
                        <a:schemeClr val="tx1"/>
                      </a:solidFill>
                      <a:prstDash val="solid"/>
                      <a:round/>
                      <a:headEnd type="none" w="med" len="med"/>
                      <a:tailEnd type="none" w="med" len="med"/>
                    </a:lnL>
                  </a:tcPr>
                </a:tc>
                <a:tc>
                  <a:txBody>
                    <a:bodyPr/>
                    <a:lstStyle/>
                    <a:p>
                      <a:r>
                        <a:rPr lang="en-US" sz="1600" dirty="0" smtClean="0"/>
                        <a:t>A2</a:t>
                      </a:r>
                      <a:endParaRPr lang="en-US" sz="1600" dirty="0"/>
                    </a:p>
                  </a:txBody>
                  <a:tcPr marL="91436" marR="91436" marT="45722" marB="45722"/>
                </a:tc>
                <a:tc>
                  <a:txBody>
                    <a:bodyPr/>
                    <a:lstStyle/>
                    <a:p>
                      <a:r>
                        <a:rPr lang="en-US" sz="1600" dirty="0" smtClean="0"/>
                        <a:t>2.0-5.4</a:t>
                      </a:r>
                      <a:endParaRPr lang="en-US" sz="1600" dirty="0"/>
                    </a:p>
                  </a:txBody>
                  <a:tcPr marL="91436" marR="91436" marT="45722" marB="45722"/>
                </a:tc>
                <a:tc>
                  <a:txBody>
                    <a:bodyPr/>
                    <a:lstStyle/>
                    <a:p>
                      <a:r>
                        <a:rPr lang="en-US" sz="1600" dirty="0" smtClean="0"/>
                        <a:t>3.2-5.4</a:t>
                      </a:r>
                      <a:endParaRPr lang="en-US" sz="1600" dirty="0"/>
                    </a:p>
                  </a:txBody>
                  <a:tcPr marL="91436" marR="91436" marT="45722" marB="45722">
                    <a:lnR w="12700" cmpd="sng">
                      <a:noFill/>
                    </a:lnR>
                  </a:tcPr>
                </a:tc>
                <a:tc>
                  <a:txBody>
                    <a:bodyPr/>
                    <a:lstStyle/>
                    <a:p>
                      <a:r>
                        <a:rPr lang="en-US" sz="1600" dirty="0" smtClean="0"/>
                        <a:t>4.3  </a:t>
                      </a:r>
                      <a:r>
                        <a:rPr lang="en-US" sz="1500" dirty="0" smtClean="0"/>
                        <a:t>(936ppm)</a:t>
                      </a:r>
                      <a:endParaRPr lang="en-US" sz="1500" dirty="0"/>
                    </a:p>
                  </a:txBody>
                  <a:tcPr marL="91436" marR="91436" marT="45722" marB="45722">
                    <a:lnL w="12700" cmpd="sng">
                      <a:noFill/>
                    </a:lnL>
                  </a:tcPr>
                </a:tc>
                <a:extLst>
                  <a:ext uri="{0D108BD9-81ED-4DB2-BD59-A6C34878D82A}">
                    <a16:rowId xmlns="" xmlns:a16="http://schemas.microsoft.com/office/drawing/2014/main" val="1788071884"/>
                  </a:ext>
                </a:extLst>
              </a:tr>
              <a:tr h="335359">
                <a:tc>
                  <a:txBody>
                    <a:bodyPr/>
                    <a:lstStyle/>
                    <a:p>
                      <a:r>
                        <a:rPr lang="en-US" sz="1600" dirty="0" smtClean="0"/>
                        <a:t>M-H</a:t>
                      </a:r>
                      <a:endParaRPr lang="en-US" sz="1600" dirty="0"/>
                    </a:p>
                  </a:txBody>
                  <a:tcPr marL="91436" marR="91436" marT="45722" marB="45722">
                    <a:lnR w="12700" cap="flat" cmpd="sng" algn="ctr">
                      <a:solidFill>
                        <a:schemeClr val="tx1"/>
                      </a:solidFill>
                      <a:prstDash val="solid"/>
                      <a:round/>
                      <a:headEnd type="none" w="med" len="med"/>
                      <a:tailEnd type="none" w="med" len="med"/>
                    </a:lnR>
                  </a:tcPr>
                </a:tc>
                <a:tc>
                  <a:txBody>
                    <a:bodyPr/>
                    <a:lstStyle/>
                    <a:p>
                      <a:r>
                        <a:rPr lang="en-US" sz="1600" dirty="0" smtClean="0"/>
                        <a:t>6.0</a:t>
                      </a:r>
                      <a:endParaRPr lang="en-US" sz="1600" dirty="0"/>
                    </a:p>
                  </a:txBody>
                  <a:tcPr marL="91436" marR="91436" marT="45722" marB="45722">
                    <a:lnL w="12700" cap="flat" cmpd="sng" algn="ctr">
                      <a:solidFill>
                        <a:schemeClr val="tx1"/>
                      </a:solidFill>
                      <a:prstDash val="solid"/>
                      <a:round/>
                      <a:headEnd type="none" w="med" len="med"/>
                      <a:tailEnd type="none" w="med" len="med"/>
                    </a:lnL>
                  </a:tcPr>
                </a:tc>
                <a:tc>
                  <a:txBody>
                    <a:bodyPr/>
                    <a:lstStyle/>
                    <a:p>
                      <a:r>
                        <a:rPr lang="en-US" sz="1600" dirty="0" smtClean="0"/>
                        <a:t>A1</a:t>
                      </a:r>
                      <a:endParaRPr lang="en-US" sz="1600" dirty="0"/>
                    </a:p>
                  </a:txBody>
                  <a:tcPr marL="91436" marR="91436" marT="45722" marB="45722"/>
                </a:tc>
                <a:tc>
                  <a:txBody>
                    <a:bodyPr/>
                    <a:lstStyle/>
                    <a:p>
                      <a:r>
                        <a:rPr lang="en-US" sz="1600" dirty="0" smtClean="0"/>
                        <a:t>1.4-6.4</a:t>
                      </a:r>
                      <a:endParaRPr lang="en-US" sz="1600" dirty="0"/>
                    </a:p>
                  </a:txBody>
                  <a:tcPr marL="91436" marR="91436" marT="45722" marB="45722"/>
                </a:tc>
                <a:tc>
                  <a:txBody>
                    <a:bodyPr/>
                    <a:lstStyle/>
                    <a:p>
                      <a:r>
                        <a:rPr lang="en-US" sz="1600" dirty="0" smtClean="0"/>
                        <a:t>2.0-3.7</a:t>
                      </a:r>
                      <a:endParaRPr lang="en-US" sz="1600" dirty="0"/>
                    </a:p>
                  </a:txBody>
                  <a:tcPr marL="91436" marR="91436" marT="45722" marB="45722">
                    <a:lnR w="12700" cmpd="sng">
                      <a:noFill/>
                    </a:lnR>
                  </a:tcPr>
                </a:tc>
                <a:tc>
                  <a:txBody>
                    <a:bodyPr/>
                    <a:lstStyle/>
                    <a:p>
                      <a:r>
                        <a:rPr lang="en-US" sz="1600" dirty="0" smtClean="0"/>
                        <a:t>2.8  </a:t>
                      </a:r>
                      <a:r>
                        <a:rPr lang="en-US" sz="1500" dirty="0" smtClean="0"/>
                        <a:t>(670ppm) </a:t>
                      </a:r>
                      <a:endParaRPr lang="en-US" sz="1500" dirty="0"/>
                    </a:p>
                  </a:txBody>
                  <a:tcPr marL="91436" marR="91436" marT="45722" marB="45722">
                    <a:lnL w="12700" cmpd="sng">
                      <a:noFill/>
                    </a:lnL>
                  </a:tcPr>
                </a:tc>
                <a:extLst>
                  <a:ext uri="{0D108BD9-81ED-4DB2-BD59-A6C34878D82A}">
                    <a16:rowId xmlns="" xmlns:a16="http://schemas.microsoft.com/office/drawing/2014/main" val="1940307744"/>
                  </a:ext>
                </a:extLst>
              </a:tr>
              <a:tr h="335359">
                <a:tc>
                  <a:txBody>
                    <a:bodyPr/>
                    <a:lstStyle/>
                    <a:p>
                      <a:r>
                        <a:rPr lang="en-US" sz="1600" dirty="0" smtClean="0"/>
                        <a:t>M</a:t>
                      </a:r>
                      <a:endParaRPr lang="en-US" sz="1600" dirty="0"/>
                    </a:p>
                  </a:txBody>
                  <a:tcPr marL="91436" marR="91436" marT="45722" marB="45722">
                    <a:lnR w="12700" cap="flat" cmpd="sng" algn="ctr">
                      <a:solidFill>
                        <a:schemeClr val="tx1"/>
                      </a:solidFill>
                      <a:prstDash val="solid"/>
                      <a:round/>
                      <a:headEnd type="none" w="med" len="med"/>
                      <a:tailEnd type="none" w="med" len="med"/>
                    </a:lnR>
                  </a:tcPr>
                </a:tc>
                <a:tc>
                  <a:txBody>
                    <a:bodyPr/>
                    <a:lstStyle/>
                    <a:p>
                      <a:r>
                        <a:rPr lang="en-US" sz="1600" dirty="0" smtClean="0"/>
                        <a:t>4.5</a:t>
                      </a:r>
                      <a:endParaRPr lang="en-US" sz="1600" dirty="0"/>
                    </a:p>
                  </a:txBody>
                  <a:tcPr marL="91436" marR="91436" marT="45722" marB="45722">
                    <a:lnL w="12700" cap="flat" cmpd="sng" algn="ctr">
                      <a:solidFill>
                        <a:schemeClr val="tx1"/>
                      </a:solidFill>
                      <a:prstDash val="solid"/>
                      <a:round/>
                      <a:headEnd type="none" w="med" len="med"/>
                      <a:tailEnd type="none" w="med" len="med"/>
                    </a:lnL>
                  </a:tcPr>
                </a:tc>
                <a:tc>
                  <a:txBody>
                    <a:bodyPr/>
                    <a:lstStyle/>
                    <a:p>
                      <a:r>
                        <a:rPr lang="en-US" sz="1600" dirty="0" smtClean="0"/>
                        <a:t>B2</a:t>
                      </a:r>
                      <a:endParaRPr lang="en-US" sz="1600" dirty="0"/>
                    </a:p>
                  </a:txBody>
                  <a:tcPr marL="91436" marR="91436" marT="45722" marB="45722"/>
                </a:tc>
                <a:tc>
                  <a:txBody>
                    <a:bodyPr/>
                    <a:lstStyle/>
                    <a:p>
                      <a:r>
                        <a:rPr lang="en-US" sz="1600" dirty="0" smtClean="0"/>
                        <a:t>1.4-3.8</a:t>
                      </a:r>
                    </a:p>
                  </a:txBody>
                  <a:tcPr marL="91436" marR="91436" marT="45722" marB="45722"/>
                </a:tc>
                <a:tc>
                  <a:txBody>
                    <a:bodyPr/>
                    <a:lstStyle/>
                    <a:p>
                      <a:r>
                        <a:rPr lang="en-US" sz="1600" dirty="0" smtClean="0"/>
                        <a:t>1.7-3.2</a:t>
                      </a:r>
                      <a:endParaRPr lang="en-US" sz="1600" dirty="0"/>
                    </a:p>
                  </a:txBody>
                  <a:tcPr marL="91436" marR="91436" marT="45722" marB="45722">
                    <a:lnR w="12700" cmpd="sng">
                      <a:noFill/>
                    </a:lnR>
                  </a:tcPr>
                </a:tc>
                <a:tc>
                  <a:txBody>
                    <a:bodyPr/>
                    <a:lstStyle/>
                    <a:p>
                      <a:r>
                        <a:rPr lang="en-US" sz="1600" dirty="0" smtClean="0"/>
                        <a:t>2.4 (538ppm)</a:t>
                      </a:r>
                      <a:endParaRPr lang="en-US" sz="1600" dirty="0"/>
                    </a:p>
                  </a:txBody>
                  <a:tcPr marL="91436" marR="91436" marT="45722" marB="45722">
                    <a:lnL w="12700" cmpd="sng">
                      <a:noFill/>
                    </a:lnL>
                  </a:tcPr>
                </a:tc>
                <a:extLst>
                  <a:ext uri="{0D108BD9-81ED-4DB2-BD59-A6C34878D82A}">
                    <a16:rowId xmlns="" xmlns:a16="http://schemas.microsoft.com/office/drawing/2014/main" val="815065867"/>
                  </a:ext>
                </a:extLst>
              </a:tr>
              <a:tr h="335359">
                <a:tc>
                  <a:txBody>
                    <a:bodyPr/>
                    <a:lstStyle/>
                    <a:p>
                      <a:r>
                        <a:rPr lang="en-US" sz="1600" dirty="0" smtClean="0"/>
                        <a:t>Low</a:t>
                      </a:r>
                      <a:endParaRPr lang="en-US" sz="1600" dirty="0"/>
                    </a:p>
                  </a:txBody>
                  <a:tcPr marL="91436" marR="91436" marT="45722" marB="45722">
                    <a:lnR w="12700" cap="flat" cmpd="sng" algn="ctr">
                      <a:solidFill>
                        <a:schemeClr val="tx1"/>
                      </a:solidFill>
                      <a:prstDash val="solid"/>
                      <a:round/>
                      <a:headEnd type="none" w="med" len="med"/>
                      <a:tailEnd type="none" w="med" len="med"/>
                    </a:lnR>
                  </a:tcPr>
                </a:tc>
                <a:tc>
                  <a:txBody>
                    <a:bodyPr/>
                    <a:lstStyle/>
                    <a:p>
                      <a:r>
                        <a:rPr lang="en-US" sz="1600" dirty="0" smtClean="0"/>
                        <a:t>2.6</a:t>
                      </a:r>
                      <a:endParaRPr lang="en-US" sz="1600" dirty="0"/>
                    </a:p>
                  </a:txBody>
                  <a:tcPr marL="91436" marR="91436" marT="45722" marB="45722">
                    <a:lnL w="12700" cap="flat" cmpd="sng" algn="ctr">
                      <a:solidFill>
                        <a:schemeClr val="tx1"/>
                      </a:solidFill>
                      <a:prstDash val="solid"/>
                      <a:round/>
                      <a:headEnd type="none" w="med" len="med"/>
                      <a:tailEnd type="none" w="med" len="med"/>
                    </a:lnL>
                  </a:tcPr>
                </a:tc>
                <a:tc>
                  <a:txBody>
                    <a:bodyPr/>
                    <a:lstStyle/>
                    <a:p>
                      <a:r>
                        <a:rPr lang="en-US" sz="1600" dirty="0" smtClean="0"/>
                        <a:t>B1</a:t>
                      </a:r>
                      <a:endParaRPr lang="en-US" sz="1600" dirty="0"/>
                    </a:p>
                  </a:txBody>
                  <a:tcPr marL="91436" marR="91436" marT="45722" marB="45722"/>
                </a:tc>
                <a:tc>
                  <a:txBody>
                    <a:bodyPr/>
                    <a:lstStyle/>
                    <a:p>
                      <a:r>
                        <a:rPr lang="en-US" sz="1600" dirty="0" smtClean="0"/>
                        <a:t>1.1-2.9</a:t>
                      </a:r>
                      <a:endParaRPr lang="en-US" sz="1600" dirty="0"/>
                    </a:p>
                  </a:txBody>
                  <a:tcPr marL="91436" marR="91436" marT="45722" marB="45722"/>
                </a:tc>
                <a:tc>
                  <a:txBody>
                    <a:bodyPr/>
                    <a:lstStyle/>
                    <a:p>
                      <a:r>
                        <a:rPr lang="en-US" sz="1600" dirty="0" smtClean="0"/>
                        <a:t>0.9-2.3</a:t>
                      </a:r>
                      <a:endParaRPr lang="en-US" sz="1600" dirty="0"/>
                    </a:p>
                  </a:txBody>
                  <a:tcPr marL="91436" marR="91436" marT="45722" marB="45722">
                    <a:lnR w="12700" cmpd="sng">
                      <a:noFill/>
                    </a:lnR>
                  </a:tcPr>
                </a:tc>
                <a:tc>
                  <a:txBody>
                    <a:bodyPr/>
                    <a:lstStyle/>
                    <a:p>
                      <a:r>
                        <a:rPr lang="en-US" sz="1600" dirty="0" smtClean="0"/>
                        <a:t>1.6 (421ppm)</a:t>
                      </a:r>
                      <a:endParaRPr lang="en-US" sz="1600" dirty="0"/>
                    </a:p>
                  </a:txBody>
                  <a:tcPr marL="91436" marR="91436" marT="45722" marB="45722">
                    <a:lnL w="12700" cmpd="sng">
                      <a:noFill/>
                    </a:lnL>
                  </a:tcPr>
                </a:tc>
                <a:extLst>
                  <a:ext uri="{0D108BD9-81ED-4DB2-BD59-A6C34878D82A}">
                    <a16:rowId xmlns="" xmlns:a16="http://schemas.microsoft.com/office/drawing/2014/main" val="2275806094"/>
                  </a:ext>
                </a:extLst>
              </a:tr>
            </a:tbl>
          </a:graphicData>
        </a:graphic>
      </p:graphicFrame>
      <p:sp>
        <p:nvSpPr>
          <p:cNvPr id="5" name="Rectangle 11"/>
          <p:cNvSpPr>
            <a:spLocks noChangeArrowheads="1"/>
          </p:cNvSpPr>
          <p:nvPr/>
        </p:nvSpPr>
        <p:spPr bwMode="auto">
          <a:xfrm>
            <a:off x="21515" y="3657600"/>
            <a:ext cx="4572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en-US" altLang="en-US" sz="1400" dirty="0">
                <a:latin typeface="Times New Roman" pitchFamily="18" charset="0"/>
                <a:cs typeface="Times New Roman" pitchFamily="18" charset="0"/>
              </a:rPr>
              <a:t>Special Report on Emissions </a:t>
            </a:r>
            <a:r>
              <a:rPr lang="en-US" altLang="en-US" sz="1400" dirty="0" smtClean="0">
                <a:latin typeface="Times New Roman" pitchFamily="18" charset="0"/>
                <a:cs typeface="Times New Roman" pitchFamily="18" charset="0"/>
              </a:rPr>
              <a:t> Scenarios </a:t>
            </a:r>
            <a:r>
              <a:rPr lang="en-US" altLang="en-US" sz="1400" dirty="0">
                <a:latin typeface="Times New Roman" pitchFamily="18" charset="0"/>
                <a:cs typeface="Times New Roman" pitchFamily="18" charset="0"/>
              </a:rPr>
              <a:t>(SRES)</a:t>
            </a:r>
          </a:p>
        </p:txBody>
      </p:sp>
      <p:sp>
        <p:nvSpPr>
          <p:cNvPr id="6" name="Rectangle 12"/>
          <p:cNvSpPr>
            <a:spLocks noChangeArrowheads="1"/>
          </p:cNvSpPr>
          <p:nvPr/>
        </p:nvSpPr>
        <p:spPr bwMode="auto">
          <a:xfrm>
            <a:off x="0" y="4114800"/>
            <a:ext cx="4191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en-US" altLang="en-US" sz="1200" dirty="0">
                <a:latin typeface="Times New Roman" pitchFamily="18" charset="0"/>
                <a:cs typeface="Times New Roman" pitchFamily="18" charset="0"/>
              </a:rPr>
              <a:t>Representative Concentration Pathways (RCP) </a:t>
            </a:r>
          </a:p>
        </p:txBody>
      </p:sp>
      <p:sp>
        <p:nvSpPr>
          <p:cNvPr id="7" name="Rectangle 6"/>
          <p:cNvSpPr/>
          <p:nvPr/>
        </p:nvSpPr>
        <p:spPr>
          <a:xfrm>
            <a:off x="304800" y="1636118"/>
            <a:ext cx="8610600" cy="707886"/>
          </a:xfrm>
          <a:prstGeom prst="rect">
            <a:avLst/>
          </a:prstGeom>
        </p:spPr>
        <p:txBody>
          <a:bodyPr wrap="square">
            <a:spAutoFit/>
          </a:bodyPr>
          <a:lstStyle/>
          <a:p>
            <a:pPr marL="285750" indent="-285750">
              <a:buFont typeface="Wingdings" pitchFamily="2" charset="2"/>
              <a:buChar char="q"/>
            </a:pPr>
            <a:r>
              <a:rPr lang="en-US" sz="2000" dirty="0">
                <a:latin typeface="+mj-lt"/>
              </a:rPr>
              <a:t>After individuals struggle and different workshops, IPCC </a:t>
            </a:r>
            <a:r>
              <a:rPr lang="en-US" sz="2000" dirty="0" smtClean="0">
                <a:latin typeface="+mj-lt"/>
              </a:rPr>
              <a:t>(</a:t>
            </a:r>
            <a:r>
              <a:rPr lang="en-GB" sz="2000" dirty="0">
                <a:latin typeface="+mj-lt"/>
              </a:rPr>
              <a:t>Intergovernmental Panel on Climate Change</a:t>
            </a:r>
            <a:r>
              <a:rPr lang="en-US" sz="2000" dirty="0" smtClean="0">
                <a:latin typeface="+mj-lt"/>
              </a:rPr>
              <a:t>) was </a:t>
            </a:r>
            <a:r>
              <a:rPr lang="en-US" sz="2000" dirty="0">
                <a:latin typeface="+mj-lt"/>
              </a:rPr>
              <a:t>established in </a:t>
            </a:r>
            <a:r>
              <a:rPr lang="en-US" sz="2000" dirty="0" smtClean="0">
                <a:latin typeface="+mj-lt"/>
              </a:rPr>
              <a:t>1988.</a:t>
            </a:r>
            <a:endParaRPr lang="en-GB" sz="2000" dirty="0">
              <a:latin typeface="+mj-lt"/>
            </a:endParaRPr>
          </a:p>
        </p:txBody>
      </p:sp>
      <p:sp>
        <p:nvSpPr>
          <p:cNvPr id="8" name="Title 1"/>
          <p:cNvSpPr>
            <a:spLocks noGrp="1"/>
          </p:cNvSpPr>
          <p:nvPr>
            <p:ph type="title"/>
          </p:nvPr>
        </p:nvSpPr>
        <p:spPr>
          <a:xfrm>
            <a:off x="21515" y="-236589"/>
            <a:ext cx="8229600" cy="1143000"/>
          </a:xfrm>
        </p:spPr>
        <p:txBody>
          <a:bodyPr/>
          <a:lstStyle/>
          <a:p>
            <a:pPr algn="l"/>
            <a:r>
              <a:rPr lang="en-US" b="1" dirty="0"/>
              <a:t>Chapter 1. Introduction </a:t>
            </a:r>
            <a:endParaRPr lang="en-US" dirty="0"/>
          </a:p>
        </p:txBody>
      </p:sp>
      <p:sp>
        <p:nvSpPr>
          <p:cNvPr id="9" name="Rectangle 8"/>
          <p:cNvSpPr/>
          <p:nvPr/>
        </p:nvSpPr>
        <p:spPr>
          <a:xfrm>
            <a:off x="0" y="719882"/>
            <a:ext cx="6858000" cy="400110"/>
          </a:xfrm>
          <a:prstGeom prst="rect">
            <a:avLst/>
          </a:prstGeom>
        </p:spPr>
        <p:txBody>
          <a:bodyPr wrap="square">
            <a:spAutoFit/>
          </a:bodyPr>
          <a:lstStyle/>
          <a:p>
            <a:pPr lvl="1"/>
            <a:r>
              <a:rPr lang="en-US" sz="2000" b="1" dirty="0" smtClean="0">
                <a:latin typeface="Times New Roman" pitchFamily="18" charset="0"/>
                <a:cs typeface="Times New Roman" pitchFamily="18" charset="0"/>
              </a:rPr>
              <a:t>1.2 Past</a:t>
            </a:r>
            <a:r>
              <a:rPr lang="en-US" sz="2000" b="1" dirty="0">
                <a:latin typeface="Times New Roman" pitchFamily="18" charset="0"/>
                <a:cs typeface="Times New Roman" pitchFamily="18" charset="0"/>
              </a:rPr>
              <a:t>, present and future predictions of climate change</a:t>
            </a:r>
            <a:endParaRPr lang="en-US" sz="2000" dirty="0">
              <a:latin typeface="Times New Roman" pitchFamily="18" charset="0"/>
              <a:cs typeface="Times New Roman" pitchFamily="18" charset="0"/>
            </a:endParaRPr>
          </a:p>
        </p:txBody>
      </p:sp>
      <p:sp>
        <p:nvSpPr>
          <p:cNvPr id="10" name="Rectangle 9"/>
          <p:cNvSpPr/>
          <p:nvPr/>
        </p:nvSpPr>
        <p:spPr>
          <a:xfrm>
            <a:off x="914400" y="1119992"/>
            <a:ext cx="5257800" cy="400110"/>
          </a:xfrm>
          <a:prstGeom prst="rect">
            <a:avLst/>
          </a:prstGeom>
          <a:ln>
            <a:solidFill>
              <a:schemeClr val="tx2">
                <a:lumMod val="60000"/>
                <a:lumOff val="40000"/>
              </a:schemeClr>
            </a:solidFill>
          </a:ln>
        </p:spPr>
        <p:txBody>
          <a:bodyPr wrap="square">
            <a:spAutoFit/>
          </a:bodyPr>
          <a:lstStyle/>
          <a:p>
            <a:pPr lvl="1"/>
            <a:r>
              <a:rPr lang="en-US" sz="2000" b="1" dirty="0" smtClean="0">
                <a:latin typeface="Times New Roman" pitchFamily="18" charset="0"/>
                <a:cs typeface="Times New Roman" pitchFamily="18" charset="0"/>
              </a:rPr>
              <a:t>1.2.3    Future </a:t>
            </a:r>
            <a:r>
              <a:rPr lang="en-US" sz="2000" b="1" dirty="0">
                <a:latin typeface="Times New Roman" pitchFamily="18" charset="0"/>
                <a:cs typeface="Times New Roman" pitchFamily="18" charset="0"/>
              </a:rPr>
              <a:t>predictions of </a:t>
            </a:r>
            <a:r>
              <a:rPr lang="en-US" sz="2000" b="1" dirty="0" smtClean="0">
                <a:latin typeface="Times New Roman" pitchFamily="18" charset="0"/>
                <a:cs typeface="Times New Roman" pitchFamily="18" charset="0"/>
              </a:rPr>
              <a:t>climate </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47264556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8184" y="0"/>
            <a:ext cx="8229600" cy="1143000"/>
          </a:xfrm>
        </p:spPr>
        <p:txBody>
          <a:bodyPr/>
          <a:lstStyle/>
          <a:p>
            <a:pPr algn="l"/>
            <a:r>
              <a:rPr lang="en-US" b="1" dirty="0"/>
              <a:t>Chapter 1. Introduction </a:t>
            </a:r>
            <a:endParaRPr lang="en-US" dirty="0"/>
          </a:p>
        </p:txBody>
      </p:sp>
      <p:sp>
        <p:nvSpPr>
          <p:cNvPr id="5" name="Rectangle 4"/>
          <p:cNvSpPr/>
          <p:nvPr/>
        </p:nvSpPr>
        <p:spPr>
          <a:xfrm>
            <a:off x="0" y="906411"/>
            <a:ext cx="6858000" cy="400110"/>
          </a:xfrm>
          <a:prstGeom prst="rect">
            <a:avLst/>
          </a:prstGeom>
        </p:spPr>
        <p:txBody>
          <a:bodyPr wrap="square">
            <a:spAutoFit/>
          </a:bodyPr>
          <a:lstStyle/>
          <a:p>
            <a:pPr lvl="1"/>
            <a:r>
              <a:rPr lang="en-US" sz="2000" b="1" dirty="0" smtClean="0">
                <a:latin typeface="Times New Roman" pitchFamily="18" charset="0"/>
                <a:cs typeface="Times New Roman" pitchFamily="18" charset="0"/>
              </a:rPr>
              <a:t>1.2 Past</a:t>
            </a:r>
            <a:r>
              <a:rPr lang="en-US" sz="2000" b="1" dirty="0">
                <a:latin typeface="Times New Roman" pitchFamily="18" charset="0"/>
                <a:cs typeface="Times New Roman" pitchFamily="18" charset="0"/>
              </a:rPr>
              <a:t>, present and future predictions of climate change</a:t>
            </a:r>
            <a:endParaRPr lang="en-US" sz="2000" dirty="0">
              <a:latin typeface="Times New Roman" pitchFamily="18" charset="0"/>
              <a:cs typeface="Times New Roman" pitchFamily="18" charset="0"/>
            </a:endParaRPr>
          </a:p>
        </p:txBody>
      </p:sp>
      <p:sp>
        <p:nvSpPr>
          <p:cNvPr id="6" name="Rectangle 5"/>
          <p:cNvSpPr/>
          <p:nvPr/>
        </p:nvSpPr>
        <p:spPr>
          <a:xfrm>
            <a:off x="482849" y="1288252"/>
            <a:ext cx="5257800" cy="400110"/>
          </a:xfrm>
          <a:prstGeom prst="rect">
            <a:avLst/>
          </a:prstGeom>
          <a:ln>
            <a:solidFill>
              <a:schemeClr val="tx2">
                <a:lumMod val="60000"/>
                <a:lumOff val="40000"/>
              </a:schemeClr>
            </a:solidFill>
          </a:ln>
        </p:spPr>
        <p:txBody>
          <a:bodyPr wrap="square">
            <a:spAutoFit/>
          </a:bodyPr>
          <a:lstStyle/>
          <a:p>
            <a:pPr lvl="1"/>
            <a:r>
              <a:rPr lang="en-US" sz="2000" b="1" dirty="0" smtClean="0">
                <a:latin typeface="Times New Roman" pitchFamily="18" charset="0"/>
                <a:cs typeface="Times New Roman" pitchFamily="18" charset="0"/>
              </a:rPr>
              <a:t>1.2.3    Future </a:t>
            </a:r>
            <a:r>
              <a:rPr lang="en-US" sz="2000" b="1" dirty="0">
                <a:latin typeface="Times New Roman" pitchFamily="18" charset="0"/>
                <a:cs typeface="Times New Roman" pitchFamily="18" charset="0"/>
              </a:rPr>
              <a:t>predictions of </a:t>
            </a:r>
            <a:r>
              <a:rPr lang="en-US" sz="2000" b="1" dirty="0" smtClean="0">
                <a:latin typeface="Times New Roman" pitchFamily="18" charset="0"/>
                <a:cs typeface="Times New Roman" pitchFamily="18" charset="0"/>
              </a:rPr>
              <a:t>climate </a:t>
            </a:r>
            <a:endParaRPr lang="en-US" sz="2000" dirty="0">
              <a:latin typeface="Times New Roman" pitchFamily="18" charset="0"/>
              <a:cs typeface="Times New Roman" pitchFamily="18" charset="0"/>
            </a:endParaRPr>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706631"/>
            <a:ext cx="566033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descr="https://19january2017snapshot.epa.gov/sites/production/files/2016-07/models-observed-human-natural.png"/>
          <p:cNvPicPr>
            <a:picLocks noChangeAspect="1" noChangeArrowheads="1"/>
          </p:cNvPicPr>
          <p:nvPr/>
        </p:nvPicPr>
        <p:blipFill>
          <a:blip r:embed="rId3" cstate="print">
            <a:extLst>
              <a:ext uri="{28A0092B-C50C-407E-A947-70E740481C1C}">
                <a14:useLocalDpi xmlns:a14="http://schemas.microsoft.com/office/drawing/2010/main" val="0"/>
              </a:ext>
            </a:extLst>
          </a:blip>
          <a:srcRect l="3229" t="11919" r="2893" b="1616"/>
          <a:stretch>
            <a:fillRect/>
          </a:stretch>
        </p:blipFill>
        <p:spPr bwMode="auto">
          <a:xfrm>
            <a:off x="5940225" y="2211580"/>
            <a:ext cx="2923326" cy="1903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38"/>
          <p:cNvGrpSpPr>
            <a:grpSpLocks/>
          </p:cNvGrpSpPr>
          <p:nvPr/>
        </p:nvGrpSpPr>
        <p:grpSpPr bwMode="auto">
          <a:xfrm>
            <a:off x="0" y="4667403"/>
            <a:ext cx="5691022" cy="2120747"/>
            <a:chOff x="-179948" y="1655360"/>
            <a:chExt cx="9488432" cy="3914055"/>
          </a:xfrm>
        </p:grpSpPr>
        <p:pic>
          <p:nvPicPr>
            <p:cNvPr id="11" name="Picture 2" descr="Natural and enhanced greenhouse effec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325" y="2458614"/>
              <a:ext cx="5280679" cy="3110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4"/>
            <p:cNvSpPr>
              <a:spLocks noChangeArrowheads="1"/>
            </p:cNvSpPr>
            <p:nvPr/>
          </p:nvSpPr>
          <p:spPr bwMode="auto">
            <a:xfrm>
              <a:off x="5786065" y="3818769"/>
              <a:ext cx="3522419" cy="39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en-US" altLang="en-US" sz="2200" b="1" dirty="0">
                  <a:solidFill>
                    <a:srgbClr val="FF0000"/>
                  </a:solidFill>
                  <a:latin typeface="Times New Roman" pitchFamily="18" charset="0"/>
                  <a:cs typeface="Times New Roman" pitchFamily="18" charset="0"/>
                </a:rPr>
                <a:t>Climate </a:t>
              </a:r>
              <a:r>
                <a:rPr lang="en-US" altLang="en-US" sz="2200" dirty="0">
                  <a:solidFill>
                    <a:srgbClr val="FF0000"/>
                  </a:solidFill>
                  <a:latin typeface="Times New Roman" pitchFamily="18" charset="0"/>
                  <a:cs typeface="Times New Roman" pitchFamily="18" charset="0"/>
                </a:rPr>
                <a:t>Change</a:t>
              </a:r>
            </a:p>
          </p:txBody>
        </p:sp>
        <p:sp>
          <p:nvSpPr>
            <p:cNvPr id="13" name="Rectangle 9"/>
            <p:cNvSpPr>
              <a:spLocks noChangeArrowheads="1"/>
            </p:cNvSpPr>
            <p:nvPr/>
          </p:nvSpPr>
          <p:spPr bwMode="auto">
            <a:xfrm>
              <a:off x="-179948" y="1655360"/>
              <a:ext cx="5685658" cy="795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en-US" altLang="en-US" sz="2200" dirty="0">
                  <a:solidFill>
                    <a:srgbClr val="00B050"/>
                  </a:solidFill>
                  <a:latin typeface="Times New Roman" pitchFamily="18" charset="0"/>
                  <a:cs typeface="Times New Roman" pitchFamily="18" charset="0"/>
                </a:rPr>
                <a:t>Climate Variability  </a:t>
              </a:r>
            </a:p>
          </p:txBody>
        </p:sp>
      </p:grpSp>
      <p:pic>
        <p:nvPicPr>
          <p:cNvPr id="14" name="Picture 6"/>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90509" y="4114800"/>
            <a:ext cx="2009448" cy="1424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6"/>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324600" y="5562601"/>
            <a:ext cx="1987356" cy="1219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5812731" y="1288251"/>
            <a:ext cx="3483669" cy="923330"/>
          </a:xfrm>
          <a:prstGeom prst="rect">
            <a:avLst/>
          </a:prstGeom>
        </p:spPr>
        <p:txBody>
          <a:bodyPr wrap="square">
            <a:spAutoFit/>
          </a:bodyPr>
          <a:lstStyle/>
          <a:p>
            <a:r>
              <a:rPr lang="en-US" dirty="0"/>
              <a:t>We can also assess future impacts by using highly sophisticated computer simulations. </a:t>
            </a:r>
            <a:endParaRPr lang="en-GB" dirty="0"/>
          </a:p>
        </p:txBody>
      </p:sp>
    </p:spTree>
    <p:extLst>
      <p:ext uri="{BB962C8B-B14F-4D97-AF65-F5344CB8AC3E}">
        <p14:creationId xmlns:p14="http://schemas.microsoft.com/office/powerpoint/2010/main" val="127108130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21515" y="-236589"/>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b="1" dirty="0" smtClean="0"/>
              <a:t>Chapter 1. Introduction </a:t>
            </a:r>
            <a:endParaRPr lang="en-US" dirty="0"/>
          </a:p>
        </p:txBody>
      </p:sp>
      <p:sp>
        <p:nvSpPr>
          <p:cNvPr id="6" name="Rectangle 5"/>
          <p:cNvSpPr/>
          <p:nvPr/>
        </p:nvSpPr>
        <p:spPr>
          <a:xfrm>
            <a:off x="1793" y="587514"/>
            <a:ext cx="6858000" cy="707886"/>
          </a:xfrm>
          <a:prstGeom prst="rect">
            <a:avLst/>
          </a:prstGeom>
        </p:spPr>
        <p:txBody>
          <a:bodyPr wrap="square">
            <a:spAutoFit/>
          </a:bodyPr>
          <a:lstStyle/>
          <a:p>
            <a:pPr lvl="1"/>
            <a:r>
              <a:rPr lang="en-US" sz="2000" b="1" dirty="0" smtClean="0">
                <a:latin typeface="Times New Roman" pitchFamily="18" charset="0"/>
                <a:cs typeface="Times New Roman" pitchFamily="18" charset="0"/>
              </a:rPr>
              <a:t>1.3 </a:t>
            </a:r>
            <a:r>
              <a:rPr lang="en-US" sz="2000" b="1" dirty="0">
                <a:latin typeface="Times New Roman" pitchFamily="18" charset="0"/>
                <a:cs typeface="Times New Roman" pitchFamily="18" charset="0"/>
              </a:rPr>
              <a:t>Evidences of climate change</a:t>
            </a:r>
            <a:br>
              <a:rPr lang="en-US" sz="2000" b="1" dirty="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
        <p:nvSpPr>
          <p:cNvPr id="8" name="Rectangle 7"/>
          <p:cNvSpPr/>
          <p:nvPr/>
        </p:nvSpPr>
        <p:spPr>
          <a:xfrm>
            <a:off x="0" y="838200"/>
            <a:ext cx="9372600" cy="1938992"/>
          </a:xfrm>
          <a:prstGeom prst="rect">
            <a:avLst/>
          </a:prstGeom>
        </p:spPr>
        <p:txBody>
          <a:bodyPr wrap="square">
            <a:spAutoFit/>
          </a:bodyPr>
          <a:lstStyle/>
          <a:p>
            <a:pPr>
              <a:lnSpc>
                <a:spcPct val="150000"/>
              </a:lnSpc>
            </a:pPr>
            <a:r>
              <a:rPr lang="en-US" sz="2000" dirty="0"/>
              <a:t>Climate change is a real and urgent challenge that is already affecting people </a:t>
            </a:r>
            <a:r>
              <a:rPr lang="en-US" sz="2000" dirty="0" smtClean="0"/>
              <a:t>worldwide.</a:t>
            </a:r>
          </a:p>
          <a:p>
            <a:pPr>
              <a:lnSpc>
                <a:spcPct val="150000"/>
              </a:lnSpc>
            </a:pPr>
            <a:r>
              <a:rPr lang="en-US" sz="2000" dirty="0" smtClean="0"/>
              <a:t> </a:t>
            </a:r>
            <a:r>
              <a:rPr lang="en-US" sz="2000" dirty="0"/>
              <a:t>Significant changes are occurring on Earth, including increasing air and ocean temperatures, increases in extreme weather events, widespread melting of snow and ice, and rising sea levels, increased activity and abundance of disease vectors etc. </a:t>
            </a:r>
            <a:endParaRPr lang="en-GB" sz="2000" dirty="0"/>
          </a:p>
        </p:txBody>
      </p:sp>
      <p:sp>
        <p:nvSpPr>
          <p:cNvPr id="2" name="Rectangle 1"/>
          <p:cNvSpPr/>
          <p:nvPr/>
        </p:nvSpPr>
        <p:spPr>
          <a:xfrm>
            <a:off x="35931" y="2667000"/>
            <a:ext cx="3697869" cy="4247317"/>
          </a:xfrm>
          <a:prstGeom prst="rect">
            <a:avLst/>
          </a:prstGeom>
        </p:spPr>
        <p:txBody>
          <a:bodyPr wrap="square">
            <a:spAutoFit/>
          </a:bodyPr>
          <a:lstStyle/>
          <a:p>
            <a:pPr marL="400050" lvl="0" indent="-400050">
              <a:lnSpc>
                <a:spcPct val="150000"/>
              </a:lnSpc>
              <a:buFont typeface="+mj-lt"/>
              <a:buAutoNum type="romanUcPeriod"/>
            </a:pPr>
            <a:r>
              <a:rPr lang="en-US" b="1" dirty="0"/>
              <a:t>Global </a:t>
            </a:r>
            <a:r>
              <a:rPr lang="en-US" b="1" dirty="0" smtClean="0"/>
              <a:t>warming </a:t>
            </a:r>
            <a:endParaRPr lang="en-US" b="1" dirty="0"/>
          </a:p>
          <a:p>
            <a:pPr>
              <a:lnSpc>
                <a:spcPct val="150000"/>
              </a:lnSpc>
            </a:pPr>
            <a:r>
              <a:rPr lang="en-US" dirty="0"/>
              <a:t>Global warming is </a:t>
            </a:r>
            <a:r>
              <a:rPr lang="en-GB" dirty="0"/>
              <a:t>the phenomenon of rising average air temperatures near Earth's surface over the past 100 to 200 </a:t>
            </a:r>
            <a:r>
              <a:rPr lang="en-GB" dirty="0" smtClean="0"/>
              <a:t>years and </a:t>
            </a:r>
            <a:r>
              <a:rPr lang="en-US" dirty="0" smtClean="0"/>
              <a:t>already </a:t>
            </a:r>
            <a:r>
              <a:rPr lang="en-US" dirty="0"/>
              <a:t>causing damage around the globe. Since industrial era there is a continues increment on global temperature, resulting in reduced crop yields in seasonally dry and tropical </a:t>
            </a:r>
            <a:r>
              <a:rPr lang="en-US" dirty="0" smtClean="0"/>
              <a:t>regions.</a:t>
            </a:r>
            <a:endParaRPr lang="en-US" dirty="0"/>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3505200"/>
            <a:ext cx="5410200" cy="3252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4956991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1515" y="838200"/>
            <a:ext cx="9122485" cy="6093976"/>
          </a:xfrm>
          <a:prstGeom prst="rect">
            <a:avLst/>
          </a:prstGeom>
        </p:spPr>
        <p:txBody>
          <a:bodyPr wrap="square">
            <a:spAutoFit/>
          </a:bodyPr>
          <a:lstStyle/>
          <a:p>
            <a:pPr marL="400050" indent="-400050">
              <a:lnSpc>
                <a:spcPct val="150000"/>
              </a:lnSpc>
              <a:buFont typeface="+mj-lt"/>
              <a:buAutoNum type="romanUcPeriod" startAt="2"/>
            </a:pPr>
            <a:r>
              <a:rPr lang="en-US" sz="2000" b="1" dirty="0" smtClean="0"/>
              <a:t>Increase of extreme </a:t>
            </a:r>
            <a:r>
              <a:rPr lang="en-US" sz="2000" b="1" dirty="0"/>
              <a:t>climate event</a:t>
            </a:r>
          </a:p>
          <a:p>
            <a:pPr>
              <a:lnSpc>
                <a:spcPct val="150000"/>
              </a:lnSpc>
            </a:pPr>
            <a:r>
              <a:rPr lang="en-US" sz="2000" dirty="0"/>
              <a:t>Increased frequency and severity of extreme climate events, such </a:t>
            </a:r>
            <a:r>
              <a:rPr lang="en-US" sz="2000" dirty="0" smtClean="0"/>
              <a:t>as heat </a:t>
            </a:r>
            <a:r>
              <a:rPr lang="en-US" sz="2000" dirty="0"/>
              <a:t>stress, droughts </a:t>
            </a:r>
            <a:r>
              <a:rPr lang="en-US" sz="2000" dirty="0" smtClean="0"/>
              <a:t>, &amp; </a:t>
            </a:r>
            <a:r>
              <a:rPr lang="en-US" sz="2000" dirty="0"/>
              <a:t>flooding,  </a:t>
            </a:r>
            <a:r>
              <a:rPr lang="en-US" sz="2000" dirty="0" smtClean="0"/>
              <a:t>have been detected for the last few decades </a:t>
            </a:r>
            <a:r>
              <a:rPr lang="en-US" sz="2000" dirty="0"/>
              <a:t>due to climate change. It will increase negative impacts on agriculture, </a:t>
            </a:r>
            <a:r>
              <a:rPr lang="en-US" sz="2000" dirty="0" smtClean="0"/>
              <a:t>&amp; forestry  </a:t>
            </a:r>
            <a:r>
              <a:rPr lang="en-US" sz="2000" dirty="0"/>
              <a:t>in all regions. </a:t>
            </a:r>
            <a:endParaRPr lang="en-US" sz="2000" dirty="0" smtClean="0"/>
          </a:p>
          <a:p>
            <a:pPr>
              <a:lnSpc>
                <a:spcPct val="150000"/>
              </a:lnSpc>
            </a:pPr>
            <a:r>
              <a:rPr lang="en-US" sz="2000" dirty="0"/>
              <a:t>On a global scale, warming strengthens the hydrologic cycle, mainly because warmer air can hold more water vapor. Increased atmospheric water vapor loading can also amplify extreme precipitation. Warming leads to more evapotranspiration</a:t>
            </a:r>
          </a:p>
          <a:p>
            <a:pPr>
              <a:lnSpc>
                <a:spcPct val="150000"/>
              </a:lnSpc>
            </a:pPr>
            <a:r>
              <a:rPr lang="en-US" sz="2000" b="1" dirty="0" smtClean="0"/>
              <a:t>Drought</a:t>
            </a:r>
            <a:r>
              <a:rPr lang="en-US" sz="2000" dirty="0" smtClean="0"/>
              <a:t> </a:t>
            </a:r>
            <a:r>
              <a:rPr lang="en-US" sz="2000" dirty="0"/>
              <a:t>is an intricate natural catastrophe, which starts with a prolonged deficit of rainfall (commonly a season or more in length) and then propagates to soil moisture deficit depending on its duration and severity that leads to a deficit of </a:t>
            </a:r>
            <a:r>
              <a:rPr lang="en-US" sz="2000" dirty="0" err="1"/>
              <a:t>streamflow</a:t>
            </a:r>
            <a:r>
              <a:rPr lang="en-US" sz="2000" dirty="0"/>
              <a:t> and water shortage, which results in severe </a:t>
            </a:r>
            <a:r>
              <a:rPr lang="en-US" sz="2000" dirty="0" smtClean="0"/>
              <a:t>economic and  environmental problems. </a:t>
            </a:r>
          </a:p>
          <a:p>
            <a:pPr>
              <a:lnSpc>
                <a:spcPct val="150000"/>
              </a:lnSpc>
            </a:pPr>
            <a:r>
              <a:rPr lang="en-GB" sz="2000" b="1" dirty="0" smtClean="0"/>
              <a:t>Flood</a:t>
            </a:r>
            <a:r>
              <a:rPr lang="en-GB" sz="2000" dirty="0" smtClean="0"/>
              <a:t> </a:t>
            </a:r>
            <a:r>
              <a:rPr lang="en-GB" sz="2000" dirty="0"/>
              <a:t>is inundation of land due to river overflow, which is caused by heavy rain or torrents of water from other areas in higher </a:t>
            </a:r>
            <a:r>
              <a:rPr lang="en-GB" sz="2000" dirty="0" smtClean="0"/>
              <a:t>places.  </a:t>
            </a:r>
            <a:endParaRPr lang="en-US" sz="2000" dirty="0"/>
          </a:p>
        </p:txBody>
      </p:sp>
      <p:sp>
        <p:nvSpPr>
          <p:cNvPr id="14" name="Title 1"/>
          <p:cNvSpPr txBox="1">
            <a:spLocks/>
          </p:cNvSpPr>
          <p:nvPr/>
        </p:nvSpPr>
        <p:spPr>
          <a:xfrm>
            <a:off x="21515" y="-236589"/>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b="1" dirty="0" smtClean="0"/>
              <a:t>Chapter 1. Introduction </a:t>
            </a:r>
            <a:endParaRPr lang="en-US" dirty="0"/>
          </a:p>
        </p:txBody>
      </p:sp>
      <p:sp>
        <p:nvSpPr>
          <p:cNvPr id="15" name="Rectangle 14"/>
          <p:cNvSpPr/>
          <p:nvPr/>
        </p:nvSpPr>
        <p:spPr>
          <a:xfrm>
            <a:off x="1793" y="587514"/>
            <a:ext cx="6858000" cy="707886"/>
          </a:xfrm>
          <a:prstGeom prst="rect">
            <a:avLst/>
          </a:prstGeom>
        </p:spPr>
        <p:txBody>
          <a:bodyPr wrap="square">
            <a:spAutoFit/>
          </a:bodyPr>
          <a:lstStyle/>
          <a:p>
            <a:pPr lvl="1"/>
            <a:r>
              <a:rPr lang="en-US" sz="2000" b="1" dirty="0" smtClean="0">
                <a:latin typeface="Times New Roman" pitchFamily="18" charset="0"/>
                <a:cs typeface="Times New Roman" pitchFamily="18" charset="0"/>
              </a:rPr>
              <a:t>1.3 </a:t>
            </a:r>
            <a:r>
              <a:rPr lang="en-US" sz="2000" b="1" dirty="0">
                <a:latin typeface="Times New Roman" pitchFamily="18" charset="0"/>
                <a:cs typeface="Times New Roman" pitchFamily="18" charset="0"/>
              </a:rPr>
              <a:t>Evidences of climate change</a:t>
            </a:r>
            <a:br>
              <a:rPr lang="en-US" sz="2000" b="1" dirty="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pic>
        <p:nvPicPr>
          <p:cNvPr id="16" name="Picture 15" descr="9-drought"/>
          <p:cNvPicPr/>
          <p:nvPr/>
        </p:nvPicPr>
        <p:blipFill>
          <a:blip r:embed="rId2">
            <a:extLst>
              <a:ext uri="{28A0092B-C50C-407E-A947-70E740481C1C}">
                <a14:useLocalDpi xmlns:a14="http://schemas.microsoft.com/office/drawing/2010/main" val="0"/>
              </a:ext>
            </a:extLst>
          </a:blip>
          <a:srcRect/>
          <a:stretch>
            <a:fillRect/>
          </a:stretch>
        </p:blipFill>
        <p:spPr bwMode="auto">
          <a:xfrm>
            <a:off x="5943600" y="50346"/>
            <a:ext cx="1429908" cy="1365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6" descr="spenceslane"/>
          <p:cNvPicPr/>
          <p:nvPr/>
        </p:nvPicPr>
        <p:blipFill>
          <a:blip r:embed="rId3">
            <a:extLst>
              <a:ext uri="{28A0092B-C50C-407E-A947-70E740481C1C}">
                <a14:useLocalDpi xmlns:a14="http://schemas.microsoft.com/office/drawing/2010/main" val="0"/>
              </a:ext>
            </a:extLst>
          </a:blip>
          <a:srcRect/>
          <a:stretch>
            <a:fillRect/>
          </a:stretch>
        </p:blipFill>
        <p:spPr bwMode="auto">
          <a:xfrm>
            <a:off x="7523206" y="93595"/>
            <a:ext cx="1297940" cy="1348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8748321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1" y="4562571"/>
            <a:ext cx="4581620" cy="2200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0" y="838200"/>
            <a:ext cx="9067800" cy="4247317"/>
          </a:xfrm>
          <a:prstGeom prst="rect">
            <a:avLst/>
          </a:prstGeom>
        </p:spPr>
        <p:txBody>
          <a:bodyPr wrap="square">
            <a:spAutoFit/>
          </a:bodyPr>
          <a:lstStyle/>
          <a:p>
            <a:pPr marL="400050" lvl="0" indent="-400050">
              <a:lnSpc>
                <a:spcPct val="150000"/>
              </a:lnSpc>
              <a:buFont typeface="+mj-lt"/>
              <a:buAutoNum type="romanUcPeriod" startAt="3"/>
            </a:pPr>
            <a:r>
              <a:rPr lang="en-US" sz="2000" b="1" dirty="0" smtClean="0"/>
              <a:t>Shrinking ice cover and </a:t>
            </a:r>
            <a:r>
              <a:rPr lang="en-US" sz="2000" b="1" dirty="0"/>
              <a:t>loss of glaciers</a:t>
            </a:r>
          </a:p>
          <a:p>
            <a:pPr>
              <a:lnSpc>
                <a:spcPct val="150000"/>
              </a:lnSpc>
            </a:pPr>
            <a:r>
              <a:rPr lang="en-US" sz="2000" dirty="0"/>
              <a:t>Mountain snowpack </a:t>
            </a:r>
            <a:r>
              <a:rPr lang="en-US" sz="2000" dirty="0" smtClean="0"/>
              <a:t>constitutes </a:t>
            </a:r>
            <a:r>
              <a:rPr lang="en-US" sz="2000" dirty="0"/>
              <a:t>a critical reservoir of fresh water. </a:t>
            </a:r>
            <a:r>
              <a:rPr lang="en-US" sz="2000" dirty="0" smtClean="0"/>
              <a:t>In </a:t>
            </a:r>
            <a:r>
              <a:rPr lang="en-US" sz="2000" dirty="0"/>
              <a:t>almost every mountainous region across the world, glaciers are disappearing in response to the warming climate. The shrinkage of glaciers is already creating water shortages</a:t>
            </a:r>
            <a:r>
              <a:rPr lang="en-US" sz="2000" dirty="0" smtClean="0"/>
              <a:t>. In </a:t>
            </a:r>
            <a:r>
              <a:rPr lang="en-US" sz="2000" dirty="0"/>
              <a:t>Africa, 82 percent of the ice on Mt. Kilimanjaro has disappeared since 1912, with about one-third melting in just the last dozen years. </a:t>
            </a:r>
            <a:r>
              <a:rPr lang="en-US" sz="2000" dirty="0" smtClean="0"/>
              <a:t>The </a:t>
            </a:r>
            <a:r>
              <a:rPr lang="en-US" sz="2000" dirty="0"/>
              <a:t>ice over that is there year round is shrinking at a rate of 9% every 10 years; at the rate it is going, it could be gone by the year 2100 or sooner if melting accelerates as some scientists believe is happening</a:t>
            </a:r>
            <a:r>
              <a:rPr lang="en-US" sz="2000" dirty="0" smtClean="0"/>
              <a:t>.</a:t>
            </a:r>
            <a:endParaRPr lang="en-US" sz="2000" dirty="0"/>
          </a:p>
        </p:txBody>
      </p:sp>
      <p:sp>
        <p:nvSpPr>
          <p:cNvPr id="5" name="Title 1"/>
          <p:cNvSpPr txBox="1">
            <a:spLocks/>
          </p:cNvSpPr>
          <p:nvPr/>
        </p:nvSpPr>
        <p:spPr>
          <a:xfrm>
            <a:off x="21515" y="-236589"/>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b="1" dirty="0" smtClean="0"/>
              <a:t>Chapter 1. Introduction </a:t>
            </a:r>
            <a:endParaRPr lang="en-US" dirty="0"/>
          </a:p>
        </p:txBody>
      </p:sp>
      <p:sp>
        <p:nvSpPr>
          <p:cNvPr id="6" name="Rectangle 5"/>
          <p:cNvSpPr/>
          <p:nvPr/>
        </p:nvSpPr>
        <p:spPr>
          <a:xfrm>
            <a:off x="1793" y="587514"/>
            <a:ext cx="6858000" cy="707886"/>
          </a:xfrm>
          <a:prstGeom prst="rect">
            <a:avLst/>
          </a:prstGeom>
        </p:spPr>
        <p:txBody>
          <a:bodyPr wrap="square">
            <a:spAutoFit/>
          </a:bodyPr>
          <a:lstStyle/>
          <a:p>
            <a:pPr lvl="1"/>
            <a:r>
              <a:rPr lang="en-US" sz="2000" b="1" dirty="0" smtClean="0">
                <a:latin typeface="Times New Roman" pitchFamily="18" charset="0"/>
                <a:cs typeface="Times New Roman" pitchFamily="18" charset="0"/>
              </a:rPr>
              <a:t>1.3 </a:t>
            </a:r>
            <a:r>
              <a:rPr lang="en-US" sz="2000" b="1" dirty="0">
                <a:latin typeface="Times New Roman" pitchFamily="18" charset="0"/>
                <a:cs typeface="Times New Roman" pitchFamily="18" charset="0"/>
              </a:rPr>
              <a:t>Evidences of climate change</a:t>
            </a:r>
            <a:br>
              <a:rPr lang="en-US" sz="2000" b="1" dirty="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
        <p:nvSpPr>
          <p:cNvPr id="4" name="Rectangle 3"/>
          <p:cNvSpPr/>
          <p:nvPr/>
        </p:nvSpPr>
        <p:spPr>
          <a:xfrm>
            <a:off x="27693" y="5080217"/>
            <a:ext cx="4572000" cy="1754326"/>
          </a:xfrm>
          <a:prstGeom prst="rect">
            <a:avLst/>
          </a:prstGeom>
        </p:spPr>
        <p:txBody>
          <a:bodyPr>
            <a:spAutoFit/>
          </a:bodyPr>
          <a:lstStyle/>
          <a:p>
            <a:pPr lvl="0">
              <a:lnSpc>
                <a:spcPct val="150000"/>
              </a:lnSpc>
            </a:pPr>
            <a:r>
              <a:rPr lang="en-US" dirty="0"/>
              <a:t>Increased temperatures has led to changes in rainfall patterns, decreasing the amount of rainfall in some areas and increasing it in others. </a:t>
            </a:r>
          </a:p>
        </p:txBody>
      </p:sp>
    </p:spTree>
    <p:extLst>
      <p:ext uri="{BB962C8B-B14F-4D97-AF65-F5344CB8AC3E}">
        <p14:creationId xmlns:p14="http://schemas.microsoft.com/office/powerpoint/2010/main" val="129705487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800" y="4040658"/>
            <a:ext cx="3810000" cy="2803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0" y="838200"/>
            <a:ext cx="9144000" cy="3323987"/>
          </a:xfrm>
          <a:prstGeom prst="rect">
            <a:avLst/>
          </a:prstGeom>
        </p:spPr>
        <p:txBody>
          <a:bodyPr wrap="square">
            <a:spAutoFit/>
          </a:bodyPr>
          <a:lstStyle/>
          <a:p>
            <a:pPr marL="400050" lvl="0" indent="-400050">
              <a:lnSpc>
                <a:spcPct val="150000"/>
              </a:lnSpc>
              <a:buFont typeface="+mj-lt"/>
              <a:buAutoNum type="romanUcPeriod" startAt="4"/>
            </a:pPr>
            <a:r>
              <a:rPr lang="en-US" sz="2000" b="1" dirty="0"/>
              <a:t>Rising sea level</a:t>
            </a:r>
          </a:p>
          <a:p>
            <a:pPr>
              <a:lnSpc>
                <a:spcPct val="150000"/>
              </a:lnSpc>
            </a:pPr>
            <a:r>
              <a:rPr lang="en-US" sz="2000" dirty="0"/>
              <a:t>During the 20th century, sea levels around the world raised by an average of 4 to 8 inches (10 to 20 cm), ten times the average rate over the last 3,000 years. This rise in sea levels is caused by thermal expansion of the oceans and by the addition of water to the oceans as a result of the melting and discharge of ice from mountain glaciers and ice caps and from the much larger Greenland and Antarctic ice sheets. </a:t>
            </a:r>
            <a:r>
              <a:rPr lang="en-US" sz="2000" dirty="0" smtClean="0"/>
              <a:t>Rising </a:t>
            </a:r>
            <a:r>
              <a:rPr lang="en-US" sz="2000" dirty="0"/>
              <a:t>sea levels could damage coastal regions through flooding and erosion</a:t>
            </a:r>
            <a:r>
              <a:rPr lang="en-US" sz="2000" dirty="0" smtClean="0"/>
              <a:t>. </a:t>
            </a:r>
            <a:endParaRPr lang="en-US" sz="2000" dirty="0"/>
          </a:p>
        </p:txBody>
      </p:sp>
      <p:sp>
        <p:nvSpPr>
          <p:cNvPr id="5" name="Title 1"/>
          <p:cNvSpPr txBox="1">
            <a:spLocks/>
          </p:cNvSpPr>
          <p:nvPr/>
        </p:nvSpPr>
        <p:spPr>
          <a:xfrm>
            <a:off x="21515" y="-236589"/>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b="1" dirty="0" smtClean="0"/>
              <a:t>Chapter 1. Introduction </a:t>
            </a:r>
            <a:endParaRPr lang="en-US" dirty="0"/>
          </a:p>
        </p:txBody>
      </p:sp>
      <p:sp>
        <p:nvSpPr>
          <p:cNvPr id="6" name="Rectangle 5"/>
          <p:cNvSpPr/>
          <p:nvPr/>
        </p:nvSpPr>
        <p:spPr>
          <a:xfrm>
            <a:off x="1793" y="587514"/>
            <a:ext cx="6858000" cy="707886"/>
          </a:xfrm>
          <a:prstGeom prst="rect">
            <a:avLst/>
          </a:prstGeom>
        </p:spPr>
        <p:txBody>
          <a:bodyPr wrap="square">
            <a:spAutoFit/>
          </a:bodyPr>
          <a:lstStyle/>
          <a:p>
            <a:pPr lvl="1"/>
            <a:r>
              <a:rPr lang="en-US" sz="2000" b="1" dirty="0" smtClean="0">
                <a:latin typeface="Times New Roman" pitchFamily="18" charset="0"/>
                <a:cs typeface="Times New Roman" pitchFamily="18" charset="0"/>
              </a:rPr>
              <a:t>1.3 </a:t>
            </a:r>
            <a:r>
              <a:rPr lang="en-US" sz="2000" b="1" dirty="0">
                <a:latin typeface="Times New Roman" pitchFamily="18" charset="0"/>
                <a:cs typeface="Times New Roman" pitchFamily="18" charset="0"/>
              </a:rPr>
              <a:t>Evidences of climate change</a:t>
            </a:r>
            <a:br>
              <a:rPr lang="en-US" sz="2000" b="1" dirty="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
        <p:nvSpPr>
          <p:cNvPr id="4" name="Rectangle 3"/>
          <p:cNvSpPr/>
          <p:nvPr/>
        </p:nvSpPr>
        <p:spPr>
          <a:xfrm>
            <a:off x="37070" y="4038600"/>
            <a:ext cx="5296930" cy="2862322"/>
          </a:xfrm>
          <a:prstGeom prst="rect">
            <a:avLst/>
          </a:prstGeom>
        </p:spPr>
        <p:txBody>
          <a:bodyPr wrap="square">
            <a:spAutoFit/>
          </a:bodyPr>
          <a:lstStyle/>
          <a:p>
            <a:pPr>
              <a:lnSpc>
                <a:spcPct val="150000"/>
              </a:lnSpc>
            </a:pPr>
            <a:r>
              <a:rPr lang="en-US" sz="2000" dirty="0"/>
              <a:t>A significant fraction of the world population is settled along coastlines, often in large cities with extensive infrastructure, making sea-level raise potentially one of the most severe long-term impacts of climate change, depending upon the rate and ultimate magnitude of the rise.</a:t>
            </a:r>
          </a:p>
        </p:txBody>
      </p:sp>
    </p:spTree>
    <p:extLst>
      <p:ext uri="{BB962C8B-B14F-4D97-AF65-F5344CB8AC3E}">
        <p14:creationId xmlns:p14="http://schemas.microsoft.com/office/powerpoint/2010/main" val="427808315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466" y="762000"/>
            <a:ext cx="9013334" cy="1891287"/>
          </a:xfrm>
          <a:prstGeom prst="rect">
            <a:avLst/>
          </a:prstGeom>
        </p:spPr>
        <p:txBody>
          <a:bodyPr wrap="square">
            <a:spAutoFit/>
          </a:bodyPr>
          <a:lstStyle/>
          <a:p>
            <a:pPr marL="400050" lvl="0" indent="-400050">
              <a:lnSpc>
                <a:spcPct val="150000"/>
              </a:lnSpc>
              <a:buFont typeface="+mj-lt"/>
              <a:buAutoNum type="romanUcPeriod" startAt="5"/>
            </a:pPr>
            <a:r>
              <a:rPr lang="en-US" sz="2000" b="1" dirty="0"/>
              <a:t>Ocean Acidification</a:t>
            </a:r>
          </a:p>
          <a:p>
            <a:pPr>
              <a:lnSpc>
                <a:spcPct val="150000"/>
              </a:lnSpc>
            </a:pPr>
            <a:r>
              <a:rPr lang="en-US" sz="2000" dirty="0"/>
              <a:t>The oceans play a major role as one of the Earth´s large CO</a:t>
            </a:r>
            <a:r>
              <a:rPr lang="en-US" sz="2000" baseline="-25000" dirty="0"/>
              <a:t>2</a:t>
            </a:r>
            <a:r>
              <a:rPr lang="en-US" sz="2000" dirty="0"/>
              <a:t> sinks. Acidification of the world’s oceans because of increasing atmospheric CO</a:t>
            </a:r>
            <a:r>
              <a:rPr lang="en-US" sz="2000" baseline="-25000" dirty="0"/>
              <a:t>2</a:t>
            </a:r>
            <a:r>
              <a:rPr lang="en-US" sz="2000" dirty="0"/>
              <a:t> concentration is, thus, one of the most tangible consequences of CO</a:t>
            </a:r>
            <a:r>
              <a:rPr lang="en-US" sz="2000" baseline="-25000" dirty="0"/>
              <a:t>2</a:t>
            </a:r>
            <a:r>
              <a:rPr lang="en-US" sz="2000" dirty="0"/>
              <a:t>emissions and rising CO</a:t>
            </a:r>
            <a:r>
              <a:rPr lang="en-US" sz="2000" baseline="-25000" dirty="0"/>
              <a:t>2</a:t>
            </a:r>
            <a:r>
              <a:rPr lang="en-US" sz="2000" dirty="0"/>
              <a:t> concentration. </a:t>
            </a:r>
          </a:p>
        </p:txBody>
      </p:sp>
      <p:sp>
        <p:nvSpPr>
          <p:cNvPr id="4" name="Title 1"/>
          <p:cNvSpPr txBox="1">
            <a:spLocks/>
          </p:cNvSpPr>
          <p:nvPr/>
        </p:nvSpPr>
        <p:spPr>
          <a:xfrm>
            <a:off x="21515" y="-3048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b="1" dirty="0" smtClean="0"/>
              <a:t>Chapter 1. Introduction </a:t>
            </a:r>
            <a:endParaRPr lang="en-US" dirty="0"/>
          </a:p>
        </p:txBody>
      </p:sp>
      <p:sp>
        <p:nvSpPr>
          <p:cNvPr id="5" name="Rectangle 4"/>
          <p:cNvSpPr/>
          <p:nvPr/>
        </p:nvSpPr>
        <p:spPr>
          <a:xfrm>
            <a:off x="1793" y="533400"/>
            <a:ext cx="6858000" cy="400110"/>
          </a:xfrm>
          <a:prstGeom prst="rect">
            <a:avLst/>
          </a:prstGeom>
        </p:spPr>
        <p:txBody>
          <a:bodyPr wrap="square">
            <a:spAutoFit/>
          </a:bodyPr>
          <a:lstStyle/>
          <a:p>
            <a:pPr lvl="1"/>
            <a:r>
              <a:rPr lang="en-US" sz="2000" b="1" dirty="0" smtClean="0">
                <a:latin typeface="Times New Roman" pitchFamily="18" charset="0"/>
                <a:cs typeface="Times New Roman" pitchFamily="18" charset="0"/>
              </a:rPr>
              <a:t>1.3 </a:t>
            </a:r>
            <a:r>
              <a:rPr lang="en-US" sz="2000" b="1" dirty="0">
                <a:latin typeface="Times New Roman" pitchFamily="18" charset="0"/>
                <a:cs typeface="Times New Roman" pitchFamily="18" charset="0"/>
              </a:rPr>
              <a:t>Evidences of climate </a:t>
            </a:r>
            <a:r>
              <a:rPr lang="en-US" sz="2000" b="1" dirty="0" smtClean="0">
                <a:latin typeface="Times New Roman" pitchFamily="18" charset="0"/>
                <a:cs typeface="Times New Roman" pitchFamily="18" charset="0"/>
              </a:rPr>
              <a:t>change</a:t>
            </a:r>
            <a:endParaRPr lang="en-US" sz="2000" dirty="0">
              <a:latin typeface="Times New Roman" pitchFamily="18" charset="0"/>
              <a:cs typeface="Times New Roman" pitchFamily="18" charset="0"/>
            </a:endParaRPr>
          </a:p>
        </p:txBody>
      </p:sp>
      <p:sp>
        <p:nvSpPr>
          <p:cNvPr id="6" name="Rectangle 5"/>
          <p:cNvSpPr/>
          <p:nvPr/>
        </p:nvSpPr>
        <p:spPr>
          <a:xfrm>
            <a:off x="0" y="2514600"/>
            <a:ext cx="9144000" cy="4431983"/>
          </a:xfrm>
          <a:prstGeom prst="rect">
            <a:avLst/>
          </a:prstGeom>
        </p:spPr>
        <p:txBody>
          <a:bodyPr wrap="square">
            <a:spAutoFit/>
          </a:bodyPr>
          <a:lstStyle/>
          <a:p>
            <a:pPr marL="514350" lvl="0" indent="-514350">
              <a:lnSpc>
                <a:spcPct val="150000"/>
              </a:lnSpc>
              <a:buFont typeface="+mj-lt"/>
              <a:buAutoNum type="romanUcPeriod" startAt="6"/>
            </a:pPr>
            <a:r>
              <a:rPr lang="en-US" sz="2000" b="1" dirty="0"/>
              <a:t>Disease outbreaks</a:t>
            </a:r>
          </a:p>
          <a:p>
            <a:pPr>
              <a:lnSpc>
                <a:spcPct val="150000"/>
              </a:lnSpc>
            </a:pPr>
            <a:r>
              <a:rPr lang="en-US" sz="2000" dirty="0"/>
              <a:t>Climate change could also affect health and well-being of human. Many larger cities could experience a significant rise in the number of very hot days. Air pollution problems would </a:t>
            </a:r>
            <a:r>
              <a:rPr lang="en-US" sz="2000" dirty="0" smtClean="0"/>
              <a:t>increase causing respiratory </a:t>
            </a:r>
            <a:r>
              <a:rPr lang="en-US" sz="2000" dirty="0"/>
              <a:t>problems at greatest risk of health </a:t>
            </a:r>
            <a:r>
              <a:rPr lang="en-US" sz="2000" dirty="0" smtClean="0"/>
              <a:t>effects ( as </a:t>
            </a:r>
            <a:r>
              <a:rPr lang="en-US" sz="2000" dirty="0"/>
              <a:t>T</a:t>
            </a:r>
            <a:r>
              <a:rPr lang="en-US" sz="2000" dirty="0" smtClean="0"/>
              <a:t>em rise  asthma increase maturation </a:t>
            </a:r>
            <a:r>
              <a:rPr lang="en-US" sz="2000" dirty="0"/>
              <a:t>of disease-causing agents and the organisms that transmit them, especially mosquitoes and rodents. </a:t>
            </a:r>
          </a:p>
          <a:p>
            <a:pPr marL="514350" lvl="0" indent="-514350">
              <a:lnSpc>
                <a:spcPct val="150000"/>
              </a:lnSpc>
              <a:buFont typeface="+mj-lt"/>
              <a:buAutoNum type="romanUcPeriod" startAt="7"/>
            </a:pPr>
            <a:r>
              <a:rPr lang="en-US" sz="2000" b="1" dirty="0"/>
              <a:t>Increased Famine and food insecurity</a:t>
            </a:r>
          </a:p>
          <a:p>
            <a:pPr>
              <a:lnSpc>
                <a:spcPct val="150000"/>
              </a:lnSpc>
            </a:pPr>
            <a:r>
              <a:rPr lang="en-US" sz="1600" dirty="0"/>
              <a:t>F</a:t>
            </a:r>
            <a:r>
              <a:rPr lang="en-US" sz="1600" dirty="0" smtClean="0"/>
              <a:t>ood </a:t>
            </a:r>
            <a:r>
              <a:rPr lang="en-US" sz="1600" dirty="0"/>
              <a:t>supply is likely to be disrupted by more frequent and severe climate extremes. Utilization of food may be affected negatively by increases in crop, livestock and human pests and diseases, as well as by reduced water availability and water quality, of importance for food preparation</a:t>
            </a:r>
            <a:r>
              <a:rPr lang="en-US" sz="1600" dirty="0" smtClean="0"/>
              <a:t>. </a:t>
            </a:r>
            <a:endParaRPr lang="en-US" sz="1600" dirty="0"/>
          </a:p>
        </p:txBody>
      </p:sp>
    </p:spTree>
    <p:extLst>
      <p:ext uri="{BB962C8B-B14F-4D97-AF65-F5344CB8AC3E}">
        <p14:creationId xmlns:p14="http://schemas.microsoft.com/office/powerpoint/2010/main" val="301001940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66700"/>
            <a:ext cx="6324600" cy="715962"/>
          </a:xfrm>
        </p:spPr>
        <p:txBody>
          <a:bodyPr>
            <a:normAutofit fontScale="90000"/>
          </a:bodyPr>
          <a:lstStyle/>
          <a:p>
            <a:r>
              <a:rPr lang="en-US" sz="3600" b="1" dirty="0" smtClean="0">
                <a:ea typeface="Frutiger-Light"/>
                <a:cs typeface="Times New Roman"/>
              </a:rPr>
              <a:t/>
            </a:r>
            <a:br>
              <a:rPr lang="en-US" sz="3600" b="1" dirty="0" smtClean="0">
                <a:ea typeface="Frutiger-Light"/>
                <a:cs typeface="Times New Roman"/>
              </a:rPr>
            </a:br>
            <a:r>
              <a:rPr lang="en-US" sz="3600" b="1" dirty="0">
                <a:ea typeface="Frutiger-Light"/>
                <a:cs typeface="Times New Roman"/>
              </a:rPr>
              <a:t/>
            </a:r>
            <a:br>
              <a:rPr lang="en-US" sz="3600" b="1" dirty="0">
                <a:ea typeface="Frutiger-Light"/>
                <a:cs typeface="Times New Roman"/>
              </a:rPr>
            </a:br>
            <a:r>
              <a:rPr lang="en-US" sz="2700" b="1" dirty="0" smtClean="0">
                <a:ea typeface="Frutiger-Light"/>
                <a:cs typeface="Times New Roman"/>
              </a:rPr>
              <a:t/>
            </a:r>
            <a:br>
              <a:rPr lang="en-US" sz="2700" b="1" dirty="0" smtClean="0">
                <a:ea typeface="Frutiger-Light"/>
                <a:cs typeface="Times New Roman"/>
              </a:rPr>
            </a:br>
            <a:r>
              <a:rPr lang="en-US" sz="2700" b="1" dirty="0"/>
              <a:t> </a:t>
            </a:r>
            <a:r>
              <a:rPr lang="en-US" sz="2700" b="1" dirty="0" smtClean="0"/>
              <a:t>1.4 </a:t>
            </a:r>
            <a:r>
              <a:rPr lang="en-US" sz="2700" b="1" dirty="0"/>
              <a:t>Why climate change is a global issue?  </a:t>
            </a:r>
            <a:r>
              <a:rPr lang="en-US" sz="3600" b="1" dirty="0">
                <a:ea typeface="Frutiger-Light"/>
                <a:cs typeface="Times New Roman"/>
              </a:rPr>
              <a:t/>
            </a:r>
            <a:br>
              <a:rPr lang="en-US" sz="3600" b="1" dirty="0">
                <a:ea typeface="Frutiger-Light"/>
                <a:cs typeface="Times New Roman"/>
              </a:rPr>
            </a:br>
            <a:r>
              <a:rPr lang="en-US" sz="4000" dirty="0">
                <a:ea typeface="Times New Roman"/>
                <a:cs typeface="Times New Roman"/>
              </a:rPr>
              <a:t/>
            </a:r>
            <a:br>
              <a:rPr lang="en-US" sz="4000" dirty="0">
                <a:ea typeface="Times New Roman"/>
                <a:cs typeface="Times New Roman"/>
              </a:rPr>
            </a:br>
            <a:endParaRPr lang="en-US" dirty="0"/>
          </a:p>
        </p:txBody>
      </p:sp>
      <p:sp>
        <p:nvSpPr>
          <p:cNvPr id="4" name="Rectangle 3"/>
          <p:cNvSpPr/>
          <p:nvPr/>
        </p:nvSpPr>
        <p:spPr>
          <a:xfrm>
            <a:off x="85358" y="762000"/>
            <a:ext cx="9091593" cy="3737946"/>
          </a:xfrm>
          <a:prstGeom prst="rect">
            <a:avLst/>
          </a:prstGeom>
        </p:spPr>
        <p:txBody>
          <a:bodyPr wrap="square">
            <a:spAutoFit/>
          </a:bodyPr>
          <a:lstStyle/>
          <a:p>
            <a:pPr>
              <a:lnSpc>
                <a:spcPct val="150000"/>
              </a:lnSpc>
            </a:pPr>
            <a:r>
              <a:rPr lang="en-US" sz="2000" dirty="0"/>
              <a:t>Nearly everything is affected by weather and climate and many of our activities themselves affect the climate, through the release of greenhouse gasses  (GHG). </a:t>
            </a:r>
            <a:r>
              <a:rPr lang="en-US" sz="2000" dirty="0" smtClean="0"/>
              <a:t>The GHG release in one place affects the whole world. </a:t>
            </a:r>
            <a:r>
              <a:rPr lang="en-GB" sz="2000" dirty="0" smtClean="0"/>
              <a:t>Climate </a:t>
            </a:r>
            <a:r>
              <a:rPr lang="en-GB" sz="2000" dirty="0"/>
              <a:t>change is widely recognised as a serious potential threat to the world’s environment. Climate change is an inevitable and urgent global challenge with long-term implications for the sustainable development of all </a:t>
            </a:r>
            <a:r>
              <a:rPr lang="en-GB" sz="2000" dirty="0" smtClean="0"/>
              <a:t>countries</a:t>
            </a:r>
            <a:r>
              <a:rPr lang="en-GB" sz="2000" dirty="0"/>
              <a:t>. climate change is a global issue mainly due to the sheer scale of climate change impacts  both in terms of its global and temporal spread and of the variety of sectors affected by it</a:t>
            </a:r>
            <a:r>
              <a:rPr lang="en-GB" sz="2000" dirty="0" smtClean="0"/>
              <a:t>.</a:t>
            </a:r>
            <a:endParaRPr lang="en-US" sz="2000" dirty="0"/>
          </a:p>
        </p:txBody>
      </p:sp>
      <p:sp>
        <p:nvSpPr>
          <p:cNvPr id="5" name="Title 1"/>
          <p:cNvSpPr txBox="1">
            <a:spLocks/>
          </p:cNvSpPr>
          <p:nvPr/>
        </p:nvSpPr>
        <p:spPr>
          <a:xfrm>
            <a:off x="21515" y="-3048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b="1" dirty="0" smtClean="0"/>
              <a:t>Chapter 1. Introduction </a:t>
            </a:r>
            <a:endParaRPr lang="en-US" dirty="0"/>
          </a:p>
        </p:txBody>
      </p:sp>
      <p:sp>
        <p:nvSpPr>
          <p:cNvPr id="7" name="Rectangle 6"/>
          <p:cNvSpPr/>
          <p:nvPr/>
        </p:nvSpPr>
        <p:spPr>
          <a:xfrm>
            <a:off x="-65903" y="5623816"/>
            <a:ext cx="9155436" cy="1234184"/>
          </a:xfrm>
          <a:prstGeom prst="rect">
            <a:avLst/>
          </a:prstGeom>
        </p:spPr>
        <p:txBody>
          <a:bodyPr wrap="square">
            <a:spAutoFit/>
          </a:bodyPr>
          <a:lstStyle/>
          <a:p>
            <a:pPr marL="342900" lvl="0" indent="-342900" fontAlgn="base">
              <a:lnSpc>
                <a:spcPct val="90000"/>
              </a:lnSpc>
              <a:spcBef>
                <a:spcPct val="20000"/>
              </a:spcBef>
              <a:spcAft>
                <a:spcPct val="0"/>
              </a:spcAft>
              <a:buFont typeface="Arial" pitchFamily="34" charset="0"/>
              <a:buChar char="•"/>
            </a:pPr>
            <a:r>
              <a:rPr lang="en-US" sz="1400" b="1" dirty="0" smtClean="0">
                <a:solidFill>
                  <a:prstClr val="black"/>
                </a:solidFill>
                <a:cs typeface="Arial" pitchFamily="34" charset="0"/>
              </a:rPr>
              <a:t>Climate change impacts :</a:t>
            </a:r>
            <a:endParaRPr lang="en-US" sz="1400" b="1" dirty="0">
              <a:solidFill>
                <a:prstClr val="black"/>
              </a:solidFill>
              <a:cs typeface="Arial" pitchFamily="34" charset="0"/>
            </a:endParaRPr>
          </a:p>
          <a:p>
            <a:pPr marL="742950" lvl="1" indent="-285750" fontAlgn="base">
              <a:lnSpc>
                <a:spcPct val="90000"/>
              </a:lnSpc>
              <a:spcBef>
                <a:spcPct val="20000"/>
              </a:spcBef>
              <a:spcAft>
                <a:spcPct val="0"/>
              </a:spcAft>
              <a:buFont typeface="Arial" pitchFamily="34" charset="0"/>
              <a:buChar char="–"/>
            </a:pPr>
            <a:r>
              <a:rPr lang="en-US" sz="1400" b="1" dirty="0">
                <a:solidFill>
                  <a:prstClr val="black"/>
                </a:solidFill>
                <a:cs typeface="Arial" pitchFamily="34" charset="0"/>
              </a:rPr>
              <a:t>Large share of economy in climate </a:t>
            </a:r>
            <a:r>
              <a:rPr lang="en-US" sz="1400" b="1" dirty="0" smtClean="0">
                <a:solidFill>
                  <a:prstClr val="black"/>
                </a:solidFill>
                <a:cs typeface="Arial" pitchFamily="34" charset="0"/>
              </a:rPr>
              <a:t>sensitive </a:t>
            </a:r>
            <a:r>
              <a:rPr lang="en-US" sz="1400" b="1" dirty="0">
                <a:solidFill>
                  <a:prstClr val="black"/>
                </a:solidFill>
                <a:cs typeface="Arial" pitchFamily="34" charset="0"/>
              </a:rPr>
              <a:t>sectors (e.g. agriculture, tourism)</a:t>
            </a:r>
          </a:p>
          <a:p>
            <a:pPr marL="742950" lvl="1" indent="-285750" fontAlgn="base">
              <a:lnSpc>
                <a:spcPct val="90000"/>
              </a:lnSpc>
              <a:spcBef>
                <a:spcPct val="20000"/>
              </a:spcBef>
              <a:spcAft>
                <a:spcPct val="0"/>
              </a:spcAft>
              <a:buFont typeface="Arial" pitchFamily="34" charset="0"/>
              <a:buChar char="–"/>
            </a:pPr>
            <a:r>
              <a:rPr lang="en-US" sz="1400" b="1" dirty="0">
                <a:solidFill>
                  <a:prstClr val="black"/>
                </a:solidFill>
                <a:cs typeface="Arial" pitchFamily="34" charset="0"/>
              </a:rPr>
              <a:t>Prone to natural disasters (e.g. floods and </a:t>
            </a:r>
            <a:r>
              <a:rPr lang="en-US" sz="1400" b="1" dirty="0" smtClean="0">
                <a:solidFill>
                  <a:prstClr val="black"/>
                </a:solidFill>
                <a:cs typeface="Arial" pitchFamily="34" charset="0"/>
              </a:rPr>
              <a:t>droughts</a:t>
            </a:r>
            <a:r>
              <a:rPr lang="en-US" sz="1400" b="1" dirty="0">
                <a:solidFill>
                  <a:prstClr val="black"/>
                </a:solidFill>
                <a:cs typeface="Arial" pitchFamily="34" charset="0"/>
              </a:rPr>
              <a:t>)</a:t>
            </a:r>
          </a:p>
          <a:p>
            <a:pPr marL="742950" lvl="1" indent="-285750" fontAlgn="base">
              <a:lnSpc>
                <a:spcPct val="90000"/>
              </a:lnSpc>
              <a:spcBef>
                <a:spcPct val="20000"/>
              </a:spcBef>
              <a:spcAft>
                <a:spcPct val="0"/>
              </a:spcAft>
              <a:buFont typeface="Arial" pitchFamily="34" charset="0"/>
              <a:buChar char="–"/>
            </a:pPr>
            <a:r>
              <a:rPr lang="en-US" sz="1400" b="1" dirty="0">
                <a:solidFill>
                  <a:prstClr val="black"/>
                </a:solidFill>
                <a:cs typeface="Arial" pitchFamily="34" charset="0"/>
              </a:rPr>
              <a:t>Adds to existing water resource stresses</a:t>
            </a:r>
          </a:p>
          <a:p>
            <a:pPr marL="742950" lvl="1" indent="-285750" fontAlgn="base">
              <a:lnSpc>
                <a:spcPct val="90000"/>
              </a:lnSpc>
              <a:spcBef>
                <a:spcPct val="20000"/>
              </a:spcBef>
              <a:spcAft>
                <a:spcPct val="0"/>
              </a:spcAft>
              <a:buFont typeface="Arial" pitchFamily="34" charset="0"/>
              <a:buChar char="–"/>
            </a:pPr>
            <a:r>
              <a:rPr lang="en-US" sz="1400" b="1" dirty="0" smtClean="0">
                <a:solidFill>
                  <a:prstClr val="black"/>
                </a:solidFill>
                <a:cs typeface="Arial" pitchFamily="34" charset="0"/>
              </a:rPr>
              <a:t>Exacerbated </a:t>
            </a:r>
            <a:r>
              <a:rPr lang="en-US" sz="1400" b="1" dirty="0">
                <a:solidFill>
                  <a:prstClr val="black"/>
                </a:solidFill>
                <a:cs typeface="Arial" pitchFamily="34" charset="0"/>
              </a:rPr>
              <a:t>human health, ecosystems, food security</a:t>
            </a:r>
            <a:r>
              <a:rPr lang="en-US" sz="1400" b="1" dirty="0" smtClean="0">
                <a:solidFill>
                  <a:prstClr val="black"/>
                </a:solidFill>
                <a:cs typeface="Arial" pitchFamily="34" charset="0"/>
              </a:rPr>
              <a:t>, </a:t>
            </a:r>
            <a:r>
              <a:rPr lang="en-US" sz="1400" b="1" dirty="0">
                <a:solidFill>
                  <a:prstClr val="black"/>
                </a:solidFill>
                <a:cs typeface="Arial" pitchFamily="34" charset="0"/>
              </a:rPr>
              <a:t>clean water and other resource access concerns</a:t>
            </a:r>
          </a:p>
        </p:txBody>
      </p:sp>
      <p:sp>
        <p:nvSpPr>
          <p:cNvPr id="3" name="Rectangle 2"/>
          <p:cNvSpPr/>
          <p:nvPr/>
        </p:nvSpPr>
        <p:spPr>
          <a:xfrm>
            <a:off x="0" y="4485382"/>
            <a:ext cx="9176951" cy="1077218"/>
          </a:xfrm>
          <a:prstGeom prst="rect">
            <a:avLst/>
          </a:prstGeom>
        </p:spPr>
        <p:txBody>
          <a:bodyPr wrap="square">
            <a:spAutoFit/>
          </a:bodyPr>
          <a:lstStyle/>
          <a:p>
            <a:r>
              <a:rPr lang="en-GB" sz="1600" dirty="0"/>
              <a:t>One aspect of globalization that would find much greater interest and attention from leaders </a:t>
            </a:r>
            <a:r>
              <a:rPr lang="en-GB" sz="1600" dirty="0" smtClean="0"/>
              <a:t>of public opinion </a:t>
            </a:r>
            <a:r>
              <a:rPr lang="en-GB" sz="1600" dirty="0"/>
              <a:t>and from various walks of life are the global economic and equity dimensions </a:t>
            </a:r>
            <a:r>
              <a:rPr lang="en-GB" sz="1600" dirty="0" smtClean="0"/>
              <a:t>of climate </a:t>
            </a:r>
            <a:r>
              <a:rPr lang="en-GB" sz="1600" dirty="0"/>
              <a:t>change. The causes of human-induced climate change are now well established, and </a:t>
            </a:r>
            <a:r>
              <a:rPr lang="en-GB" sz="1600" dirty="0" smtClean="0"/>
              <a:t>are explained </a:t>
            </a:r>
            <a:r>
              <a:rPr lang="en-GB" sz="1600" dirty="0"/>
              <a:t>by IPCC. It is true that Warming </a:t>
            </a:r>
            <a:r>
              <a:rPr lang="en-GB" sz="1600" dirty="0" smtClean="0"/>
              <a:t>of the </a:t>
            </a:r>
            <a:r>
              <a:rPr lang="en-GB" sz="1600" dirty="0"/>
              <a:t>climate system is unequivocal.  </a:t>
            </a:r>
          </a:p>
        </p:txBody>
      </p:sp>
    </p:spTree>
    <p:extLst>
      <p:ext uri="{BB962C8B-B14F-4D97-AF65-F5344CB8AC3E}">
        <p14:creationId xmlns:p14="http://schemas.microsoft.com/office/powerpoint/2010/main" val="98039832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229600" cy="1143000"/>
          </a:xfrm>
        </p:spPr>
        <p:txBody>
          <a:bodyPr>
            <a:normAutofit fontScale="90000"/>
          </a:bodyPr>
          <a:lstStyle/>
          <a:p>
            <a:r>
              <a:rPr lang="en-US" sz="4000" dirty="0">
                <a:ea typeface="Times New Roman"/>
                <a:cs typeface="Times New Roman"/>
              </a:rPr>
              <a:t/>
            </a:r>
            <a:br>
              <a:rPr lang="en-US" sz="4000" dirty="0">
                <a:ea typeface="Times New Roman"/>
                <a:cs typeface="Times New Roman"/>
              </a:rPr>
            </a:br>
            <a:r>
              <a:rPr lang="en-US" dirty="0" smtClean="0"/>
              <a:t>  </a:t>
            </a:r>
            <a:r>
              <a:rPr lang="en-US" dirty="0"/>
              <a:t/>
            </a:r>
            <a:br>
              <a:rPr lang="en-US" dirty="0"/>
            </a:br>
            <a:endParaRPr lang="en-US" dirty="0"/>
          </a:p>
        </p:txBody>
      </p:sp>
      <p:sp>
        <p:nvSpPr>
          <p:cNvPr id="4" name="Rectangle 3"/>
          <p:cNvSpPr/>
          <p:nvPr/>
        </p:nvSpPr>
        <p:spPr>
          <a:xfrm>
            <a:off x="304800" y="511314"/>
            <a:ext cx="7315200" cy="461665"/>
          </a:xfrm>
          <a:prstGeom prst="rect">
            <a:avLst/>
          </a:prstGeom>
        </p:spPr>
        <p:txBody>
          <a:bodyPr wrap="square">
            <a:spAutoFit/>
          </a:bodyPr>
          <a:lstStyle/>
          <a:p>
            <a:r>
              <a:rPr lang="en-US" sz="2400" dirty="0"/>
              <a:t> </a:t>
            </a:r>
            <a:r>
              <a:rPr lang="en-US" sz="2400" dirty="0" smtClean="0">
                <a:latin typeface="Times New Roman" pitchFamily="18" charset="0"/>
                <a:cs typeface="Times New Roman" pitchFamily="18" charset="0"/>
              </a:rPr>
              <a:t>1.5 </a:t>
            </a:r>
            <a:r>
              <a:rPr lang="en-US" sz="2400" b="1" dirty="0">
                <a:latin typeface="Times New Roman" pitchFamily="18" charset="0"/>
                <a:cs typeface="Times New Roman" pitchFamily="18" charset="0"/>
              </a:rPr>
              <a:t>Climate change and society</a:t>
            </a:r>
          </a:p>
        </p:txBody>
      </p:sp>
      <p:sp>
        <p:nvSpPr>
          <p:cNvPr id="5" name="Title 1"/>
          <p:cNvSpPr txBox="1">
            <a:spLocks/>
          </p:cNvSpPr>
          <p:nvPr/>
        </p:nvSpPr>
        <p:spPr>
          <a:xfrm>
            <a:off x="21515" y="-3048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b="1" dirty="0" smtClean="0"/>
              <a:t>Chapter 1. Introduction </a:t>
            </a:r>
            <a:endParaRPr lang="en-US" dirty="0"/>
          </a:p>
        </p:txBody>
      </p:sp>
      <p:sp>
        <p:nvSpPr>
          <p:cNvPr id="6" name="Rectangle 5"/>
          <p:cNvSpPr/>
          <p:nvPr/>
        </p:nvSpPr>
        <p:spPr>
          <a:xfrm>
            <a:off x="0" y="840224"/>
            <a:ext cx="9296400" cy="6093976"/>
          </a:xfrm>
          <a:prstGeom prst="rect">
            <a:avLst/>
          </a:prstGeom>
        </p:spPr>
        <p:txBody>
          <a:bodyPr wrap="square">
            <a:spAutoFit/>
          </a:bodyPr>
          <a:lstStyle/>
          <a:p>
            <a:pPr>
              <a:lnSpc>
                <a:spcPct val="150000"/>
              </a:lnSpc>
            </a:pPr>
            <a:r>
              <a:rPr lang="en-US" sz="2000" dirty="0" smtClean="0"/>
              <a:t>Society </a:t>
            </a:r>
            <a:r>
              <a:rPr lang="en-US" sz="2000" dirty="0"/>
              <a:t>evolved through formation </a:t>
            </a:r>
            <a:r>
              <a:rPr lang="en-US" sz="2000" dirty="0" smtClean="0"/>
              <a:t>of groups </a:t>
            </a:r>
            <a:r>
              <a:rPr lang="en-US" sz="2000" dirty="0"/>
              <a:t>from family to occupation based to interest based groups, etc. </a:t>
            </a:r>
            <a:r>
              <a:rPr lang="en-GB" sz="2000" dirty="0"/>
              <a:t>Climate change is expected to have an impact on a wide range </a:t>
            </a:r>
            <a:r>
              <a:rPr lang="en-GB" sz="2000" dirty="0" smtClean="0"/>
              <a:t>of socio-economic </a:t>
            </a:r>
            <a:r>
              <a:rPr lang="en-GB" sz="2000" dirty="0"/>
              <a:t>areas including human health. </a:t>
            </a:r>
            <a:r>
              <a:rPr lang="en-US" sz="2000" dirty="0" smtClean="0"/>
              <a:t>Through time, human </a:t>
            </a:r>
            <a:r>
              <a:rPr lang="en-US" sz="2000" dirty="0"/>
              <a:t>interface with natural environment changes </a:t>
            </a:r>
            <a:r>
              <a:rPr lang="en-US" sz="2000" dirty="0" smtClean="0"/>
              <a:t>&amp; human </a:t>
            </a:r>
            <a:r>
              <a:rPr lang="en-US" sz="2000" dirty="0"/>
              <a:t>beings acquire different information </a:t>
            </a:r>
            <a:r>
              <a:rPr lang="en-US" sz="2000" dirty="0" smtClean="0"/>
              <a:t> &amp; knowledge</a:t>
            </a:r>
            <a:r>
              <a:rPr lang="en-US" sz="2000" dirty="0"/>
              <a:t>. </a:t>
            </a:r>
            <a:endParaRPr lang="en-US" sz="2000" dirty="0" smtClean="0"/>
          </a:p>
          <a:p>
            <a:pPr>
              <a:lnSpc>
                <a:spcPct val="150000"/>
              </a:lnSpc>
            </a:pPr>
            <a:r>
              <a:rPr lang="en-US" sz="2000" b="1" dirty="0" smtClean="0"/>
              <a:t>Weather </a:t>
            </a:r>
            <a:r>
              <a:rPr lang="en-US" sz="2000" b="1" dirty="0"/>
              <a:t>and climatic </a:t>
            </a:r>
            <a:r>
              <a:rPr lang="en-US" sz="2000" dirty="0"/>
              <a:t>condition of an area exerts impact on available natural resources and these natural </a:t>
            </a:r>
            <a:r>
              <a:rPr lang="en-US" sz="2000" dirty="0" smtClean="0"/>
              <a:t>resources provides </a:t>
            </a:r>
            <a:r>
              <a:rPr lang="en-US" sz="2000" dirty="0"/>
              <a:t>opportunities and hurdles for human being for designing their livelihood practices leading to formation </a:t>
            </a:r>
            <a:r>
              <a:rPr lang="en-US" sz="2000" dirty="0" smtClean="0"/>
              <a:t>of social </a:t>
            </a:r>
            <a:r>
              <a:rPr lang="en-US" sz="2000" dirty="0"/>
              <a:t>groups </a:t>
            </a:r>
            <a:r>
              <a:rPr lang="en-US" sz="2000" dirty="0" smtClean="0"/>
              <a:t>&amp; their </a:t>
            </a:r>
            <a:r>
              <a:rPr lang="en-US" sz="2000" dirty="0"/>
              <a:t>cultural practices. The interface of </a:t>
            </a:r>
            <a:r>
              <a:rPr lang="en-US" sz="2000" dirty="0" smtClean="0"/>
              <a:t>W &amp; C </a:t>
            </a:r>
            <a:r>
              <a:rPr lang="en-US" sz="2000" dirty="0"/>
              <a:t>with human life is not so simple, rather it is a complex interaction linking </a:t>
            </a:r>
            <a:r>
              <a:rPr lang="en-US" sz="2000" dirty="0" smtClean="0"/>
              <a:t>many aspects </a:t>
            </a:r>
            <a:r>
              <a:rPr lang="en-US" sz="2000" dirty="0"/>
              <a:t>of physical </a:t>
            </a:r>
            <a:r>
              <a:rPr lang="en-US" sz="2000" dirty="0" smtClean="0"/>
              <a:t>&amp; social </a:t>
            </a:r>
            <a:r>
              <a:rPr lang="en-US" sz="2000" dirty="0"/>
              <a:t>environment through evolution of cultural landscape on a natural landscape. </a:t>
            </a:r>
            <a:r>
              <a:rPr lang="en-US" sz="2000" dirty="0" smtClean="0"/>
              <a:t>The influence </a:t>
            </a:r>
            <a:r>
              <a:rPr lang="en-US" sz="2000" dirty="0"/>
              <a:t>of weather and climate on human society </a:t>
            </a:r>
            <a:r>
              <a:rPr lang="en-US" sz="2000" dirty="0" smtClean="0"/>
              <a:t>and culture </a:t>
            </a:r>
            <a:r>
              <a:rPr lang="en-US" sz="2000" dirty="0"/>
              <a:t>streamline through human life style, evolved around their occupation, food system, housing or shelter</a:t>
            </a:r>
            <a:r>
              <a:rPr lang="en-US" sz="2000" dirty="0" smtClean="0"/>
              <a:t>, technology &amp; material </a:t>
            </a:r>
            <a:r>
              <a:rPr lang="en-US" sz="2000" dirty="0"/>
              <a:t>uses etc. </a:t>
            </a:r>
            <a:endParaRPr lang="en-GB" sz="2000" dirty="0"/>
          </a:p>
        </p:txBody>
      </p:sp>
    </p:spTree>
    <p:extLst>
      <p:ext uri="{BB962C8B-B14F-4D97-AF65-F5344CB8AC3E}">
        <p14:creationId xmlns:p14="http://schemas.microsoft.com/office/powerpoint/2010/main" val="82086944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5931" y="838200"/>
            <a:ext cx="9122485" cy="6093976"/>
          </a:xfrm>
          <a:prstGeom prst="rect">
            <a:avLst/>
          </a:prstGeom>
        </p:spPr>
        <p:txBody>
          <a:bodyPr wrap="square">
            <a:spAutoFit/>
          </a:bodyPr>
          <a:lstStyle/>
          <a:p>
            <a:pPr>
              <a:lnSpc>
                <a:spcPct val="150000"/>
              </a:lnSpc>
            </a:pPr>
            <a:r>
              <a:rPr lang="en-US" sz="2000" dirty="0" smtClean="0"/>
              <a:t>Society in harsh weather and climate area are highly dependent on more material </a:t>
            </a:r>
            <a:r>
              <a:rPr lang="en-US" sz="2000" dirty="0"/>
              <a:t>and energy </a:t>
            </a:r>
            <a:r>
              <a:rPr lang="en-US" sz="2000" dirty="0" smtClean="0"/>
              <a:t>that in turn affect the climate system , while the opposite is true.</a:t>
            </a:r>
          </a:p>
          <a:p>
            <a:pPr>
              <a:lnSpc>
                <a:spcPct val="150000"/>
              </a:lnSpc>
            </a:pPr>
            <a:r>
              <a:rPr lang="en-US" sz="2000" dirty="0" smtClean="0"/>
              <a:t> In </a:t>
            </a:r>
            <a:r>
              <a:rPr lang="en-US" sz="2000" dirty="0"/>
              <a:t>today’s world, increase of human population and </a:t>
            </a:r>
            <a:r>
              <a:rPr lang="en-US" sz="2000" dirty="0" smtClean="0"/>
              <a:t>proliferation of material </a:t>
            </a:r>
            <a:r>
              <a:rPr lang="en-US" sz="2000" dirty="0"/>
              <a:t>intensive </a:t>
            </a:r>
            <a:r>
              <a:rPr lang="en-US" sz="2000" dirty="0" smtClean="0"/>
              <a:t>socio-cultural practices </a:t>
            </a:r>
            <a:r>
              <a:rPr lang="en-US" sz="2000" dirty="0"/>
              <a:t>lead to problems like climate change. </a:t>
            </a:r>
            <a:endParaRPr lang="en-US" sz="2000" dirty="0" smtClean="0"/>
          </a:p>
          <a:p>
            <a:pPr>
              <a:lnSpc>
                <a:spcPct val="150000"/>
              </a:lnSpc>
            </a:pPr>
            <a:r>
              <a:rPr lang="en-US" sz="2000" dirty="0" smtClean="0"/>
              <a:t>Therefore</a:t>
            </a:r>
            <a:r>
              <a:rPr lang="en-US" sz="2000" dirty="0"/>
              <a:t>, IPCC’s analysis explains that </a:t>
            </a:r>
            <a:r>
              <a:rPr lang="en-US" sz="2000" dirty="0" smtClean="0"/>
              <a:t> global </a:t>
            </a:r>
            <a:r>
              <a:rPr lang="en-US" sz="2000" dirty="0"/>
              <a:t>Green House Gases(GHG) emission grew up due to human activities since pre-industrial times, it has seen an increase of 70% between1970 and 2004. </a:t>
            </a:r>
            <a:endParaRPr lang="en-US" sz="2000" dirty="0" smtClean="0"/>
          </a:p>
          <a:p>
            <a:pPr>
              <a:lnSpc>
                <a:spcPct val="150000"/>
              </a:lnSpc>
            </a:pPr>
            <a:r>
              <a:rPr lang="en-US" sz="2000" dirty="0" smtClean="0"/>
              <a:t>Atmospheric </a:t>
            </a:r>
            <a:r>
              <a:rPr lang="en-US" sz="2000" dirty="0"/>
              <a:t>concentrations of CO</a:t>
            </a:r>
            <a:r>
              <a:rPr lang="en-US" sz="2000" baseline="-25000" dirty="0"/>
              <a:t>2</a:t>
            </a:r>
            <a:r>
              <a:rPr lang="en-US" sz="2000" dirty="0"/>
              <a:t>, methane (CH4) and nitrous oxide (N2O) have increased </a:t>
            </a:r>
            <a:r>
              <a:rPr lang="en-US" sz="2000" dirty="0" smtClean="0"/>
              <a:t>markedly as </a:t>
            </a:r>
            <a:r>
              <a:rPr lang="en-US" sz="2000" dirty="0"/>
              <a:t>a result of human activities since 1750 .</a:t>
            </a:r>
            <a:r>
              <a:rPr lang="en-US" sz="2000" dirty="0" smtClean="0"/>
              <a:t> </a:t>
            </a:r>
          </a:p>
          <a:p>
            <a:pPr>
              <a:lnSpc>
                <a:spcPct val="150000"/>
              </a:lnSpc>
            </a:pPr>
            <a:r>
              <a:rPr lang="en-US" sz="2000" dirty="0" smtClean="0"/>
              <a:t>Human </a:t>
            </a:r>
            <a:r>
              <a:rPr lang="en-US" sz="2000" dirty="0"/>
              <a:t>influences are there with increase of temperature, changes in </a:t>
            </a:r>
            <a:r>
              <a:rPr lang="en-US" sz="2000" dirty="0" smtClean="0"/>
              <a:t>wind patterns</a:t>
            </a:r>
            <a:r>
              <a:rPr lang="en-US" sz="2000" dirty="0"/>
              <a:t>, </a:t>
            </a:r>
            <a:r>
              <a:rPr lang="en-US" sz="2000" dirty="0" smtClean="0"/>
              <a:t>heat </a:t>
            </a:r>
            <a:r>
              <a:rPr lang="en-US" sz="2000" dirty="0"/>
              <a:t>wave, </a:t>
            </a:r>
            <a:r>
              <a:rPr lang="en-US" sz="2000" dirty="0" smtClean="0"/>
              <a:t>drought</a:t>
            </a:r>
            <a:r>
              <a:rPr lang="en-US" sz="2000" dirty="0"/>
              <a:t>, sea level </a:t>
            </a:r>
            <a:r>
              <a:rPr lang="en-US" sz="2000" dirty="0" smtClean="0"/>
              <a:t>rises. </a:t>
            </a:r>
          </a:p>
          <a:p>
            <a:pPr>
              <a:lnSpc>
                <a:spcPct val="150000"/>
              </a:lnSpc>
            </a:pPr>
            <a:r>
              <a:rPr lang="en-GB" sz="2000" dirty="0"/>
              <a:t>These may link to further destabilization of society through climate induced migration, food crisis, disaster etc. </a:t>
            </a:r>
          </a:p>
        </p:txBody>
      </p:sp>
      <p:sp>
        <p:nvSpPr>
          <p:cNvPr id="6" name="Rectangle 5"/>
          <p:cNvSpPr/>
          <p:nvPr/>
        </p:nvSpPr>
        <p:spPr>
          <a:xfrm>
            <a:off x="304800" y="511314"/>
            <a:ext cx="7315200" cy="461665"/>
          </a:xfrm>
          <a:prstGeom prst="rect">
            <a:avLst/>
          </a:prstGeom>
        </p:spPr>
        <p:txBody>
          <a:bodyPr wrap="square">
            <a:spAutoFit/>
          </a:bodyPr>
          <a:lstStyle/>
          <a:p>
            <a:r>
              <a:rPr lang="en-US" sz="2400" dirty="0"/>
              <a:t> </a:t>
            </a:r>
            <a:r>
              <a:rPr lang="en-US" sz="2400" dirty="0" smtClean="0">
                <a:latin typeface="Times New Roman" pitchFamily="18" charset="0"/>
                <a:cs typeface="Times New Roman" pitchFamily="18" charset="0"/>
              </a:rPr>
              <a:t>1.5 </a:t>
            </a:r>
            <a:r>
              <a:rPr lang="en-US" sz="2400" b="1" dirty="0">
                <a:latin typeface="Times New Roman" pitchFamily="18" charset="0"/>
                <a:cs typeface="Times New Roman" pitchFamily="18" charset="0"/>
              </a:rPr>
              <a:t>Climate change and society</a:t>
            </a:r>
          </a:p>
        </p:txBody>
      </p:sp>
      <p:sp>
        <p:nvSpPr>
          <p:cNvPr id="7" name="Title 1"/>
          <p:cNvSpPr txBox="1">
            <a:spLocks/>
          </p:cNvSpPr>
          <p:nvPr/>
        </p:nvSpPr>
        <p:spPr>
          <a:xfrm>
            <a:off x="21515" y="-3048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b="1" dirty="0" smtClean="0"/>
              <a:t>Chapter 1. Introduction </a:t>
            </a:r>
            <a:endParaRPr lang="en-US" dirty="0"/>
          </a:p>
        </p:txBody>
      </p:sp>
    </p:spTree>
    <p:extLst>
      <p:ext uri="{BB962C8B-B14F-4D97-AF65-F5344CB8AC3E}">
        <p14:creationId xmlns:p14="http://schemas.microsoft.com/office/powerpoint/2010/main" val="64339396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52400" y="-304800"/>
            <a:ext cx="8229600" cy="1143000"/>
          </a:xfrm>
          <a:prstGeom prst="rect">
            <a:avLst/>
          </a:prstGeom>
        </p:spPr>
        <p:txBody>
          <a:bodyPr vert="horz" lIns="91440" tIns="45720" rIns="91440" bIns="45720" rtlCol="0" anchor="ctr">
            <a:normAutofit fontScale="92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b="1" dirty="0" smtClean="0"/>
              <a:t>Chapter 2</a:t>
            </a:r>
            <a:r>
              <a:rPr lang="en-US" b="1" dirty="0"/>
              <a:t>. Drivers of climate change  </a:t>
            </a:r>
            <a:endParaRPr lang="en-US" dirty="0"/>
          </a:p>
        </p:txBody>
      </p:sp>
      <p:sp>
        <p:nvSpPr>
          <p:cNvPr id="2" name="Rectangle 1"/>
          <p:cNvSpPr/>
          <p:nvPr/>
        </p:nvSpPr>
        <p:spPr>
          <a:xfrm>
            <a:off x="0" y="609600"/>
            <a:ext cx="4843955" cy="461665"/>
          </a:xfrm>
          <a:prstGeom prst="rect">
            <a:avLst/>
          </a:prstGeom>
        </p:spPr>
        <p:txBody>
          <a:bodyPr wrap="none">
            <a:spAutoFit/>
          </a:bodyPr>
          <a:lstStyle/>
          <a:p>
            <a:pPr lvl="0"/>
            <a:r>
              <a:rPr lang="en-US" sz="2400" b="1" dirty="0" smtClean="0"/>
              <a:t>1.  Natural </a:t>
            </a:r>
            <a:r>
              <a:rPr lang="en-US" sz="2400" b="1" dirty="0"/>
              <a:t>drivers of climate change </a:t>
            </a:r>
            <a:endParaRPr lang="en-GB" sz="2400" b="1" dirty="0"/>
          </a:p>
        </p:txBody>
      </p:sp>
      <p:sp>
        <p:nvSpPr>
          <p:cNvPr id="3" name="Rectangle 2"/>
          <p:cNvSpPr/>
          <p:nvPr/>
        </p:nvSpPr>
        <p:spPr>
          <a:xfrm>
            <a:off x="1" y="914400"/>
            <a:ext cx="9143998" cy="967957"/>
          </a:xfrm>
          <a:prstGeom prst="rect">
            <a:avLst/>
          </a:prstGeom>
        </p:spPr>
        <p:txBody>
          <a:bodyPr wrap="square">
            <a:spAutoFit/>
          </a:bodyPr>
          <a:lstStyle/>
          <a:p>
            <a:pPr>
              <a:lnSpc>
                <a:spcPct val="150000"/>
              </a:lnSpc>
            </a:pPr>
            <a:r>
              <a:rPr lang="en-US" sz="2000" b="1" dirty="0"/>
              <a:t>Natural causes </a:t>
            </a:r>
            <a:r>
              <a:rPr lang="en-US" sz="2000" dirty="0"/>
              <a:t>include </a:t>
            </a:r>
            <a:r>
              <a:rPr lang="en-GB" sz="2000" dirty="0"/>
              <a:t>Variations in the Earth’s </a:t>
            </a:r>
            <a:r>
              <a:rPr lang="en-GB" sz="2000" dirty="0" smtClean="0"/>
              <a:t>orbit</a:t>
            </a:r>
            <a:r>
              <a:rPr lang="en-GB" sz="2000" dirty="0"/>
              <a:t>, Plate </a:t>
            </a:r>
            <a:r>
              <a:rPr lang="en-GB" sz="2000" dirty="0" smtClean="0"/>
              <a:t>tectonics, </a:t>
            </a:r>
            <a:r>
              <a:rPr lang="en-US" sz="2000" dirty="0" smtClean="0"/>
              <a:t>Solar </a:t>
            </a:r>
            <a:r>
              <a:rPr lang="en-US" sz="2000" dirty="0"/>
              <a:t>Variations </a:t>
            </a:r>
            <a:r>
              <a:rPr lang="en-US" sz="2000" dirty="0" smtClean="0"/>
              <a:t>, </a:t>
            </a:r>
            <a:r>
              <a:rPr lang="en-US" sz="2000" dirty="0"/>
              <a:t>the circulation of the ocean and the atmosphere, and volcanic activity. </a:t>
            </a:r>
            <a:endParaRPr lang="en-GB" sz="2000" dirty="0"/>
          </a:p>
        </p:txBody>
      </p:sp>
      <p:sp>
        <p:nvSpPr>
          <p:cNvPr id="9" name="Rectangle 8"/>
          <p:cNvSpPr/>
          <p:nvPr/>
        </p:nvSpPr>
        <p:spPr>
          <a:xfrm>
            <a:off x="685800" y="1860052"/>
            <a:ext cx="3030573" cy="461665"/>
          </a:xfrm>
          <a:prstGeom prst="rect">
            <a:avLst/>
          </a:prstGeom>
        </p:spPr>
        <p:txBody>
          <a:bodyPr wrap="none">
            <a:spAutoFit/>
          </a:bodyPr>
          <a:lstStyle/>
          <a:p>
            <a:pPr marL="400050" indent="-400050">
              <a:buFont typeface="+mj-lt"/>
              <a:buAutoNum type="romanUcPeriod"/>
            </a:pPr>
            <a:r>
              <a:rPr lang="en-US" sz="2400" b="1" dirty="0" smtClean="0">
                <a:solidFill>
                  <a:srgbClr val="FF0000"/>
                </a:solidFill>
                <a:latin typeface="Times New Roman" pitchFamily="18" charset="0"/>
                <a:ea typeface="Times New Roman"/>
                <a:cs typeface="Times New Roman" pitchFamily="18" charset="0"/>
              </a:rPr>
              <a:t>Volcanic </a:t>
            </a:r>
            <a:r>
              <a:rPr lang="en-US" sz="2400" b="1" dirty="0">
                <a:solidFill>
                  <a:srgbClr val="FF0000"/>
                </a:solidFill>
                <a:latin typeface="Times New Roman" pitchFamily="18" charset="0"/>
                <a:ea typeface="Times New Roman"/>
                <a:cs typeface="Times New Roman" pitchFamily="18" charset="0"/>
              </a:rPr>
              <a:t>eruptions</a:t>
            </a:r>
            <a:endParaRPr lang="en-GB" sz="2400" b="1" dirty="0"/>
          </a:p>
        </p:txBody>
      </p:sp>
      <p:sp>
        <p:nvSpPr>
          <p:cNvPr id="10" name="Rectangle 9"/>
          <p:cNvSpPr/>
          <p:nvPr/>
        </p:nvSpPr>
        <p:spPr>
          <a:xfrm>
            <a:off x="16477" y="2149019"/>
            <a:ext cx="9203724" cy="4708981"/>
          </a:xfrm>
          <a:prstGeom prst="rect">
            <a:avLst/>
          </a:prstGeom>
        </p:spPr>
        <p:txBody>
          <a:bodyPr wrap="square">
            <a:spAutoFit/>
          </a:bodyPr>
          <a:lstStyle/>
          <a:p>
            <a:pPr>
              <a:lnSpc>
                <a:spcPct val="150000"/>
              </a:lnSpc>
            </a:pPr>
            <a:r>
              <a:rPr lang="en-GB" sz="2000" dirty="0"/>
              <a:t>Volcanism has long been implicated as a possible cause of weather and climate variations. </a:t>
            </a:r>
            <a:r>
              <a:rPr lang="en-GB" sz="2000" dirty="0" smtClean="0"/>
              <a:t> Large-scale </a:t>
            </a:r>
            <a:r>
              <a:rPr lang="en-GB" sz="2000" dirty="0"/>
              <a:t>volcanic activity may last only a few days, but the massive outpouring of gases and ash can influence climate patterns for years. </a:t>
            </a:r>
            <a:r>
              <a:rPr lang="en-GB" sz="2000" dirty="0" err="1"/>
              <a:t>Sulfuric</a:t>
            </a:r>
            <a:r>
              <a:rPr lang="en-GB" sz="2000" dirty="0"/>
              <a:t> gases convert to </a:t>
            </a:r>
            <a:r>
              <a:rPr lang="en-GB" sz="2000" dirty="0" err="1"/>
              <a:t>sulfate</a:t>
            </a:r>
            <a:r>
              <a:rPr lang="en-GB" sz="2000" dirty="0"/>
              <a:t> aerosols, </a:t>
            </a:r>
            <a:r>
              <a:rPr lang="en-GB" sz="2000" dirty="0" smtClean="0"/>
              <a:t>droplets </a:t>
            </a:r>
            <a:r>
              <a:rPr lang="en-GB" sz="2000" dirty="0"/>
              <a:t>containing about </a:t>
            </a:r>
            <a:r>
              <a:rPr lang="en-GB" sz="2000" dirty="0" smtClean="0"/>
              <a:t>75% </a:t>
            </a:r>
            <a:r>
              <a:rPr lang="en-GB" sz="2000" dirty="0" err="1" smtClean="0"/>
              <a:t>sulfuric</a:t>
            </a:r>
            <a:r>
              <a:rPr lang="en-GB" sz="2000" dirty="0" smtClean="0"/>
              <a:t> </a:t>
            </a:r>
            <a:r>
              <a:rPr lang="en-GB" sz="2000" dirty="0"/>
              <a:t>acid. </a:t>
            </a:r>
            <a:r>
              <a:rPr lang="en-GB" sz="2000" dirty="0" smtClean="0"/>
              <a:t>These </a:t>
            </a:r>
            <a:r>
              <a:rPr lang="en-GB" sz="2000" dirty="0"/>
              <a:t>aerosol particles can linger as long as </a:t>
            </a:r>
            <a:r>
              <a:rPr lang="en-GB" sz="2000" dirty="0" smtClean="0"/>
              <a:t>3-4 years </a:t>
            </a:r>
            <a:r>
              <a:rPr lang="en-GB" sz="2000" dirty="0"/>
              <a:t>in the stratosphere. Major eruptions alter the Earth's </a:t>
            </a:r>
            <a:r>
              <a:rPr lang="en-GB" sz="2000" dirty="0" err="1"/>
              <a:t>radiative</a:t>
            </a:r>
            <a:r>
              <a:rPr lang="en-GB" sz="2000" dirty="0"/>
              <a:t> balance because volcanic aerosol clouds absorb terrestrial radiation, and scatter a significant amount of the incoming solar radiation, an effect known as "</a:t>
            </a:r>
            <a:r>
              <a:rPr lang="en-GB" sz="2000" dirty="0" err="1"/>
              <a:t>radiative</a:t>
            </a:r>
            <a:r>
              <a:rPr lang="en-GB" sz="2000" dirty="0"/>
              <a:t> forcing" that can last from two to three years following a volcanic eruption. "Volcanic eruptions cause short-term climate changes and contribute to natural climate </a:t>
            </a:r>
            <a:r>
              <a:rPr lang="en-GB" sz="2000" dirty="0" smtClean="0"/>
              <a:t>variability“. </a:t>
            </a:r>
            <a:endParaRPr lang="en-GB" sz="2000" dirty="0"/>
          </a:p>
        </p:txBody>
      </p:sp>
    </p:spTree>
    <p:extLst>
      <p:ext uri="{BB962C8B-B14F-4D97-AF65-F5344CB8AC3E}">
        <p14:creationId xmlns:p14="http://schemas.microsoft.com/office/powerpoint/2010/main" val="293492904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1991 Eruption of Mount Pinatubo, Philippin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4672" y="4197528"/>
            <a:ext cx="3411938" cy="2286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5518900" y="6473231"/>
            <a:ext cx="3606565" cy="369332"/>
          </a:xfrm>
          <a:prstGeom prst="rect">
            <a:avLst/>
          </a:prstGeom>
        </p:spPr>
        <p:txBody>
          <a:bodyPr wrap="none">
            <a:spAutoFit/>
          </a:bodyPr>
          <a:lstStyle/>
          <a:p>
            <a:r>
              <a:rPr lang="en-GB" dirty="0"/>
              <a:t>Pinatubo June 15, </a:t>
            </a:r>
            <a:r>
              <a:rPr lang="en-GB" dirty="0" smtClean="0"/>
              <a:t>1991, </a:t>
            </a:r>
            <a:r>
              <a:rPr lang="en-GB" dirty="0"/>
              <a:t>Philippines</a:t>
            </a:r>
          </a:p>
        </p:txBody>
      </p:sp>
      <p:sp>
        <p:nvSpPr>
          <p:cNvPr id="3" name="Rectangle 2"/>
          <p:cNvSpPr/>
          <p:nvPr/>
        </p:nvSpPr>
        <p:spPr>
          <a:xfrm>
            <a:off x="8238" y="1115237"/>
            <a:ext cx="9220200" cy="2542363"/>
          </a:xfrm>
          <a:prstGeom prst="rect">
            <a:avLst/>
          </a:prstGeom>
        </p:spPr>
        <p:txBody>
          <a:bodyPr wrap="square">
            <a:spAutoFit/>
          </a:bodyPr>
          <a:lstStyle/>
          <a:p>
            <a:pPr>
              <a:lnSpc>
                <a:spcPct val="150000"/>
              </a:lnSpc>
            </a:pPr>
            <a:r>
              <a:rPr lang="en-GB" b="1" dirty="0"/>
              <a:t>COOLING - </a:t>
            </a:r>
            <a:r>
              <a:rPr lang="en-GB" dirty="0"/>
              <a:t>I</a:t>
            </a:r>
            <a:r>
              <a:rPr lang="en-GB" dirty="0" smtClean="0"/>
              <a:t>ncreased </a:t>
            </a:r>
            <a:r>
              <a:rPr lang="en-GB" dirty="0"/>
              <a:t>volcanism can create enough dust and soot to block out sunlight and reduce global temperatures in the short term (several weeks). Further more, for several years volcanic sulphuric acid aerosol clouds can help reduce temperature through ‘radiation forcing’ by scattering the sun’s radiation. The eruption of Mt Pinatubo in 1991 (20 million tons of sulphur dioxide and ash particles blasted more than 20km high into the atmosphere) is believed to have reduced global temperature by 0.2- </a:t>
            </a:r>
            <a:r>
              <a:rPr lang="en-GB" dirty="0" smtClean="0"/>
              <a:t>0.5</a:t>
            </a:r>
            <a:r>
              <a:rPr lang="en-GB" baseline="50000" dirty="0" smtClean="0"/>
              <a:t>0</a:t>
            </a:r>
            <a:r>
              <a:rPr lang="en-GB" dirty="0" smtClean="0"/>
              <a:t>C</a:t>
            </a:r>
            <a:endParaRPr lang="en-GB" dirty="0"/>
          </a:p>
        </p:txBody>
      </p:sp>
      <p:sp>
        <p:nvSpPr>
          <p:cNvPr id="7" name="Rectangle 6"/>
          <p:cNvSpPr/>
          <p:nvPr/>
        </p:nvSpPr>
        <p:spPr>
          <a:xfrm>
            <a:off x="8237" y="3517880"/>
            <a:ext cx="5606435" cy="3416320"/>
          </a:xfrm>
          <a:prstGeom prst="rect">
            <a:avLst/>
          </a:prstGeom>
        </p:spPr>
        <p:txBody>
          <a:bodyPr wrap="square">
            <a:spAutoFit/>
          </a:bodyPr>
          <a:lstStyle/>
          <a:p>
            <a:pPr>
              <a:lnSpc>
                <a:spcPct val="150000"/>
              </a:lnSpc>
            </a:pPr>
            <a:r>
              <a:rPr lang="en-GB" b="1" dirty="0"/>
              <a:t>WARMING - </a:t>
            </a:r>
            <a:r>
              <a:rPr lang="en-GB" dirty="0"/>
              <a:t>In the very distant past, there have been volcanic eruptions so massive that they covered vast areas in lava more than a kilometre thick and appear to have released enough CO2 to warm the planet after the initial cooling caused by the dust. But even with such gigantic eruptions, most of subsequent warming may have been due to methane released when lava heated coal deposits, rather than from CO2 from the volcanoes.</a:t>
            </a:r>
            <a:endParaRPr lang="en-US" dirty="0"/>
          </a:p>
        </p:txBody>
      </p:sp>
      <p:sp>
        <p:nvSpPr>
          <p:cNvPr id="9" name="Title 1"/>
          <p:cNvSpPr txBox="1">
            <a:spLocks/>
          </p:cNvSpPr>
          <p:nvPr/>
        </p:nvSpPr>
        <p:spPr>
          <a:xfrm>
            <a:off x="152400" y="-304800"/>
            <a:ext cx="8229600" cy="1143000"/>
          </a:xfrm>
          <a:prstGeom prst="rect">
            <a:avLst/>
          </a:prstGeom>
        </p:spPr>
        <p:txBody>
          <a:bodyPr vert="horz" lIns="91440" tIns="45720" rIns="91440" bIns="45720" rtlCol="0" anchor="ctr">
            <a:normAutofit fontScale="92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b="1" dirty="0" smtClean="0"/>
              <a:t>Chapter 2</a:t>
            </a:r>
            <a:r>
              <a:rPr lang="en-US" b="1" dirty="0"/>
              <a:t>. Drivers of climate change  </a:t>
            </a:r>
            <a:endParaRPr lang="en-US" dirty="0"/>
          </a:p>
        </p:txBody>
      </p:sp>
      <p:sp>
        <p:nvSpPr>
          <p:cNvPr id="10" name="Rectangle 9"/>
          <p:cNvSpPr/>
          <p:nvPr/>
        </p:nvSpPr>
        <p:spPr>
          <a:xfrm>
            <a:off x="0" y="609600"/>
            <a:ext cx="4843955" cy="461665"/>
          </a:xfrm>
          <a:prstGeom prst="rect">
            <a:avLst/>
          </a:prstGeom>
        </p:spPr>
        <p:txBody>
          <a:bodyPr wrap="none">
            <a:spAutoFit/>
          </a:bodyPr>
          <a:lstStyle/>
          <a:p>
            <a:pPr lvl="0"/>
            <a:r>
              <a:rPr lang="en-US" sz="2400" b="1" dirty="0" smtClean="0"/>
              <a:t>1.  Natural </a:t>
            </a:r>
            <a:r>
              <a:rPr lang="en-US" sz="2400" b="1" dirty="0"/>
              <a:t>drivers of climate change </a:t>
            </a:r>
            <a:endParaRPr lang="en-GB" sz="2400" b="1" dirty="0"/>
          </a:p>
        </p:txBody>
      </p:sp>
      <p:sp>
        <p:nvSpPr>
          <p:cNvPr id="11" name="Rectangle 10"/>
          <p:cNvSpPr/>
          <p:nvPr/>
        </p:nvSpPr>
        <p:spPr>
          <a:xfrm>
            <a:off x="5087973" y="811949"/>
            <a:ext cx="3030573" cy="461665"/>
          </a:xfrm>
          <a:prstGeom prst="rect">
            <a:avLst/>
          </a:prstGeom>
        </p:spPr>
        <p:txBody>
          <a:bodyPr wrap="none">
            <a:spAutoFit/>
          </a:bodyPr>
          <a:lstStyle/>
          <a:p>
            <a:pPr marL="400050" indent="-400050">
              <a:buFont typeface="+mj-lt"/>
              <a:buAutoNum type="romanUcPeriod"/>
            </a:pPr>
            <a:r>
              <a:rPr lang="en-US" sz="2400" b="1" dirty="0" smtClean="0">
                <a:solidFill>
                  <a:srgbClr val="FF0000"/>
                </a:solidFill>
                <a:latin typeface="Times New Roman" pitchFamily="18" charset="0"/>
                <a:ea typeface="Times New Roman"/>
                <a:cs typeface="Times New Roman" pitchFamily="18" charset="0"/>
              </a:rPr>
              <a:t>Volcanic </a:t>
            </a:r>
            <a:r>
              <a:rPr lang="en-US" sz="2400" b="1" dirty="0">
                <a:solidFill>
                  <a:srgbClr val="FF0000"/>
                </a:solidFill>
                <a:latin typeface="Times New Roman" pitchFamily="18" charset="0"/>
                <a:ea typeface="Times New Roman"/>
                <a:cs typeface="Times New Roman" pitchFamily="18" charset="0"/>
              </a:rPr>
              <a:t>eruptions</a:t>
            </a:r>
            <a:endParaRPr lang="en-GB" sz="2400" b="1" dirty="0"/>
          </a:p>
        </p:txBody>
      </p:sp>
    </p:spTree>
    <p:extLst>
      <p:ext uri="{BB962C8B-B14F-4D97-AF65-F5344CB8AC3E}">
        <p14:creationId xmlns:p14="http://schemas.microsoft.com/office/powerpoint/2010/main" val="276552397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914400"/>
            <a:ext cx="2953886" cy="461665"/>
          </a:xfrm>
          <a:prstGeom prst="rect">
            <a:avLst/>
          </a:prstGeom>
        </p:spPr>
        <p:txBody>
          <a:bodyPr wrap="none">
            <a:spAutoFit/>
          </a:bodyPr>
          <a:lstStyle/>
          <a:p>
            <a:pPr marL="514350" indent="-514350">
              <a:buFont typeface="+mj-lt"/>
              <a:buAutoNum type="romanUcPeriod" startAt="2"/>
            </a:pPr>
            <a:r>
              <a:rPr lang="en-US" sz="2400" b="1" dirty="0">
                <a:solidFill>
                  <a:srgbClr val="FF0000"/>
                </a:solidFill>
                <a:latin typeface="Times New Roman" pitchFamily="18" charset="0"/>
                <a:ea typeface="Times New Roman"/>
                <a:cs typeface="Times New Roman" pitchFamily="18" charset="0"/>
              </a:rPr>
              <a:t>Solar Variations </a:t>
            </a:r>
            <a:endParaRPr lang="en-GB" sz="2400" b="1" dirty="0"/>
          </a:p>
        </p:txBody>
      </p:sp>
      <p:sp>
        <p:nvSpPr>
          <p:cNvPr id="7" name="Title 1"/>
          <p:cNvSpPr txBox="1">
            <a:spLocks/>
          </p:cNvSpPr>
          <p:nvPr/>
        </p:nvSpPr>
        <p:spPr>
          <a:xfrm>
            <a:off x="152400" y="-304800"/>
            <a:ext cx="8229600" cy="1143000"/>
          </a:xfrm>
          <a:prstGeom prst="rect">
            <a:avLst/>
          </a:prstGeom>
        </p:spPr>
        <p:txBody>
          <a:bodyPr vert="horz" lIns="91440" tIns="45720" rIns="91440" bIns="45720" rtlCol="0" anchor="ctr">
            <a:normAutofit fontScale="92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b="1" dirty="0" smtClean="0"/>
              <a:t>Chapter 2</a:t>
            </a:r>
            <a:r>
              <a:rPr lang="en-US" b="1" dirty="0"/>
              <a:t>. Drivers of climate change  </a:t>
            </a:r>
            <a:endParaRPr lang="en-US" dirty="0"/>
          </a:p>
        </p:txBody>
      </p:sp>
      <p:sp>
        <p:nvSpPr>
          <p:cNvPr id="8" name="Rectangle 7"/>
          <p:cNvSpPr/>
          <p:nvPr/>
        </p:nvSpPr>
        <p:spPr>
          <a:xfrm>
            <a:off x="0" y="609600"/>
            <a:ext cx="4843955" cy="461665"/>
          </a:xfrm>
          <a:prstGeom prst="rect">
            <a:avLst/>
          </a:prstGeom>
        </p:spPr>
        <p:txBody>
          <a:bodyPr wrap="none">
            <a:spAutoFit/>
          </a:bodyPr>
          <a:lstStyle/>
          <a:p>
            <a:pPr lvl="0"/>
            <a:r>
              <a:rPr lang="en-US" sz="2400" b="1" dirty="0" smtClean="0"/>
              <a:t>1.  Natural </a:t>
            </a:r>
            <a:r>
              <a:rPr lang="en-US" sz="2400" b="1" dirty="0"/>
              <a:t>drivers of climate change </a:t>
            </a:r>
            <a:endParaRPr lang="en-GB" sz="2400" b="1" dirty="0"/>
          </a:p>
        </p:txBody>
      </p:sp>
      <p:sp>
        <p:nvSpPr>
          <p:cNvPr id="2" name="Rectangle 1"/>
          <p:cNvSpPr/>
          <p:nvPr/>
        </p:nvSpPr>
        <p:spPr>
          <a:xfrm>
            <a:off x="0" y="1143000"/>
            <a:ext cx="9144000" cy="2400657"/>
          </a:xfrm>
          <a:prstGeom prst="rect">
            <a:avLst/>
          </a:prstGeom>
        </p:spPr>
        <p:txBody>
          <a:bodyPr wrap="square">
            <a:spAutoFit/>
          </a:bodyPr>
          <a:lstStyle/>
          <a:p>
            <a:pPr>
              <a:lnSpc>
                <a:spcPct val="150000"/>
              </a:lnSpc>
            </a:pPr>
            <a:r>
              <a:rPr lang="en-GB" sz="2000" dirty="0"/>
              <a:t>The sun is obviously the largest external source of energy for the earth. Our planet wouldn't be inhabitable without warmth from the sun! But, did you know that the energy output from the sun isn't constant? The sun is a "variable star," which means that its brightness changes in time. When the sun emits more energy, the earth warms up a bit. When the sun emits less energy, the earth cools a bit.</a:t>
            </a:r>
          </a:p>
        </p:txBody>
      </p:sp>
      <p:sp>
        <p:nvSpPr>
          <p:cNvPr id="3" name="Rectangle 2"/>
          <p:cNvSpPr/>
          <p:nvPr/>
        </p:nvSpPr>
        <p:spPr>
          <a:xfrm>
            <a:off x="10297" y="3581400"/>
            <a:ext cx="4001423" cy="646331"/>
          </a:xfrm>
          <a:prstGeom prst="rect">
            <a:avLst/>
          </a:prstGeom>
        </p:spPr>
        <p:txBody>
          <a:bodyPr wrap="square">
            <a:spAutoFit/>
          </a:bodyPr>
          <a:lstStyle/>
          <a:p>
            <a:r>
              <a:rPr lang="en-GB" dirty="0"/>
              <a:t>S</a:t>
            </a:r>
            <a:r>
              <a:rPr lang="en-GB" dirty="0" smtClean="0"/>
              <a:t>unspots </a:t>
            </a:r>
            <a:r>
              <a:rPr lang="en-GB" dirty="0"/>
              <a:t>(dark areas) and bright spots (called faculae)</a:t>
            </a:r>
          </a:p>
        </p:txBody>
      </p:sp>
      <p:pic>
        <p:nvPicPr>
          <p:cNvPr id="1028" name="Picture 4" descr="The differing appearance of the sun during each year of Solar Cycle 23 (1996-200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3453548"/>
            <a:ext cx="4495801" cy="341681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8832" y="5791200"/>
            <a:ext cx="4561703" cy="923330"/>
          </a:xfrm>
          <a:prstGeom prst="rect">
            <a:avLst/>
          </a:prstGeom>
        </p:spPr>
        <p:txBody>
          <a:bodyPr wrap="square">
            <a:spAutoFit/>
          </a:bodyPr>
          <a:lstStyle/>
          <a:p>
            <a:r>
              <a:rPr lang="en-GB" b="1" dirty="0"/>
              <a:t>Variations in sunspots help scientists track an 11-year solar cycle, during which the sun's energy output varies.</a:t>
            </a:r>
            <a:endParaRPr lang="en-GB" dirty="0"/>
          </a:p>
        </p:txBody>
      </p:sp>
    </p:spTree>
    <p:extLst>
      <p:ext uri="{BB962C8B-B14F-4D97-AF65-F5344CB8AC3E}">
        <p14:creationId xmlns:p14="http://schemas.microsoft.com/office/powerpoint/2010/main" val="336519093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2400" y="1071265"/>
            <a:ext cx="3154838" cy="461665"/>
          </a:xfrm>
          <a:prstGeom prst="rect">
            <a:avLst/>
          </a:prstGeom>
        </p:spPr>
        <p:txBody>
          <a:bodyPr wrap="none">
            <a:spAutoFit/>
          </a:bodyPr>
          <a:lstStyle/>
          <a:p>
            <a:pPr marL="514350" indent="-514350">
              <a:buFont typeface="+mj-lt"/>
              <a:buAutoNum type="romanUcPeriod" startAt="3"/>
            </a:pPr>
            <a:r>
              <a:rPr lang="en-GB" sz="2400" b="1" dirty="0">
                <a:solidFill>
                  <a:srgbClr val="FF0000"/>
                </a:solidFill>
                <a:latin typeface="Times New Roman" pitchFamily="18" charset="0"/>
                <a:ea typeface="Times New Roman"/>
                <a:cs typeface="Times New Roman" pitchFamily="18" charset="0"/>
              </a:rPr>
              <a:t>Orbital Variability</a:t>
            </a:r>
            <a:endParaRPr lang="en-GB" sz="2400" b="1" dirty="0"/>
          </a:p>
        </p:txBody>
      </p:sp>
      <p:sp>
        <p:nvSpPr>
          <p:cNvPr id="6" name="Title 1"/>
          <p:cNvSpPr txBox="1">
            <a:spLocks/>
          </p:cNvSpPr>
          <p:nvPr/>
        </p:nvSpPr>
        <p:spPr>
          <a:xfrm>
            <a:off x="152400" y="-304800"/>
            <a:ext cx="8229600" cy="1143000"/>
          </a:xfrm>
          <a:prstGeom prst="rect">
            <a:avLst/>
          </a:prstGeom>
        </p:spPr>
        <p:txBody>
          <a:bodyPr vert="horz" lIns="91440" tIns="45720" rIns="91440" bIns="45720" rtlCol="0" anchor="ctr">
            <a:normAutofit fontScale="92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b="1" dirty="0" smtClean="0"/>
              <a:t>Chapter 2</a:t>
            </a:r>
            <a:r>
              <a:rPr lang="en-US" b="1" dirty="0"/>
              <a:t>. Drivers of climate change  </a:t>
            </a:r>
            <a:endParaRPr lang="en-US" dirty="0"/>
          </a:p>
        </p:txBody>
      </p:sp>
      <p:sp>
        <p:nvSpPr>
          <p:cNvPr id="7" name="Rectangle 6"/>
          <p:cNvSpPr/>
          <p:nvPr/>
        </p:nvSpPr>
        <p:spPr>
          <a:xfrm>
            <a:off x="0" y="609600"/>
            <a:ext cx="4843955" cy="461665"/>
          </a:xfrm>
          <a:prstGeom prst="rect">
            <a:avLst/>
          </a:prstGeom>
        </p:spPr>
        <p:txBody>
          <a:bodyPr wrap="none">
            <a:spAutoFit/>
          </a:bodyPr>
          <a:lstStyle/>
          <a:p>
            <a:pPr lvl="0"/>
            <a:r>
              <a:rPr lang="en-US" sz="2400" b="1" dirty="0" smtClean="0"/>
              <a:t>1.  Natural </a:t>
            </a:r>
            <a:r>
              <a:rPr lang="en-US" sz="2400" b="1" dirty="0"/>
              <a:t>drivers of climate change </a:t>
            </a:r>
            <a:endParaRPr lang="en-GB" sz="2400" b="1" dirty="0"/>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945" r="1245" b="6968"/>
          <a:stretch/>
        </p:blipFill>
        <p:spPr bwMode="auto">
          <a:xfrm>
            <a:off x="0" y="1488110"/>
            <a:ext cx="9069062" cy="3541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4118" y="5179874"/>
            <a:ext cx="5329881" cy="1754326"/>
          </a:xfrm>
          <a:prstGeom prst="rect">
            <a:avLst/>
          </a:prstGeom>
        </p:spPr>
        <p:txBody>
          <a:bodyPr wrap="square">
            <a:spAutoFit/>
          </a:bodyPr>
          <a:lstStyle/>
          <a:p>
            <a:r>
              <a:rPr lang="en-GB" b="1" dirty="0"/>
              <a:t>Earth</a:t>
            </a:r>
            <a:r>
              <a:rPr lang="en-GB" dirty="0"/>
              <a:t> spins </a:t>
            </a:r>
            <a:r>
              <a:rPr lang="en-GB" b="1" dirty="0"/>
              <a:t>around</a:t>
            </a:r>
            <a:r>
              <a:rPr lang="en-GB" dirty="0"/>
              <a:t> its </a:t>
            </a:r>
            <a:r>
              <a:rPr lang="en-GB" dirty="0" smtClean="0"/>
              <a:t>axis called</a:t>
            </a:r>
            <a:r>
              <a:rPr lang="en-GB" dirty="0"/>
              <a:t> </a:t>
            </a:r>
            <a:r>
              <a:rPr lang="en-GB" b="1" dirty="0"/>
              <a:t>Earth's </a:t>
            </a:r>
            <a:r>
              <a:rPr lang="en-GB" b="1" dirty="0" smtClean="0"/>
              <a:t>rotation causes day and night , one rotation =24hrs</a:t>
            </a:r>
            <a:r>
              <a:rPr lang="en-GB" dirty="0" smtClean="0"/>
              <a:t>. </a:t>
            </a:r>
            <a:r>
              <a:rPr lang="en-GB" dirty="0"/>
              <a:t>At the same time that the </a:t>
            </a:r>
            <a:r>
              <a:rPr lang="en-GB" b="1" dirty="0"/>
              <a:t>Earth</a:t>
            </a:r>
            <a:r>
              <a:rPr lang="en-GB" dirty="0"/>
              <a:t> spins on its axis, it also orbits, or revolves </a:t>
            </a:r>
            <a:r>
              <a:rPr lang="en-GB" b="1" dirty="0"/>
              <a:t>around</a:t>
            </a:r>
            <a:r>
              <a:rPr lang="en-GB" dirty="0"/>
              <a:t> the </a:t>
            </a:r>
            <a:r>
              <a:rPr lang="en-GB" b="1" dirty="0" smtClean="0"/>
              <a:t>Sun called revolution, causes seasons (summer, winter, etc.), </a:t>
            </a:r>
            <a:r>
              <a:rPr lang="en-GB" b="1" dirty="0"/>
              <a:t>one revolution </a:t>
            </a:r>
            <a:r>
              <a:rPr lang="en-GB" b="1" dirty="0" smtClean="0"/>
              <a:t>=365 days= 1yr</a:t>
            </a:r>
            <a:endParaRPr lang="en-GB" dirty="0"/>
          </a:p>
        </p:txBody>
      </p:sp>
      <p:pic>
        <p:nvPicPr>
          <p:cNvPr id="2052" name="Picture 4" descr="Spacepedia | Solar System Scop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853" y="4688174"/>
            <a:ext cx="3506209" cy="216982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ow many planets are there in the Solar System? - YouTub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36625" y="533400"/>
            <a:ext cx="1832437" cy="1374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897617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1071265"/>
            <a:ext cx="6523004" cy="461665"/>
          </a:xfrm>
          <a:prstGeom prst="rect">
            <a:avLst/>
          </a:prstGeom>
        </p:spPr>
        <p:txBody>
          <a:bodyPr wrap="none">
            <a:spAutoFit/>
          </a:bodyPr>
          <a:lstStyle/>
          <a:p>
            <a:pPr marL="514350" indent="-514350">
              <a:buFont typeface="+mj-lt"/>
              <a:buAutoNum type="romanUcPeriod" startAt="4"/>
            </a:pPr>
            <a:r>
              <a:rPr lang="en-GB" sz="2400" b="1" dirty="0" smtClean="0">
                <a:solidFill>
                  <a:srgbClr val="FF0000"/>
                </a:solidFill>
                <a:latin typeface="Times New Roman" pitchFamily="18" charset="0"/>
                <a:ea typeface="Times New Roman"/>
                <a:cs typeface="Times New Roman" pitchFamily="18" charset="0"/>
              </a:rPr>
              <a:t>Circulation </a:t>
            </a:r>
            <a:r>
              <a:rPr lang="en-GB" sz="2400" b="1" dirty="0">
                <a:solidFill>
                  <a:srgbClr val="FF0000"/>
                </a:solidFill>
                <a:latin typeface="Times New Roman" pitchFamily="18" charset="0"/>
                <a:ea typeface="Times New Roman"/>
                <a:cs typeface="Times New Roman" pitchFamily="18" charset="0"/>
              </a:rPr>
              <a:t>of the ocean and the atmosphere</a:t>
            </a:r>
            <a:endParaRPr lang="en-GB" sz="2400" b="1" dirty="0"/>
          </a:p>
        </p:txBody>
      </p:sp>
      <p:sp>
        <p:nvSpPr>
          <p:cNvPr id="5" name="Title 1"/>
          <p:cNvSpPr txBox="1">
            <a:spLocks/>
          </p:cNvSpPr>
          <p:nvPr/>
        </p:nvSpPr>
        <p:spPr>
          <a:xfrm>
            <a:off x="152400" y="-304800"/>
            <a:ext cx="8229600" cy="1143000"/>
          </a:xfrm>
          <a:prstGeom prst="rect">
            <a:avLst/>
          </a:prstGeom>
        </p:spPr>
        <p:txBody>
          <a:bodyPr vert="horz" lIns="91440" tIns="45720" rIns="91440" bIns="45720" rtlCol="0" anchor="ctr">
            <a:normAutofit fontScale="92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b="1" dirty="0" smtClean="0"/>
              <a:t>Chapter 2</a:t>
            </a:r>
            <a:r>
              <a:rPr lang="en-US" b="1" dirty="0"/>
              <a:t>. Drivers of climate change  </a:t>
            </a:r>
            <a:endParaRPr lang="en-US" dirty="0"/>
          </a:p>
        </p:txBody>
      </p:sp>
      <p:sp>
        <p:nvSpPr>
          <p:cNvPr id="6" name="Rectangle 5"/>
          <p:cNvSpPr/>
          <p:nvPr/>
        </p:nvSpPr>
        <p:spPr>
          <a:xfrm>
            <a:off x="0" y="609600"/>
            <a:ext cx="4843955" cy="461665"/>
          </a:xfrm>
          <a:prstGeom prst="rect">
            <a:avLst/>
          </a:prstGeom>
        </p:spPr>
        <p:txBody>
          <a:bodyPr wrap="none">
            <a:spAutoFit/>
          </a:bodyPr>
          <a:lstStyle/>
          <a:p>
            <a:pPr lvl="0"/>
            <a:r>
              <a:rPr lang="en-US" sz="2400" b="1" dirty="0" smtClean="0"/>
              <a:t>1.  Natural </a:t>
            </a:r>
            <a:r>
              <a:rPr lang="en-US" sz="2400" b="1" dirty="0"/>
              <a:t>drivers of climate change </a:t>
            </a:r>
            <a:endParaRPr lang="en-GB" sz="2400" b="1" dirty="0"/>
          </a:p>
        </p:txBody>
      </p:sp>
      <p:sp>
        <p:nvSpPr>
          <p:cNvPr id="2" name="Rectangle 1"/>
          <p:cNvSpPr/>
          <p:nvPr/>
        </p:nvSpPr>
        <p:spPr>
          <a:xfrm>
            <a:off x="16476" y="1371600"/>
            <a:ext cx="9127524" cy="2862322"/>
          </a:xfrm>
          <a:prstGeom prst="rect">
            <a:avLst/>
          </a:prstGeom>
        </p:spPr>
        <p:txBody>
          <a:bodyPr wrap="square">
            <a:spAutoFit/>
          </a:bodyPr>
          <a:lstStyle/>
          <a:p>
            <a:pPr>
              <a:lnSpc>
                <a:spcPct val="150000"/>
              </a:lnSpc>
            </a:pPr>
            <a:r>
              <a:rPr lang="en-GB" sz="2000" dirty="0"/>
              <a:t>Large ocean currents speed up and slow down over time, and various portions of the oceans have their own warming and cooling cycles</a:t>
            </a:r>
            <a:r>
              <a:rPr lang="en-GB" sz="2000" dirty="0" smtClean="0"/>
              <a:t>. </a:t>
            </a:r>
            <a:r>
              <a:rPr lang="en-GB" sz="2000" dirty="0"/>
              <a:t> Because the oceans exchange moisture and energy with the atmosphere, these ocean cycles can affect the atmosphere, </a:t>
            </a:r>
            <a:r>
              <a:rPr lang="en-GB" sz="2000" dirty="0" smtClean="0"/>
              <a:t>too</a:t>
            </a:r>
            <a:r>
              <a:rPr lang="en-GB" sz="2000" dirty="0"/>
              <a:t>. Natural climate variability namely, El Niño-Southern Oscillation (ENSO) from tropical pacific Ocean, </a:t>
            </a:r>
            <a:r>
              <a:rPr lang="en-GB" sz="2000" dirty="0" smtClean="0"/>
              <a:t>has </a:t>
            </a:r>
            <a:r>
              <a:rPr lang="en-GB" sz="2000" dirty="0"/>
              <a:t>two episodes the cooling and warming in the central/eastern equatorial Pacific Ocean, which is La Niña and El Niño, respectively. </a:t>
            </a:r>
          </a:p>
        </p:txBody>
      </p:sp>
      <p:grpSp>
        <p:nvGrpSpPr>
          <p:cNvPr id="8" name="Group 8"/>
          <p:cNvGrpSpPr>
            <a:grpSpLocks/>
          </p:cNvGrpSpPr>
          <p:nvPr/>
        </p:nvGrpSpPr>
        <p:grpSpPr bwMode="auto">
          <a:xfrm>
            <a:off x="4495800" y="4168346"/>
            <a:ext cx="4541093" cy="2613454"/>
            <a:chOff x="6500553" y="1323353"/>
            <a:chExt cx="5665120" cy="3122094"/>
          </a:xfrm>
        </p:grpSpPr>
        <p:grpSp>
          <p:nvGrpSpPr>
            <p:cNvPr id="9" name="Group 9"/>
            <p:cNvGrpSpPr>
              <a:grpSpLocks/>
            </p:cNvGrpSpPr>
            <p:nvPr/>
          </p:nvGrpSpPr>
          <p:grpSpPr bwMode="auto">
            <a:xfrm>
              <a:off x="6500553" y="1323353"/>
              <a:ext cx="5665120" cy="3122094"/>
              <a:chOff x="6500553" y="1323353"/>
              <a:chExt cx="5665120" cy="3122094"/>
            </a:xfrm>
          </p:grpSpPr>
          <p:grpSp>
            <p:nvGrpSpPr>
              <p:cNvPr id="11" name="Group 11"/>
              <p:cNvGrpSpPr>
                <a:grpSpLocks/>
              </p:cNvGrpSpPr>
              <p:nvPr/>
            </p:nvGrpSpPr>
            <p:grpSpPr bwMode="auto">
              <a:xfrm>
                <a:off x="6500553" y="1323353"/>
                <a:ext cx="5665120" cy="3122094"/>
                <a:chOff x="6349536" y="1323353"/>
                <a:chExt cx="5832763" cy="2974327"/>
              </a:xfrm>
            </p:grpSpPr>
            <p:grpSp>
              <p:nvGrpSpPr>
                <p:cNvPr id="13" name="Group 13"/>
                <p:cNvGrpSpPr>
                  <a:grpSpLocks/>
                </p:cNvGrpSpPr>
                <p:nvPr/>
              </p:nvGrpSpPr>
              <p:grpSpPr bwMode="auto">
                <a:xfrm>
                  <a:off x="6349536" y="1323353"/>
                  <a:ext cx="5832763" cy="2974327"/>
                  <a:chOff x="6349536" y="1323353"/>
                  <a:chExt cx="5832763" cy="2974327"/>
                </a:xfrm>
              </p:grpSpPr>
              <p:pic>
                <p:nvPicPr>
                  <p:cNvPr id="15" name="Picture 15" descr="C:\Users\yitea\Desktop\image1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49536" y="1323353"/>
                    <a:ext cx="5832763" cy="2974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2" descr="https://whethertheweatherbefine.files.wordpress.com/2016/01/el-nino.jpg"/>
                  <p:cNvPicPr>
                    <a:picLocks noChangeAspect="1" noChangeArrowheads="1"/>
                  </p:cNvPicPr>
                  <p:nvPr/>
                </p:nvPicPr>
                <p:blipFill>
                  <a:blip r:embed="rId3" cstate="print">
                    <a:extLst>
                      <a:ext uri="{28A0092B-C50C-407E-A947-70E740481C1C}">
                        <a14:useLocalDpi xmlns:a14="http://schemas.microsoft.com/office/drawing/2010/main" val="0"/>
                      </a:ext>
                    </a:extLst>
                  </a:blip>
                  <a:srcRect l="22855" t="13319" r="16316" b="53410"/>
                  <a:stretch>
                    <a:fillRect/>
                  </a:stretch>
                </p:blipFill>
                <p:spPr bwMode="auto">
                  <a:xfrm>
                    <a:off x="6723152" y="3529643"/>
                    <a:ext cx="1215503" cy="502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2" descr="https://whethertheweatherbefine.files.wordpress.com/2016/01/el-nino.jpg"/>
                  <p:cNvPicPr>
                    <a:picLocks noChangeAspect="1" noChangeArrowheads="1"/>
                  </p:cNvPicPr>
                  <p:nvPr/>
                </p:nvPicPr>
                <p:blipFill>
                  <a:blip r:embed="rId4" cstate="print">
                    <a:extLst>
                      <a:ext uri="{28A0092B-C50C-407E-A947-70E740481C1C}">
                        <a14:useLocalDpi xmlns:a14="http://schemas.microsoft.com/office/drawing/2010/main" val="0"/>
                      </a:ext>
                    </a:extLst>
                  </a:blip>
                  <a:srcRect l="21870" t="70070" r="16919" b="1796"/>
                  <a:stretch>
                    <a:fillRect/>
                  </a:stretch>
                </p:blipFill>
                <p:spPr bwMode="auto">
                  <a:xfrm>
                    <a:off x="8029798" y="3167149"/>
                    <a:ext cx="1512747" cy="525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18"/>
                  <p:cNvSpPr>
                    <a:spLocks noChangeArrowheads="1"/>
                  </p:cNvSpPr>
                  <p:nvPr/>
                </p:nvSpPr>
                <p:spPr bwMode="auto">
                  <a:xfrm>
                    <a:off x="6854573" y="3766134"/>
                    <a:ext cx="889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en-US">
                        <a:latin typeface="Times New Roman" pitchFamily="18" charset="0"/>
                        <a:cs typeface="Times New Roman" pitchFamily="18" charset="0"/>
                      </a:rPr>
                      <a:t>Normal</a:t>
                    </a:r>
                    <a:endParaRPr lang="en-US" altLang="en-US"/>
                  </a:p>
                </p:txBody>
              </p:sp>
            </p:grpSp>
            <p:sp>
              <p:nvSpPr>
                <p:cNvPr id="14" name="Rectangle 14"/>
                <p:cNvSpPr>
                  <a:spLocks noChangeArrowheads="1"/>
                </p:cNvSpPr>
                <p:nvPr/>
              </p:nvSpPr>
              <p:spPr bwMode="auto">
                <a:xfrm>
                  <a:off x="8320718" y="3411515"/>
                  <a:ext cx="9092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en-US" dirty="0">
                      <a:latin typeface="Times New Roman" pitchFamily="18" charset="0"/>
                      <a:cs typeface="Times New Roman" pitchFamily="18" charset="0"/>
                    </a:rPr>
                    <a:t>El Niño</a:t>
                  </a:r>
                  <a:endParaRPr lang="en-US" altLang="en-US" dirty="0"/>
                </a:p>
              </p:txBody>
            </p:sp>
          </p:grpSp>
          <p:sp>
            <p:nvSpPr>
              <p:cNvPr id="12" name="Oval 11"/>
              <p:cNvSpPr/>
              <p:nvPr/>
            </p:nvSpPr>
            <p:spPr>
              <a:xfrm>
                <a:off x="10050793" y="2285457"/>
                <a:ext cx="297932" cy="466146"/>
              </a:xfrm>
              <a:prstGeom prst="ellipse">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anchor="ctr"/>
              <a:lstStyle/>
              <a:p>
                <a:pPr algn="ctr" eaLnBrk="1" fontAlgn="auto" hangingPunct="1">
                  <a:spcBef>
                    <a:spcPts val="0"/>
                  </a:spcBef>
                  <a:spcAft>
                    <a:spcPts val="0"/>
                  </a:spcAft>
                  <a:defRPr/>
                </a:pPr>
                <a:endParaRPr lang="en-US"/>
              </a:p>
            </p:txBody>
          </p:sp>
        </p:grpSp>
        <p:cxnSp>
          <p:nvCxnSpPr>
            <p:cNvPr id="10" name="Straight Connector 9"/>
            <p:cNvCxnSpPr/>
            <p:nvPr/>
          </p:nvCxnSpPr>
          <p:spPr>
            <a:xfrm>
              <a:off x="6816098" y="2775994"/>
              <a:ext cx="5329028" cy="0"/>
            </a:xfrm>
            <a:prstGeom prst="line">
              <a:avLst/>
            </a:prstGeom>
          </p:spPr>
          <p:style>
            <a:lnRef idx="1">
              <a:schemeClr val="accent5"/>
            </a:lnRef>
            <a:fillRef idx="0">
              <a:schemeClr val="accent5"/>
            </a:fillRef>
            <a:effectRef idx="0">
              <a:schemeClr val="accent5"/>
            </a:effectRef>
            <a:fontRef idx="minor">
              <a:schemeClr val="tx1"/>
            </a:fontRef>
          </p:style>
        </p:cxnSp>
      </p:grpSp>
      <p:sp>
        <p:nvSpPr>
          <p:cNvPr id="3" name="Rectangle 2"/>
          <p:cNvSpPr/>
          <p:nvPr/>
        </p:nvSpPr>
        <p:spPr>
          <a:xfrm>
            <a:off x="18535" y="4320911"/>
            <a:ext cx="4304733" cy="2308324"/>
          </a:xfrm>
          <a:prstGeom prst="rect">
            <a:avLst/>
          </a:prstGeom>
        </p:spPr>
        <p:txBody>
          <a:bodyPr wrap="square">
            <a:spAutoFit/>
          </a:bodyPr>
          <a:lstStyle/>
          <a:p>
            <a:r>
              <a:rPr lang="en-GB" dirty="0" smtClean="0"/>
              <a:t>These </a:t>
            </a:r>
            <a:r>
              <a:rPr lang="en-GB" dirty="0"/>
              <a:t>cyclic processes of ENSO that involves Ocean surface temperature fluctuation between western and eastern equatorial Pacific along variations in the atmospheric circulation have become a leading source of inter-annual climate variability worldwide, which causes drought in one place and flood in </a:t>
            </a:r>
            <a:r>
              <a:rPr lang="en-GB" dirty="0" smtClean="0"/>
              <a:t>another.  </a:t>
            </a:r>
            <a:endParaRPr lang="en-GB" dirty="0"/>
          </a:p>
        </p:txBody>
      </p:sp>
    </p:spTree>
    <p:extLst>
      <p:ext uri="{BB962C8B-B14F-4D97-AF65-F5344CB8AC3E}">
        <p14:creationId xmlns:p14="http://schemas.microsoft.com/office/powerpoint/2010/main" val="229989056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33400" y="762000"/>
            <a:ext cx="3584123" cy="369332"/>
          </a:xfrm>
          <a:prstGeom prst="rect">
            <a:avLst/>
          </a:prstGeom>
        </p:spPr>
        <p:txBody>
          <a:bodyPr wrap="none">
            <a:spAutoFit/>
          </a:bodyPr>
          <a:lstStyle/>
          <a:p>
            <a:r>
              <a:rPr lang="en-GB" dirty="0"/>
              <a:t>El Niño-Southern Oscillation (ENSO) </a:t>
            </a:r>
          </a:p>
        </p:txBody>
      </p:sp>
      <p:pic>
        <p:nvPicPr>
          <p:cNvPr id="1026" name="Picture 2" descr="Trade winds | Atmospheric circulation, Weather science, Meteorolog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799070"/>
            <a:ext cx="6805668" cy="5682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601669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52400" y="-304800"/>
            <a:ext cx="8229600" cy="1143000"/>
          </a:xfrm>
          <a:prstGeom prst="rect">
            <a:avLst/>
          </a:prstGeom>
        </p:spPr>
        <p:txBody>
          <a:bodyPr vert="horz" lIns="91440" tIns="45720" rIns="91440" bIns="45720" rtlCol="0" anchor="ctr">
            <a:normAutofit fontScale="92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b="1" dirty="0" smtClean="0"/>
              <a:t>Chapter 2</a:t>
            </a:r>
            <a:r>
              <a:rPr lang="en-US" b="1" dirty="0"/>
              <a:t>. Drivers of climate </a:t>
            </a:r>
            <a:r>
              <a:rPr lang="en-US" b="1" dirty="0" smtClean="0"/>
              <a:t>change </a:t>
            </a:r>
            <a:endParaRPr lang="en-US" dirty="0"/>
          </a:p>
        </p:txBody>
      </p:sp>
      <p:sp>
        <p:nvSpPr>
          <p:cNvPr id="5" name="Rectangle 4"/>
          <p:cNvSpPr/>
          <p:nvPr/>
        </p:nvSpPr>
        <p:spPr>
          <a:xfrm>
            <a:off x="0" y="533400"/>
            <a:ext cx="5709192" cy="461665"/>
          </a:xfrm>
          <a:prstGeom prst="rect">
            <a:avLst/>
          </a:prstGeom>
        </p:spPr>
        <p:txBody>
          <a:bodyPr wrap="none">
            <a:spAutoFit/>
          </a:bodyPr>
          <a:lstStyle/>
          <a:p>
            <a:pPr lvl="0"/>
            <a:r>
              <a:rPr lang="en-US" sz="2400" b="1" dirty="0"/>
              <a:t>2</a:t>
            </a:r>
            <a:r>
              <a:rPr lang="en-US" sz="2400" b="1" dirty="0" smtClean="0"/>
              <a:t>. </a:t>
            </a:r>
            <a:r>
              <a:rPr lang="en-US" sz="2400" b="1" dirty="0"/>
              <a:t>Anthropogenic drivers of climate change </a:t>
            </a:r>
            <a:endParaRPr lang="en-GB" sz="2400" b="1" dirty="0"/>
          </a:p>
        </p:txBody>
      </p:sp>
      <p:sp>
        <p:nvSpPr>
          <p:cNvPr id="3" name="Rectangle 2"/>
          <p:cNvSpPr/>
          <p:nvPr/>
        </p:nvSpPr>
        <p:spPr>
          <a:xfrm>
            <a:off x="0" y="838200"/>
            <a:ext cx="9144000" cy="6093976"/>
          </a:xfrm>
          <a:prstGeom prst="rect">
            <a:avLst/>
          </a:prstGeom>
        </p:spPr>
        <p:txBody>
          <a:bodyPr wrap="square">
            <a:spAutoFit/>
          </a:bodyPr>
          <a:lstStyle/>
          <a:p>
            <a:pPr>
              <a:lnSpc>
                <a:spcPct val="150000"/>
              </a:lnSpc>
            </a:pPr>
            <a:r>
              <a:rPr lang="en-GB" sz="2000" dirty="0"/>
              <a:t>Enhanced greenhouse effect is considered the result of human activities that have increased atmospheric concentrations of greenhouse gases and aerosols since the pre-industrial era (since about 1750). </a:t>
            </a:r>
            <a:r>
              <a:rPr lang="en-GB" sz="2000" dirty="0" smtClean="0"/>
              <a:t> </a:t>
            </a:r>
            <a:r>
              <a:rPr lang="en-GB" sz="2000" dirty="0"/>
              <a:t>The atmospheric concentrations of key greenhouse gases include carbon dioxide (CO2), methane (CH4), nitrous oxide (N2O) and ozone (O3</a:t>
            </a:r>
            <a:r>
              <a:rPr lang="en-GB" sz="2000" dirty="0" smtClean="0"/>
              <a:t>). Besides to </a:t>
            </a:r>
            <a:r>
              <a:rPr lang="en-US" sz="2000" dirty="0"/>
              <a:t>the halocarbons (a group of gases containing fluorine, chlorine and bromine</a:t>
            </a:r>
            <a:r>
              <a:rPr lang="en-US" sz="2000" dirty="0" smtClean="0"/>
              <a:t>) GHGs.</a:t>
            </a:r>
            <a:r>
              <a:rPr lang="en-GB" sz="2000" dirty="0" smtClean="0"/>
              <a:t> </a:t>
            </a:r>
            <a:r>
              <a:rPr lang="en-GB" sz="2000" dirty="0"/>
              <a:t>They reached their highest recorded levels in the 1990s, primarily due to the combustion of fossil fuels, agriculture, and land-use changes. </a:t>
            </a:r>
            <a:r>
              <a:rPr lang="en-US" sz="2000" dirty="0" smtClean="0"/>
              <a:t>Human </a:t>
            </a:r>
            <a:r>
              <a:rPr lang="en-US" sz="2000" dirty="0"/>
              <a:t>causes </a:t>
            </a:r>
            <a:r>
              <a:rPr lang="en-US" sz="2000" dirty="0" smtClean="0"/>
              <a:t>of climate change includes, </a:t>
            </a:r>
            <a:r>
              <a:rPr lang="en-US" sz="2000" dirty="0"/>
              <a:t>technological development, industrialization, growth of energy consumption,  burning fossil fuels, cutting down forests, and developing land for farms, cities, and roads. These activities all release greenhouse gases into the </a:t>
            </a:r>
            <a:r>
              <a:rPr lang="en-US" sz="2000" dirty="0" smtClean="0"/>
              <a:t>atmosphere that trap outgoing long wave radiation and increase the global temperature (global warming). The </a:t>
            </a:r>
            <a:r>
              <a:rPr lang="en-US" sz="2000" dirty="0"/>
              <a:t>consumption of fossil fuels (energy production, fuel for vehicles, home heating, and industry) is by far the most incriminating factor.  </a:t>
            </a:r>
            <a:endParaRPr lang="en-US" sz="2000" dirty="0" smtClean="0"/>
          </a:p>
        </p:txBody>
      </p:sp>
    </p:spTree>
    <p:extLst>
      <p:ext uri="{BB962C8B-B14F-4D97-AF65-F5344CB8AC3E}">
        <p14:creationId xmlns:p14="http://schemas.microsoft.com/office/powerpoint/2010/main" val="258900618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590800"/>
            <a:ext cx="9220200" cy="4247317"/>
          </a:xfrm>
          <a:prstGeom prst="rect">
            <a:avLst/>
          </a:prstGeom>
        </p:spPr>
        <p:txBody>
          <a:bodyPr wrap="square">
            <a:spAutoFit/>
          </a:bodyPr>
          <a:lstStyle/>
          <a:p>
            <a:pPr marL="857250" lvl="1" indent="-400050">
              <a:buFont typeface="+mj-lt"/>
              <a:buAutoNum type="romanUcPeriod"/>
            </a:pPr>
            <a:r>
              <a:rPr lang="en-US" b="1" dirty="0" smtClean="0"/>
              <a:t>Technological </a:t>
            </a:r>
            <a:r>
              <a:rPr lang="en-US" b="1" dirty="0"/>
              <a:t>development and transportation</a:t>
            </a:r>
            <a:endParaRPr lang="en-GB" sz="1600" b="1" dirty="0"/>
          </a:p>
          <a:p>
            <a:pPr>
              <a:lnSpc>
                <a:spcPct val="150000"/>
              </a:lnSpc>
            </a:pPr>
            <a:r>
              <a:rPr lang="en-GB" sz="2000" dirty="0"/>
              <a:t>Technological advances, particularly the discovery and use of fossil fuels, have contributed to climate change - but they have also allowed humanity to become aware of our impact on the planet and develop techniques to address global warming. </a:t>
            </a:r>
            <a:r>
              <a:rPr lang="en-GB" sz="2000" dirty="0" smtClean="0"/>
              <a:t>Especially</a:t>
            </a:r>
            <a:r>
              <a:rPr lang="en-US" sz="2000" dirty="0" smtClean="0"/>
              <a:t>,  Energy and transportation </a:t>
            </a:r>
            <a:r>
              <a:rPr lang="en-GB" sz="2000" dirty="0" smtClean="0"/>
              <a:t>Technological </a:t>
            </a:r>
            <a:r>
              <a:rPr lang="en-GB" sz="2000" dirty="0"/>
              <a:t>progress </a:t>
            </a:r>
            <a:r>
              <a:rPr lang="en-GB" sz="2000" dirty="0" smtClean="0"/>
              <a:t>have </a:t>
            </a:r>
            <a:r>
              <a:rPr lang="en-GB" sz="2000" dirty="0"/>
              <a:t>received more and more attention as a key factor that affects carbon emissions. </a:t>
            </a:r>
            <a:r>
              <a:rPr lang="en-GB" sz="2000" dirty="0" smtClean="0"/>
              <a:t>There </a:t>
            </a:r>
            <a:r>
              <a:rPr lang="en-GB" sz="2000" dirty="0"/>
              <a:t>is no doubt that energy consumption is the most direct source of carbon </a:t>
            </a:r>
            <a:r>
              <a:rPr lang="en-GB" sz="2000" dirty="0" smtClean="0"/>
              <a:t>emissions, </a:t>
            </a:r>
            <a:r>
              <a:rPr lang="en-GB" sz="2000" dirty="0"/>
              <a:t>so technological progress in the energy sector can more directly affect carbon emissions. </a:t>
            </a:r>
            <a:r>
              <a:rPr lang="en-GB" sz="1200" dirty="0"/>
              <a:t>Technology Improvement and New Technology- related </a:t>
            </a:r>
            <a:r>
              <a:rPr lang="en-GB" sz="1200" dirty="0" smtClean="0"/>
              <a:t>practice can </a:t>
            </a:r>
            <a:r>
              <a:rPr lang="en-GB" sz="1200" dirty="0"/>
              <a:t>make substantial contributions to climate change </a:t>
            </a:r>
            <a:r>
              <a:rPr lang="en-GB" sz="1200" dirty="0" smtClean="0"/>
              <a:t>mitigation in </a:t>
            </a:r>
            <a:r>
              <a:rPr lang="en-GB" sz="1200" dirty="0"/>
              <a:t>transport </a:t>
            </a:r>
            <a:r>
              <a:rPr lang="en-GB" sz="1200" dirty="0" smtClean="0"/>
              <a:t>sector </a:t>
            </a:r>
            <a:r>
              <a:rPr lang="en-GB" sz="1400" dirty="0" smtClean="0"/>
              <a:t>• </a:t>
            </a:r>
            <a:r>
              <a:rPr lang="en-GB" sz="1400" dirty="0"/>
              <a:t>Design of new engines and vehicles ( fuel economy </a:t>
            </a:r>
            <a:r>
              <a:rPr lang="en-GB" sz="1400" dirty="0" smtClean="0"/>
              <a:t>) • </a:t>
            </a:r>
            <a:r>
              <a:rPr lang="en-GB" sz="1400" dirty="0"/>
              <a:t>New Fuels and </a:t>
            </a:r>
            <a:r>
              <a:rPr lang="en-GB" sz="1400" dirty="0" smtClean="0"/>
              <a:t> Alternative </a:t>
            </a:r>
            <a:r>
              <a:rPr lang="en-GB" sz="1400" dirty="0"/>
              <a:t>energy </a:t>
            </a:r>
            <a:r>
              <a:rPr lang="en-GB" sz="1400" dirty="0" smtClean="0"/>
              <a:t>sources • </a:t>
            </a:r>
            <a:r>
              <a:rPr lang="en-GB" sz="1400" dirty="0" err="1"/>
              <a:t>Telecomunication</a:t>
            </a:r>
            <a:r>
              <a:rPr lang="en-GB" sz="1400" dirty="0"/>
              <a:t> </a:t>
            </a:r>
            <a:r>
              <a:rPr lang="en-GB" sz="1400" dirty="0" smtClean="0"/>
              <a:t>facilities</a:t>
            </a:r>
            <a:endParaRPr lang="en-US" dirty="0"/>
          </a:p>
        </p:txBody>
      </p:sp>
      <p:sp>
        <p:nvSpPr>
          <p:cNvPr id="2" name="Rectangle 1"/>
          <p:cNvSpPr/>
          <p:nvPr/>
        </p:nvSpPr>
        <p:spPr>
          <a:xfrm>
            <a:off x="0" y="914400"/>
            <a:ext cx="9144000" cy="1754326"/>
          </a:xfrm>
          <a:prstGeom prst="rect">
            <a:avLst/>
          </a:prstGeom>
        </p:spPr>
        <p:txBody>
          <a:bodyPr wrap="square">
            <a:spAutoFit/>
          </a:bodyPr>
          <a:lstStyle/>
          <a:p>
            <a:pPr>
              <a:lnSpc>
                <a:spcPct val="150000"/>
              </a:lnSpc>
            </a:pPr>
            <a:r>
              <a:rPr lang="en-US" dirty="0"/>
              <a:t>Some amount of greenhouse gases is necessary for life to exist on Earth—they trap heat in the atmosphere, keeping the planet warm and in a state of equilibrium. But excess of GHGs  in the atmosphere as human activities (such as the combustion of fossil fuels), resulting in a shift in the Earth’s equilibrium.</a:t>
            </a:r>
            <a:endParaRPr lang="en-GB" dirty="0"/>
          </a:p>
        </p:txBody>
      </p:sp>
      <p:sp>
        <p:nvSpPr>
          <p:cNvPr id="5" name="Title 1"/>
          <p:cNvSpPr txBox="1">
            <a:spLocks/>
          </p:cNvSpPr>
          <p:nvPr/>
        </p:nvSpPr>
        <p:spPr>
          <a:xfrm>
            <a:off x="152400" y="-304800"/>
            <a:ext cx="8229600" cy="1143000"/>
          </a:xfrm>
          <a:prstGeom prst="rect">
            <a:avLst/>
          </a:prstGeom>
        </p:spPr>
        <p:txBody>
          <a:bodyPr vert="horz" lIns="91440" tIns="45720" rIns="91440" bIns="45720" rtlCol="0" anchor="ctr">
            <a:normAutofit fontScale="92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b="1" dirty="0" smtClean="0"/>
              <a:t>Chapter 2</a:t>
            </a:r>
            <a:r>
              <a:rPr lang="en-US" b="1" dirty="0"/>
              <a:t>. Drivers of climate </a:t>
            </a:r>
            <a:r>
              <a:rPr lang="en-US" b="1" dirty="0" smtClean="0"/>
              <a:t>change </a:t>
            </a:r>
            <a:endParaRPr lang="en-US" dirty="0"/>
          </a:p>
        </p:txBody>
      </p:sp>
      <p:sp>
        <p:nvSpPr>
          <p:cNvPr id="6" name="Rectangle 5"/>
          <p:cNvSpPr/>
          <p:nvPr/>
        </p:nvSpPr>
        <p:spPr>
          <a:xfrm>
            <a:off x="0" y="533400"/>
            <a:ext cx="5709192" cy="461665"/>
          </a:xfrm>
          <a:prstGeom prst="rect">
            <a:avLst/>
          </a:prstGeom>
        </p:spPr>
        <p:txBody>
          <a:bodyPr wrap="none">
            <a:spAutoFit/>
          </a:bodyPr>
          <a:lstStyle/>
          <a:p>
            <a:pPr lvl="0"/>
            <a:r>
              <a:rPr lang="en-US" sz="2400" b="1" dirty="0"/>
              <a:t>2</a:t>
            </a:r>
            <a:r>
              <a:rPr lang="en-US" sz="2400" b="1" dirty="0" smtClean="0"/>
              <a:t>. </a:t>
            </a:r>
            <a:r>
              <a:rPr lang="en-US" sz="2400" b="1" dirty="0"/>
              <a:t>Anthropogenic drivers of climate change </a:t>
            </a:r>
            <a:endParaRPr lang="en-GB" sz="2400" b="1" dirty="0"/>
          </a:p>
        </p:txBody>
      </p:sp>
    </p:spTree>
    <p:extLst>
      <p:ext uri="{BB962C8B-B14F-4D97-AF65-F5344CB8AC3E}">
        <p14:creationId xmlns:p14="http://schemas.microsoft.com/office/powerpoint/2010/main" val="244487604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070" y="1331655"/>
            <a:ext cx="9030730" cy="2554545"/>
          </a:xfrm>
          <a:prstGeom prst="rect">
            <a:avLst/>
          </a:prstGeom>
        </p:spPr>
        <p:txBody>
          <a:bodyPr wrap="square">
            <a:spAutoFit/>
          </a:bodyPr>
          <a:lstStyle/>
          <a:p>
            <a:r>
              <a:rPr lang="en-GB" sz="2000" dirty="0"/>
              <a:t>Transportation is the fastest growing major contributor to global climate change,</a:t>
            </a:r>
          </a:p>
          <a:p>
            <a:r>
              <a:rPr lang="en-GB" sz="2000" dirty="0"/>
              <a:t>accounting for 23% of energy-related carbon dioxide (CO2) emissions. </a:t>
            </a:r>
            <a:endParaRPr lang="en-US" sz="2000" dirty="0"/>
          </a:p>
          <a:p>
            <a:r>
              <a:rPr lang="en-GB" sz="2000" dirty="0"/>
              <a:t>Transport emissions </a:t>
            </a:r>
            <a:r>
              <a:rPr lang="en-GB" sz="2000" dirty="0" smtClean="0"/>
              <a:t> </a:t>
            </a:r>
            <a:r>
              <a:rPr lang="en-GB" sz="2000" dirty="0"/>
              <a:t>which primarily involve road, rail, air and marine transportation </a:t>
            </a:r>
            <a:r>
              <a:rPr lang="en-GB" sz="2000" dirty="0" smtClean="0"/>
              <a:t> </a:t>
            </a:r>
            <a:r>
              <a:rPr lang="en-GB" sz="2000" dirty="0"/>
              <a:t>accounted for </a:t>
            </a:r>
            <a:r>
              <a:rPr lang="en-GB" sz="2000" dirty="0">
                <a:hlinkClick r:id="rId2"/>
              </a:rPr>
              <a:t>over 24% of global CO2 emissions</a:t>
            </a:r>
            <a:r>
              <a:rPr lang="en-GB" sz="2000" dirty="0"/>
              <a:t> in 2016. They're also expected to grow at a faster rate than that from any other sector, posing a major challenge to efforts to reduce emissions </a:t>
            </a:r>
            <a:r>
              <a:rPr lang="en-GB" sz="2000" dirty="0" smtClean="0"/>
              <a:t>. </a:t>
            </a:r>
            <a:r>
              <a:rPr lang="en-US" sz="2000" dirty="0" smtClean="0"/>
              <a:t>Climate </a:t>
            </a:r>
            <a:r>
              <a:rPr lang="en-US" sz="2000" dirty="0"/>
              <a:t>change is likely to have more impact on the future of surface transportation than </a:t>
            </a:r>
            <a:r>
              <a:rPr lang="en-US" sz="2000" dirty="0" smtClean="0"/>
              <a:t>any other issue due to the </a:t>
            </a:r>
            <a:r>
              <a:rPr lang="en-US" sz="2000" dirty="0"/>
              <a:t>mobility needs of a growing population in a global </a:t>
            </a:r>
            <a:r>
              <a:rPr lang="en-US" sz="2000" dirty="0" smtClean="0"/>
              <a:t>economy.</a:t>
            </a:r>
            <a:endParaRPr lang="en-GB" sz="2000" dirty="0"/>
          </a:p>
        </p:txBody>
      </p:sp>
      <p:sp>
        <p:nvSpPr>
          <p:cNvPr id="5" name="Title 1"/>
          <p:cNvSpPr txBox="1">
            <a:spLocks/>
          </p:cNvSpPr>
          <p:nvPr/>
        </p:nvSpPr>
        <p:spPr>
          <a:xfrm>
            <a:off x="152400" y="-304800"/>
            <a:ext cx="8229600" cy="1143000"/>
          </a:xfrm>
          <a:prstGeom prst="rect">
            <a:avLst/>
          </a:prstGeom>
        </p:spPr>
        <p:txBody>
          <a:bodyPr vert="horz" lIns="91440" tIns="45720" rIns="91440" bIns="45720" rtlCol="0" anchor="ctr">
            <a:normAutofit fontScale="92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b="1" dirty="0" smtClean="0"/>
              <a:t>Chapter 2</a:t>
            </a:r>
            <a:r>
              <a:rPr lang="en-US" b="1" dirty="0"/>
              <a:t>. Drivers of climate </a:t>
            </a:r>
            <a:r>
              <a:rPr lang="en-US" b="1" dirty="0" smtClean="0"/>
              <a:t>change </a:t>
            </a:r>
            <a:endParaRPr lang="en-US" dirty="0"/>
          </a:p>
        </p:txBody>
      </p:sp>
      <p:sp>
        <p:nvSpPr>
          <p:cNvPr id="6" name="Rectangle 5"/>
          <p:cNvSpPr/>
          <p:nvPr/>
        </p:nvSpPr>
        <p:spPr>
          <a:xfrm>
            <a:off x="0" y="533400"/>
            <a:ext cx="5709192" cy="461665"/>
          </a:xfrm>
          <a:prstGeom prst="rect">
            <a:avLst/>
          </a:prstGeom>
        </p:spPr>
        <p:txBody>
          <a:bodyPr wrap="none">
            <a:spAutoFit/>
          </a:bodyPr>
          <a:lstStyle/>
          <a:p>
            <a:pPr lvl="0"/>
            <a:r>
              <a:rPr lang="en-US" sz="2400" b="1" dirty="0"/>
              <a:t>2</a:t>
            </a:r>
            <a:r>
              <a:rPr lang="en-US" sz="2400" b="1" dirty="0" smtClean="0"/>
              <a:t>. </a:t>
            </a:r>
            <a:r>
              <a:rPr lang="en-US" sz="2400" b="1" dirty="0"/>
              <a:t>Anthropogenic drivers of climate change </a:t>
            </a:r>
            <a:endParaRPr lang="en-GB" sz="2400" b="1" dirty="0"/>
          </a:p>
        </p:txBody>
      </p:sp>
      <p:pic>
        <p:nvPicPr>
          <p:cNvPr id="7" name="Picture 2" descr="Ways to Help Reduce Air Polluti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00" y="5748512"/>
            <a:ext cx="1447800" cy="11094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74140" y="3934361"/>
            <a:ext cx="9144000" cy="1323439"/>
          </a:xfrm>
          <a:prstGeom prst="rect">
            <a:avLst/>
          </a:prstGeom>
        </p:spPr>
        <p:txBody>
          <a:bodyPr wrap="square">
            <a:spAutoFit/>
          </a:bodyPr>
          <a:lstStyle/>
          <a:p>
            <a:pPr algn="just"/>
            <a:r>
              <a:rPr lang="en-US" sz="2000" dirty="0"/>
              <a:t>For the transportation sector, there are two key sets of strategies to reduce GHG</a:t>
            </a:r>
            <a:r>
              <a:rPr lang="en-US" sz="2000" dirty="0" smtClean="0"/>
              <a:t>:</a:t>
            </a:r>
          </a:p>
          <a:p>
            <a:pPr algn="just"/>
            <a:r>
              <a:rPr lang="en-US" sz="2000" dirty="0" smtClean="0"/>
              <a:t> </a:t>
            </a:r>
            <a:r>
              <a:rPr lang="en-US" sz="2000" dirty="0"/>
              <a:t>(1) Developments in technology including (Vehicle improvements, Low carbon fuels, </a:t>
            </a:r>
            <a:endParaRPr lang="en-GB" sz="2000" dirty="0"/>
          </a:p>
          <a:p>
            <a:pPr lvl="0" algn="just"/>
            <a:r>
              <a:rPr lang="en-US" sz="2000" dirty="0"/>
              <a:t>Improving operating efficiency of individual vehicles and highway systems, </a:t>
            </a:r>
            <a:r>
              <a:rPr lang="en-US" sz="2000" dirty="0" smtClean="0"/>
              <a:t> Reducing </a:t>
            </a:r>
            <a:r>
              <a:rPr lang="en-US" sz="2000" dirty="0"/>
              <a:t>energy/carbon associated with construction, maintenance, and  operation) and </a:t>
            </a:r>
            <a:endParaRPr lang="en-US" sz="2000" dirty="0" smtClean="0"/>
          </a:p>
        </p:txBody>
      </p:sp>
      <p:sp>
        <p:nvSpPr>
          <p:cNvPr id="3" name="Rectangle 2"/>
          <p:cNvSpPr/>
          <p:nvPr/>
        </p:nvSpPr>
        <p:spPr>
          <a:xfrm>
            <a:off x="37070" y="5382161"/>
            <a:ext cx="6516130" cy="1323439"/>
          </a:xfrm>
          <a:prstGeom prst="rect">
            <a:avLst/>
          </a:prstGeom>
        </p:spPr>
        <p:txBody>
          <a:bodyPr wrap="square">
            <a:spAutoFit/>
          </a:bodyPr>
          <a:lstStyle/>
          <a:p>
            <a:pPr lvl="0" algn="just"/>
            <a:r>
              <a:rPr lang="en-US" sz="2000" dirty="0"/>
              <a:t>(2) Changing attitudes towards travel that includes (</a:t>
            </a:r>
            <a:r>
              <a:rPr lang="en-GB" sz="2000" dirty="0"/>
              <a:t>Car Sharing  and reduce number of car, walk or cycling short distances that is good for health, taking public bus rather than private car</a:t>
            </a:r>
            <a:r>
              <a:rPr lang="en-US" sz="2000" dirty="0"/>
              <a:t>)</a:t>
            </a:r>
          </a:p>
        </p:txBody>
      </p:sp>
      <p:sp>
        <p:nvSpPr>
          <p:cNvPr id="8" name="Rectangle 7"/>
          <p:cNvSpPr/>
          <p:nvPr/>
        </p:nvSpPr>
        <p:spPr>
          <a:xfrm>
            <a:off x="-304800" y="932289"/>
            <a:ext cx="7962900" cy="369332"/>
          </a:xfrm>
          <a:prstGeom prst="rect">
            <a:avLst/>
          </a:prstGeom>
        </p:spPr>
        <p:txBody>
          <a:bodyPr wrap="square">
            <a:spAutoFit/>
          </a:bodyPr>
          <a:lstStyle/>
          <a:p>
            <a:pPr marL="857250" lvl="1" indent="-400050">
              <a:buFont typeface="+mj-lt"/>
              <a:buAutoNum type="romanUcPeriod"/>
            </a:pPr>
            <a:r>
              <a:rPr lang="en-US" b="1" dirty="0"/>
              <a:t>Technological development and transportation</a:t>
            </a:r>
            <a:endParaRPr lang="en-GB" sz="1600" b="1" dirty="0"/>
          </a:p>
        </p:txBody>
      </p:sp>
    </p:spTree>
    <p:extLst>
      <p:ext uri="{BB962C8B-B14F-4D97-AF65-F5344CB8AC3E}">
        <p14:creationId xmlns:p14="http://schemas.microsoft.com/office/powerpoint/2010/main" val="115476247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92" y="152400"/>
            <a:ext cx="9055658"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descr=" "/>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0" y="3200400"/>
            <a:ext cx="3581400" cy="201453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esla Motors CEO Elon Musk delivers Model X electric sports-utility vehicles during a presentation in Fremon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8721" y="3276600"/>
            <a:ext cx="3905250" cy="2200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523418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52400" y="-304800"/>
            <a:ext cx="8229600" cy="1143000"/>
          </a:xfrm>
          <a:prstGeom prst="rect">
            <a:avLst/>
          </a:prstGeom>
        </p:spPr>
        <p:txBody>
          <a:bodyPr vert="horz" lIns="91440" tIns="45720" rIns="91440" bIns="45720" rtlCol="0" anchor="ctr">
            <a:normAutofit fontScale="92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b="1" dirty="0" smtClean="0"/>
              <a:t>Chapter 2</a:t>
            </a:r>
            <a:r>
              <a:rPr lang="en-US" b="1" dirty="0"/>
              <a:t>. Drivers of climate </a:t>
            </a:r>
            <a:r>
              <a:rPr lang="en-US" b="1" dirty="0" smtClean="0"/>
              <a:t>change </a:t>
            </a:r>
            <a:endParaRPr lang="en-US" dirty="0"/>
          </a:p>
        </p:txBody>
      </p:sp>
      <p:sp>
        <p:nvSpPr>
          <p:cNvPr id="6" name="Rectangle 5"/>
          <p:cNvSpPr/>
          <p:nvPr/>
        </p:nvSpPr>
        <p:spPr>
          <a:xfrm>
            <a:off x="0" y="533400"/>
            <a:ext cx="5709192" cy="461665"/>
          </a:xfrm>
          <a:prstGeom prst="rect">
            <a:avLst/>
          </a:prstGeom>
        </p:spPr>
        <p:txBody>
          <a:bodyPr wrap="none">
            <a:spAutoFit/>
          </a:bodyPr>
          <a:lstStyle/>
          <a:p>
            <a:pPr lvl="0"/>
            <a:r>
              <a:rPr lang="en-US" sz="2400" b="1" dirty="0"/>
              <a:t>2</a:t>
            </a:r>
            <a:r>
              <a:rPr lang="en-US" sz="2400" b="1" dirty="0" smtClean="0"/>
              <a:t>. </a:t>
            </a:r>
            <a:r>
              <a:rPr lang="en-US" sz="2400" b="1" dirty="0"/>
              <a:t>Anthropogenic drivers of climate change </a:t>
            </a:r>
            <a:endParaRPr lang="en-GB" sz="2400" b="1" dirty="0"/>
          </a:p>
        </p:txBody>
      </p:sp>
      <p:sp>
        <p:nvSpPr>
          <p:cNvPr id="3" name="Rectangle 2"/>
          <p:cNvSpPr/>
          <p:nvPr/>
        </p:nvSpPr>
        <p:spPr>
          <a:xfrm>
            <a:off x="0" y="1002268"/>
            <a:ext cx="4572000" cy="369332"/>
          </a:xfrm>
          <a:prstGeom prst="rect">
            <a:avLst/>
          </a:prstGeom>
        </p:spPr>
        <p:txBody>
          <a:bodyPr>
            <a:spAutoFit/>
          </a:bodyPr>
          <a:lstStyle/>
          <a:p>
            <a:pPr marL="857250" lvl="1" indent="-400050">
              <a:buFont typeface="+mj-lt"/>
              <a:buAutoNum type="romanUcPeriod" startAt="2"/>
            </a:pPr>
            <a:r>
              <a:rPr lang="en-US" b="1" dirty="0"/>
              <a:t>Increased world industrial activities</a:t>
            </a:r>
          </a:p>
        </p:txBody>
      </p:sp>
      <p:pic>
        <p:nvPicPr>
          <p:cNvPr id="2050" name="Picture 2" descr="Carbon Dioxide Emissions and Climate Change - Solar Shad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7836" y="5577479"/>
            <a:ext cx="1925595" cy="128052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1874" y="1397675"/>
            <a:ext cx="9067800" cy="4093428"/>
          </a:xfrm>
          <a:prstGeom prst="rect">
            <a:avLst/>
          </a:prstGeom>
        </p:spPr>
        <p:txBody>
          <a:bodyPr wrap="square">
            <a:spAutoFit/>
          </a:bodyPr>
          <a:lstStyle/>
          <a:p>
            <a:pPr algn="just"/>
            <a:r>
              <a:rPr lang="en-GB" sz="2000" dirty="0"/>
              <a:t>With the coming of Industrial revolutions, the use of chemicals and fuel in the factories has increased to a dangerous amount. Along with it, deforestation due to industrial or economic purposes and the excess burning of fossil fuels like natural gas, oil, and coal, has increased the concentration of atmospheric carbon dioxide from 315 ppm (part per million by volume) to about 363 ppm since 1958. Industrial air pollution occurs as the result of the release of pollutants (called emissions) into the atmosphere. The pollutants mix in air and are diluted but may travel long distances on slow, steady winds if an industrial chimney is tall enough to propel them high into the atmosphere. It is a fundamental problem of air pollution science that pollutant concentrations are exceedingly difficult to measure accurately. Industrial development has been associated with emission to air of large quantities of gaseous and particulate emissions from both industrial production and from burning fossil fuels for energy and transportation. </a:t>
            </a:r>
          </a:p>
        </p:txBody>
      </p:sp>
      <p:sp>
        <p:nvSpPr>
          <p:cNvPr id="12" name="Rectangle 11"/>
          <p:cNvSpPr/>
          <p:nvPr/>
        </p:nvSpPr>
        <p:spPr>
          <a:xfrm>
            <a:off x="-8052" y="5456872"/>
            <a:ext cx="7551852" cy="1477328"/>
          </a:xfrm>
          <a:prstGeom prst="rect">
            <a:avLst/>
          </a:prstGeom>
        </p:spPr>
        <p:txBody>
          <a:bodyPr wrap="square">
            <a:spAutoFit/>
          </a:bodyPr>
          <a:lstStyle/>
          <a:p>
            <a:r>
              <a:rPr lang="en-GB" b="1" dirty="0">
                <a:hlinkClick r:id="rId3"/>
              </a:rPr>
              <a:t>Industry</a:t>
            </a:r>
            <a:r>
              <a:rPr lang="en-GB" dirty="0"/>
              <a:t> (21% of 2010 global greenhouse gas emissions): Greenhouse gas emissions from industry primarily involve fossil fuels burned on site at facilities for energy. This sector also includes emissions from chemical, metallurgical, and mineral transformation processes not associated with energy consumption and emissions from waste management activities</a:t>
            </a:r>
          </a:p>
        </p:txBody>
      </p:sp>
    </p:spTree>
    <p:extLst>
      <p:ext uri="{BB962C8B-B14F-4D97-AF65-F5344CB8AC3E}">
        <p14:creationId xmlns:p14="http://schemas.microsoft.com/office/powerpoint/2010/main" val="181638494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52400" y="-304800"/>
            <a:ext cx="8229600" cy="1143000"/>
          </a:xfrm>
          <a:prstGeom prst="rect">
            <a:avLst/>
          </a:prstGeom>
        </p:spPr>
        <p:txBody>
          <a:bodyPr vert="horz" lIns="91440" tIns="45720" rIns="91440" bIns="45720" rtlCol="0" anchor="ctr">
            <a:normAutofit fontScale="92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b="1" dirty="0" smtClean="0"/>
              <a:t>Chapter 2</a:t>
            </a:r>
            <a:r>
              <a:rPr lang="en-US" b="1" dirty="0"/>
              <a:t>. Drivers of climate </a:t>
            </a:r>
            <a:r>
              <a:rPr lang="en-US" b="1" dirty="0" smtClean="0"/>
              <a:t>change </a:t>
            </a:r>
            <a:endParaRPr lang="en-US" dirty="0"/>
          </a:p>
        </p:txBody>
      </p:sp>
      <p:sp>
        <p:nvSpPr>
          <p:cNvPr id="5" name="Rectangle 4"/>
          <p:cNvSpPr/>
          <p:nvPr/>
        </p:nvSpPr>
        <p:spPr>
          <a:xfrm>
            <a:off x="0" y="533400"/>
            <a:ext cx="5709192" cy="461665"/>
          </a:xfrm>
          <a:prstGeom prst="rect">
            <a:avLst/>
          </a:prstGeom>
        </p:spPr>
        <p:txBody>
          <a:bodyPr wrap="none">
            <a:spAutoFit/>
          </a:bodyPr>
          <a:lstStyle/>
          <a:p>
            <a:pPr lvl="0"/>
            <a:r>
              <a:rPr lang="en-US" sz="2400" b="1" dirty="0"/>
              <a:t>2</a:t>
            </a:r>
            <a:r>
              <a:rPr lang="en-US" sz="2400" b="1" dirty="0" smtClean="0"/>
              <a:t>. </a:t>
            </a:r>
            <a:r>
              <a:rPr lang="en-US" sz="2400" b="1" dirty="0"/>
              <a:t>Anthropogenic drivers of climate change </a:t>
            </a:r>
            <a:endParaRPr lang="en-GB" sz="2400" b="1" dirty="0"/>
          </a:p>
        </p:txBody>
      </p:sp>
      <p:sp>
        <p:nvSpPr>
          <p:cNvPr id="6" name="Rectangle 5"/>
          <p:cNvSpPr/>
          <p:nvPr/>
        </p:nvSpPr>
        <p:spPr>
          <a:xfrm>
            <a:off x="0" y="1002268"/>
            <a:ext cx="6324600" cy="369332"/>
          </a:xfrm>
          <a:prstGeom prst="rect">
            <a:avLst/>
          </a:prstGeom>
        </p:spPr>
        <p:txBody>
          <a:bodyPr wrap="square">
            <a:spAutoFit/>
          </a:bodyPr>
          <a:lstStyle/>
          <a:p>
            <a:pPr marL="857250" lvl="1" indent="-400050">
              <a:buFont typeface="+mj-lt"/>
              <a:buAutoNum type="romanUcPeriod" startAt="3"/>
            </a:pPr>
            <a:r>
              <a:rPr lang="en-GB" b="1" dirty="0"/>
              <a:t>Material and energy consumption growth</a:t>
            </a:r>
          </a:p>
        </p:txBody>
      </p:sp>
      <p:sp>
        <p:nvSpPr>
          <p:cNvPr id="12" name="Rectangle 11"/>
          <p:cNvSpPr/>
          <p:nvPr/>
        </p:nvSpPr>
        <p:spPr>
          <a:xfrm>
            <a:off x="-8238" y="1363362"/>
            <a:ext cx="9152238" cy="4708981"/>
          </a:xfrm>
          <a:prstGeom prst="rect">
            <a:avLst/>
          </a:prstGeom>
        </p:spPr>
        <p:txBody>
          <a:bodyPr wrap="square">
            <a:spAutoFit/>
          </a:bodyPr>
          <a:lstStyle/>
          <a:p>
            <a:pPr algn="just"/>
            <a:r>
              <a:rPr lang="en-GB" sz="2000" dirty="0"/>
              <a:t>Energy is a fundamental input to economic activity. Modern energy services light up our homes and schools, fuel economic activity to produce and consume, provide comfort and mobility, pump water and contribute to health and well-being. Harnessing energy sources to replace manual and animal labour was the platform of the Industrial Revolution: a period of unprecedented economic and social development. The 20th century witnessed large increases in the global population, economic output and fossil fuel consumption. </a:t>
            </a:r>
            <a:r>
              <a:rPr lang="en-GB" sz="2000" dirty="0" smtClean="0"/>
              <a:t>Yet </a:t>
            </a:r>
            <a:r>
              <a:rPr lang="en-GB" sz="2000" dirty="0"/>
              <a:t>these gains have taken a toll on a range of environmental systems where unsustainable practices have dominated. Continuing deterioration of natural resources could stress the ability to meet the needs of a growing population and undermine economic activity. A major transformation is required in the way we produce, deliver and consume energy.</a:t>
            </a:r>
          </a:p>
          <a:p>
            <a:pPr algn="just"/>
            <a:r>
              <a:rPr lang="en-GB" sz="2000" dirty="0" smtClean="0"/>
              <a:t>Lifestyle</a:t>
            </a:r>
            <a:r>
              <a:rPr lang="en-GB" sz="2000" dirty="0"/>
              <a:t>, culture and behaviour significantly influence </a:t>
            </a:r>
            <a:r>
              <a:rPr lang="en-GB" sz="2000" dirty="0" smtClean="0"/>
              <a:t>material and energy </a:t>
            </a:r>
            <a:r>
              <a:rPr lang="en-GB" sz="2000" dirty="0"/>
              <a:t>consumption in </a:t>
            </a:r>
            <a:r>
              <a:rPr lang="en-GB" sz="2000" dirty="0" smtClean="0"/>
              <a:t>in an area. For </a:t>
            </a:r>
            <a:r>
              <a:rPr lang="en-GB" sz="2000" dirty="0"/>
              <a:t>developed countries, scenarios indicate that lifestyle and behavioural changes could reduce energy demand by up to 20% in the short term and by up to 50% of present levels by mid-century. </a:t>
            </a:r>
          </a:p>
        </p:txBody>
      </p:sp>
    </p:spTree>
    <p:extLst>
      <p:ext uri="{BB962C8B-B14F-4D97-AF65-F5344CB8AC3E}">
        <p14:creationId xmlns:p14="http://schemas.microsoft.com/office/powerpoint/2010/main" val="171450131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0297" y="1315283"/>
            <a:ext cx="9115168" cy="4247317"/>
          </a:xfrm>
          <a:prstGeom prst="rect">
            <a:avLst/>
          </a:prstGeom>
        </p:spPr>
        <p:txBody>
          <a:bodyPr wrap="square">
            <a:spAutoFit/>
          </a:bodyPr>
          <a:lstStyle/>
          <a:p>
            <a:pPr algn="just"/>
            <a:r>
              <a:rPr lang="en-GB" dirty="0"/>
              <a:t>Global demand for energy is increasing rapidly, because of population and economic growth, especially in emerging market economies. While accompanied by greater prosperity, rising demand creates new challenges. Energy security concerns can emerge as more consumers require ever more energy resources. And higher consumption of fossil fuels leads to higher greenhouse gas emissions, particularly carbon dioxide (CO2), which contribute to global warming. At the same time, the number of people without access to electricity remains unacceptably high. </a:t>
            </a:r>
            <a:endParaRPr lang="en-GB" dirty="0" smtClean="0"/>
          </a:p>
          <a:p>
            <a:pPr algn="just"/>
            <a:r>
              <a:rPr lang="en-GB" dirty="0" smtClean="0"/>
              <a:t>Energy </a:t>
            </a:r>
            <a:r>
              <a:rPr lang="en-GB" dirty="0"/>
              <a:t>consumption  of space heating and cooling; water heating;  refrigeration cooling in residential, commercial, and industrial buildings. Energy consumption for pumping water for irrigated agriculture and municipal uses; electricity used for air conditioning; and  energy consumption in key sectors of the economy, such as transportation, construction, agriculture, and others. </a:t>
            </a:r>
            <a:endParaRPr lang="en-GB" dirty="0" smtClean="0"/>
          </a:p>
          <a:p>
            <a:pPr algn="just"/>
            <a:r>
              <a:rPr lang="en-GB" dirty="0" smtClean="0"/>
              <a:t>Improvements </a:t>
            </a:r>
            <a:r>
              <a:rPr lang="en-GB" dirty="0"/>
              <a:t>in GHG emission efficiency and in the efficiency of material use, recycling and re-use of materials and products, and overall reductions in product demand . </a:t>
            </a:r>
          </a:p>
          <a:p>
            <a:pPr algn="just"/>
            <a:endParaRPr lang="en-GB" dirty="0"/>
          </a:p>
        </p:txBody>
      </p:sp>
      <p:sp>
        <p:nvSpPr>
          <p:cNvPr id="5" name="Title 1"/>
          <p:cNvSpPr txBox="1">
            <a:spLocks/>
          </p:cNvSpPr>
          <p:nvPr/>
        </p:nvSpPr>
        <p:spPr>
          <a:xfrm>
            <a:off x="152400" y="-304800"/>
            <a:ext cx="8229600" cy="1143000"/>
          </a:xfrm>
          <a:prstGeom prst="rect">
            <a:avLst/>
          </a:prstGeom>
        </p:spPr>
        <p:txBody>
          <a:bodyPr vert="horz" lIns="91440" tIns="45720" rIns="91440" bIns="45720" rtlCol="0" anchor="ctr">
            <a:normAutofit fontScale="92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b="1" dirty="0" smtClean="0"/>
              <a:t>Chapter 2</a:t>
            </a:r>
            <a:r>
              <a:rPr lang="en-US" b="1" dirty="0"/>
              <a:t>. Drivers of climate </a:t>
            </a:r>
            <a:r>
              <a:rPr lang="en-US" b="1" dirty="0" smtClean="0"/>
              <a:t>change </a:t>
            </a:r>
            <a:endParaRPr lang="en-US" dirty="0"/>
          </a:p>
        </p:txBody>
      </p:sp>
      <p:sp>
        <p:nvSpPr>
          <p:cNvPr id="9" name="Rectangle 8"/>
          <p:cNvSpPr/>
          <p:nvPr/>
        </p:nvSpPr>
        <p:spPr>
          <a:xfrm>
            <a:off x="0" y="533400"/>
            <a:ext cx="5709192" cy="461665"/>
          </a:xfrm>
          <a:prstGeom prst="rect">
            <a:avLst/>
          </a:prstGeom>
        </p:spPr>
        <p:txBody>
          <a:bodyPr wrap="none">
            <a:spAutoFit/>
          </a:bodyPr>
          <a:lstStyle/>
          <a:p>
            <a:pPr lvl="0"/>
            <a:r>
              <a:rPr lang="en-US" sz="2400" b="1" dirty="0"/>
              <a:t>2</a:t>
            </a:r>
            <a:r>
              <a:rPr lang="en-US" sz="2400" b="1" dirty="0" smtClean="0"/>
              <a:t>. </a:t>
            </a:r>
            <a:r>
              <a:rPr lang="en-US" sz="2400" b="1" dirty="0"/>
              <a:t>Anthropogenic drivers of climate change </a:t>
            </a:r>
            <a:endParaRPr lang="en-GB" sz="2400" b="1" dirty="0"/>
          </a:p>
        </p:txBody>
      </p:sp>
      <p:sp>
        <p:nvSpPr>
          <p:cNvPr id="11" name="Text Box 6"/>
          <p:cNvSpPr txBox="1">
            <a:spLocks noChangeArrowheads="1"/>
          </p:cNvSpPr>
          <p:nvPr/>
        </p:nvSpPr>
        <p:spPr bwMode="auto">
          <a:xfrm>
            <a:off x="152400" y="5863336"/>
            <a:ext cx="1525201" cy="584775"/>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r>
              <a:rPr lang="en-GB" sz="1600" i="1" dirty="0">
                <a:solidFill>
                  <a:srgbClr val="008000"/>
                </a:solidFill>
                <a:latin typeface="Univers 45 Light" pitchFamily="2" charset="0"/>
                <a:cs typeface="Times New Roman" pitchFamily="18" charset="0"/>
              </a:rPr>
              <a:t>Low Energy Buildings</a:t>
            </a:r>
            <a:endParaRPr lang="en-US" sz="1600" i="1" dirty="0">
              <a:solidFill>
                <a:srgbClr val="008000"/>
              </a:solidFill>
              <a:latin typeface="Univers 45 Light" pitchFamily="2" charset="0"/>
              <a:cs typeface="Times New Roman" pitchFamily="18" charset="0"/>
            </a:endParaRPr>
          </a:p>
        </p:txBody>
      </p:sp>
      <p:sp>
        <p:nvSpPr>
          <p:cNvPr id="12" name="Text Box 8"/>
          <p:cNvSpPr txBox="1">
            <a:spLocks noChangeArrowheads="1"/>
          </p:cNvSpPr>
          <p:nvPr/>
        </p:nvSpPr>
        <p:spPr bwMode="auto">
          <a:xfrm>
            <a:off x="5052706" y="5708822"/>
            <a:ext cx="1527267" cy="584775"/>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GB" sz="1600" i="1" dirty="0">
                <a:solidFill>
                  <a:srgbClr val="008000"/>
                </a:solidFill>
                <a:latin typeface="Univers 45 Light" pitchFamily="2" charset="0"/>
                <a:cs typeface="Times New Roman" pitchFamily="18" charset="0"/>
              </a:rPr>
              <a:t>Urban Energy Systems</a:t>
            </a:r>
            <a:endParaRPr lang="en-US" sz="1600" i="1" dirty="0">
              <a:solidFill>
                <a:srgbClr val="008000"/>
              </a:solidFill>
              <a:latin typeface="Univers 45 Light" pitchFamily="2" charset="0"/>
              <a:cs typeface="Times New Roman" pitchFamily="18" charset="0"/>
            </a:endParaRPr>
          </a:p>
        </p:txBody>
      </p:sp>
      <p:pic>
        <p:nvPicPr>
          <p:cNvPr id="13"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5893" y="5445210"/>
            <a:ext cx="2097405" cy="1371600"/>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9973" y="5464208"/>
            <a:ext cx="2011680" cy="1383030"/>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lgn="ctr">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Rectangle 14"/>
          <p:cNvSpPr/>
          <p:nvPr/>
        </p:nvSpPr>
        <p:spPr>
          <a:xfrm>
            <a:off x="0" y="914400"/>
            <a:ext cx="6324600" cy="369332"/>
          </a:xfrm>
          <a:prstGeom prst="rect">
            <a:avLst/>
          </a:prstGeom>
        </p:spPr>
        <p:txBody>
          <a:bodyPr wrap="square">
            <a:spAutoFit/>
          </a:bodyPr>
          <a:lstStyle/>
          <a:p>
            <a:pPr marL="857250" lvl="1" indent="-400050">
              <a:buFont typeface="+mj-lt"/>
              <a:buAutoNum type="romanUcPeriod" startAt="3"/>
            </a:pPr>
            <a:r>
              <a:rPr lang="en-GB" b="1" dirty="0"/>
              <a:t>Material and energy consumption growth</a:t>
            </a:r>
          </a:p>
        </p:txBody>
      </p:sp>
    </p:spTree>
    <p:extLst>
      <p:ext uri="{BB962C8B-B14F-4D97-AF65-F5344CB8AC3E}">
        <p14:creationId xmlns:p14="http://schemas.microsoft.com/office/powerpoint/2010/main" val="54813058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52400" y="-304800"/>
            <a:ext cx="8229600" cy="1143000"/>
          </a:xfrm>
          <a:prstGeom prst="rect">
            <a:avLst/>
          </a:prstGeom>
        </p:spPr>
        <p:txBody>
          <a:bodyPr vert="horz" lIns="91440" tIns="45720" rIns="91440" bIns="45720" rtlCol="0" anchor="ctr">
            <a:normAutofit fontScale="92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b="1" dirty="0" smtClean="0"/>
              <a:t>Chapter 2</a:t>
            </a:r>
            <a:r>
              <a:rPr lang="en-US" b="1" dirty="0"/>
              <a:t>. Drivers of climate </a:t>
            </a:r>
            <a:r>
              <a:rPr lang="en-US" b="1" dirty="0" smtClean="0"/>
              <a:t>change </a:t>
            </a:r>
            <a:endParaRPr lang="en-US" dirty="0"/>
          </a:p>
        </p:txBody>
      </p:sp>
      <p:sp>
        <p:nvSpPr>
          <p:cNvPr id="7" name="Rectangle 6"/>
          <p:cNvSpPr/>
          <p:nvPr/>
        </p:nvSpPr>
        <p:spPr>
          <a:xfrm>
            <a:off x="0" y="533400"/>
            <a:ext cx="5709192" cy="461665"/>
          </a:xfrm>
          <a:prstGeom prst="rect">
            <a:avLst/>
          </a:prstGeom>
        </p:spPr>
        <p:txBody>
          <a:bodyPr wrap="none">
            <a:spAutoFit/>
          </a:bodyPr>
          <a:lstStyle/>
          <a:p>
            <a:pPr lvl="0"/>
            <a:r>
              <a:rPr lang="en-US" sz="2400" b="1" dirty="0"/>
              <a:t>2</a:t>
            </a:r>
            <a:r>
              <a:rPr lang="en-US" sz="2400" b="1" dirty="0" smtClean="0"/>
              <a:t>. </a:t>
            </a:r>
            <a:r>
              <a:rPr lang="en-US" sz="2400" b="1" dirty="0"/>
              <a:t>Anthropogenic drivers of climate change </a:t>
            </a:r>
            <a:endParaRPr lang="en-GB" sz="2400" b="1" dirty="0"/>
          </a:p>
        </p:txBody>
      </p:sp>
      <p:sp>
        <p:nvSpPr>
          <p:cNvPr id="8" name="Rectangle 7"/>
          <p:cNvSpPr/>
          <p:nvPr/>
        </p:nvSpPr>
        <p:spPr>
          <a:xfrm>
            <a:off x="0" y="1002268"/>
            <a:ext cx="6324600" cy="369332"/>
          </a:xfrm>
          <a:prstGeom prst="rect">
            <a:avLst/>
          </a:prstGeom>
        </p:spPr>
        <p:txBody>
          <a:bodyPr wrap="square">
            <a:spAutoFit/>
          </a:bodyPr>
          <a:lstStyle/>
          <a:p>
            <a:pPr marL="857250" lvl="1" indent="-400050">
              <a:buFont typeface="+mj-lt"/>
              <a:buAutoNum type="romanUcPeriod" startAt="4"/>
            </a:pPr>
            <a:r>
              <a:rPr lang="en-GB" b="1" dirty="0"/>
              <a:t>Land use change and deforestation</a:t>
            </a:r>
          </a:p>
        </p:txBody>
      </p:sp>
      <p:sp>
        <p:nvSpPr>
          <p:cNvPr id="2" name="Rectangle 1"/>
          <p:cNvSpPr/>
          <p:nvPr/>
        </p:nvSpPr>
        <p:spPr>
          <a:xfrm>
            <a:off x="20595" y="1295400"/>
            <a:ext cx="9144000" cy="5632311"/>
          </a:xfrm>
          <a:prstGeom prst="rect">
            <a:avLst/>
          </a:prstGeom>
        </p:spPr>
        <p:txBody>
          <a:bodyPr wrap="square">
            <a:spAutoFit/>
          </a:bodyPr>
          <a:lstStyle/>
          <a:p>
            <a:pPr algn="just" fontAlgn="base"/>
            <a:r>
              <a:rPr lang="en-GB" sz="2000" dirty="0" smtClean="0"/>
              <a:t>Forests (vegetable) </a:t>
            </a:r>
            <a:r>
              <a:rPr lang="en-GB" sz="2000" dirty="0"/>
              <a:t>are often inhale (sequester) carbon dioxide (CO2) from the atmosphere </a:t>
            </a:r>
            <a:r>
              <a:rPr lang="en-GB" sz="2000" dirty="0" smtClean="0"/>
              <a:t>through photosynthesis and they exhale </a:t>
            </a:r>
            <a:r>
              <a:rPr lang="en-GB" sz="2000" dirty="0"/>
              <a:t>oxygen (O2). As trees and vegetation grow, they store the carbon which makes up about half of their total biomass. Globally, forests store large amounts of carbon sequestered from the atmosphere and retained in living and dead biomass and soil. </a:t>
            </a:r>
          </a:p>
          <a:p>
            <a:pPr algn="just" fontAlgn="base"/>
            <a:r>
              <a:rPr lang="en-GB" sz="2000" dirty="0"/>
              <a:t>Forests store large amounts of carbon in their biomass and perform the very important ecosystem service of helping to regulate the global climate. When forests are converted to other land uses, they release their carbon as carbon dioxide, an important greenhouse gas. Increases in emissions of carbon dioxide and other greenhouse gases have led to global climate change</a:t>
            </a:r>
            <a:r>
              <a:rPr lang="en-GB" sz="2000" dirty="0" smtClean="0"/>
              <a:t>. </a:t>
            </a:r>
            <a:r>
              <a:rPr lang="en-GB" sz="2000" dirty="0"/>
              <a:t>Intensive </a:t>
            </a:r>
            <a:r>
              <a:rPr lang="en-GB" sz="2000" dirty="0" smtClean="0"/>
              <a:t>Land </a:t>
            </a:r>
            <a:r>
              <a:rPr lang="en-GB" sz="2000" dirty="0"/>
              <a:t>use change and </a:t>
            </a:r>
            <a:r>
              <a:rPr lang="en-GB" sz="2000" dirty="0" smtClean="0"/>
              <a:t>deforestation has be carried out due to increasing population. </a:t>
            </a:r>
          </a:p>
          <a:p>
            <a:pPr algn="just" fontAlgn="base"/>
            <a:r>
              <a:rPr lang="en-GB" sz="2000" dirty="0"/>
              <a:t>Forests play a critical role in protecting the Earth from climate change and regulating climate patterns, as the trees </a:t>
            </a:r>
            <a:r>
              <a:rPr lang="en-GB" sz="2000" dirty="0" smtClean="0"/>
              <a:t>trunks</a:t>
            </a:r>
            <a:r>
              <a:rPr lang="en-GB" sz="2000" dirty="0"/>
              <a:t>, branches and roots </a:t>
            </a:r>
            <a:r>
              <a:rPr lang="en-GB" sz="2000" dirty="0" smtClean="0"/>
              <a:t>and </a:t>
            </a:r>
            <a:r>
              <a:rPr lang="en-GB" sz="2000" dirty="0"/>
              <a:t>even soil absorb and store CO2, providing a natural reservoir for this GHG. However, when forests are destroyed or degraded by activities such as logging and conversion of forests to agricultural land, they release large quantities of CO2 and other GHGs, and become a significant (and, for some developing countries, a primary) source of GHG emissions and contributor to climate change</a:t>
            </a:r>
            <a:r>
              <a:rPr lang="en-GB" sz="2000" dirty="0" smtClean="0"/>
              <a:t>.</a:t>
            </a:r>
            <a:endParaRPr lang="en-GB" sz="2000" dirty="0"/>
          </a:p>
        </p:txBody>
      </p:sp>
    </p:spTree>
    <p:extLst>
      <p:ext uri="{BB962C8B-B14F-4D97-AF65-F5344CB8AC3E}">
        <p14:creationId xmlns:p14="http://schemas.microsoft.com/office/powerpoint/2010/main" val="39569253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52400" y="-304800"/>
            <a:ext cx="8229600" cy="1143000"/>
          </a:xfrm>
          <a:prstGeom prst="rect">
            <a:avLst/>
          </a:prstGeom>
        </p:spPr>
        <p:txBody>
          <a:bodyPr vert="horz" lIns="91440" tIns="45720" rIns="91440" bIns="45720" rtlCol="0" anchor="ctr">
            <a:normAutofit fontScale="92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b="1" dirty="0" smtClean="0"/>
              <a:t>Chapter 2</a:t>
            </a:r>
            <a:r>
              <a:rPr lang="en-US" b="1" dirty="0"/>
              <a:t>. Drivers of climate </a:t>
            </a:r>
            <a:r>
              <a:rPr lang="en-US" b="1" dirty="0" smtClean="0"/>
              <a:t>change </a:t>
            </a:r>
            <a:endParaRPr lang="en-US" dirty="0"/>
          </a:p>
        </p:txBody>
      </p:sp>
      <p:sp>
        <p:nvSpPr>
          <p:cNvPr id="5" name="Rectangle 4"/>
          <p:cNvSpPr/>
          <p:nvPr/>
        </p:nvSpPr>
        <p:spPr>
          <a:xfrm>
            <a:off x="0" y="533400"/>
            <a:ext cx="5709192" cy="461665"/>
          </a:xfrm>
          <a:prstGeom prst="rect">
            <a:avLst/>
          </a:prstGeom>
        </p:spPr>
        <p:txBody>
          <a:bodyPr wrap="none">
            <a:spAutoFit/>
          </a:bodyPr>
          <a:lstStyle/>
          <a:p>
            <a:pPr lvl="0"/>
            <a:r>
              <a:rPr lang="en-US" sz="2400" b="1" dirty="0"/>
              <a:t>2</a:t>
            </a:r>
            <a:r>
              <a:rPr lang="en-US" sz="2400" b="1" dirty="0" smtClean="0"/>
              <a:t>. </a:t>
            </a:r>
            <a:r>
              <a:rPr lang="en-US" sz="2400" b="1" dirty="0"/>
              <a:t>Anthropogenic drivers of climate change </a:t>
            </a:r>
            <a:endParaRPr lang="en-GB" sz="2400" b="1" dirty="0"/>
          </a:p>
        </p:txBody>
      </p:sp>
      <p:sp>
        <p:nvSpPr>
          <p:cNvPr id="6" name="Rectangle 5"/>
          <p:cNvSpPr/>
          <p:nvPr/>
        </p:nvSpPr>
        <p:spPr>
          <a:xfrm>
            <a:off x="0" y="1002268"/>
            <a:ext cx="6324600" cy="369332"/>
          </a:xfrm>
          <a:prstGeom prst="rect">
            <a:avLst/>
          </a:prstGeom>
        </p:spPr>
        <p:txBody>
          <a:bodyPr wrap="square">
            <a:spAutoFit/>
          </a:bodyPr>
          <a:lstStyle/>
          <a:p>
            <a:pPr marL="857250" lvl="1" indent="-400050">
              <a:buFont typeface="+mj-lt"/>
              <a:buAutoNum type="romanUcPeriod" startAt="4"/>
            </a:pPr>
            <a:r>
              <a:rPr lang="en-GB" b="1" dirty="0"/>
              <a:t>Land use change and deforestation</a:t>
            </a:r>
          </a:p>
        </p:txBody>
      </p:sp>
      <p:sp>
        <p:nvSpPr>
          <p:cNvPr id="7" name="Rectangle 6"/>
          <p:cNvSpPr/>
          <p:nvPr/>
        </p:nvSpPr>
        <p:spPr>
          <a:xfrm>
            <a:off x="0" y="1295400"/>
            <a:ext cx="9144000" cy="3477875"/>
          </a:xfrm>
          <a:prstGeom prst="rect">
            <a:avLst/>
          </a:prstGeom>
        </p:spPr>
        <p:txBody>
          <a:bodyPr wrap="square">
            <a:spAutoFit/>
          </a:bodyPr>
          <a:lstStyle/>
          <a:p>
            <a:pPr algn="just"/>
            <a:r>
              <a:rPr lang="en-US" sz="2000" dirty="0" smtClean="0"/>
              <a:t>Most </a:t>
            </a:r>
            <a:r>
              <a:rPr lang="en-US" sz="2000" dirty="0"/>
              <a:t>forests are darker (i.e., lower albedo) than grasses and croplands, which are darker than barren land and desert. As a consequence, deforestation tends to increase the Earth albedo (negative RF) while cultivation of some bright surfaces may have the opposite effect</a:t>
            </a:r>
            <a:r>
              <a:rPr lang="en-US" sz="2000" dirty="0" smtClean="0"/>
              <a:t>.</a:t>
            </a:r>
          </a:p>
          <a:p>
            <a:pPr algn="just"/>
            <a:r>
              <a:rPr lang="en-GB" sz="2000" dirty="0"/>
              <a:t>Rice paddies are a large source of CH4, an assessment of the agricultural effects of global environmental change must include rice as a crop of primary interest.</a:t>
            </a:r>
          </a:p>
          <a:p>
            <a:pPr algn="just"/>
            <a:r>
              <a:rPr lang="en-GB" sz="2000" dirty="0" smtClean="0">
                <a:cs typeface="Calibri"/>
              </a:rPr>
              <a:t>Farmers </a:t>
            </a:r>
            <a:r>
              <a:rPr lang="en-GB" sz="2000" dirty="0">
                <a:cs typeface="Calibri"/>
              </a:rPr>
              <a:t>normally flood rice fields throughout the growing season, meaning that methane is produced by microbes underwater as they help to decay any flooded organic </a:t>
            </a:r>
            <a:r>
              <a:rPr lang="en-GB" sz="2000" dirty="0" smtClean="0">
                <a:cs typeface="Calibri"/>
              </a:rPr>
              <a:t>matter.</a:t>
            </a:r>
            <a:endParaRPr lang="en-US" sz="2000" dirty="0" smtClean="0">
              <a:cs typeface="Calibri"/>
            </a:endParaRPr>
          </a:p>
          <a:p>
            <a:pPr algn="just"/>
            <a:r>
              <a:rPr lang="en-US" sz="2000" dirty="0" smtClean="0"/>
              <a:t/>
            </a:r>
            <a:br>
              <a:rPr lang="en-US" sz="2000" dirty="0" smtClean="0"/>
            </a:br>
            <a:endParaRPr lang="en-GB" sz="2000" dirty="0"/>
          </a:p>
        </p:txBody>
      </p:sp>
      <p:sp>
        <p:nvSpPr>
          <p:cNvPr id="8" name="Rectangle 7"/>
          <p:cNvSpPr/>
          <p:nvPr/>
        </p:nvSpPr>
        <p:spPr>
          <a:xfrm>
            <a:off x="-6178" y="4221325"/>
            <a:ext cx="6248400" cy="1323439"/>
          </a:xfrm>
          <a:prstGeom prst="rect">
            <a:avLst/>
          </a:prstGeom>
        </p:spPr>
        <p:txBody>
          <a:bodyPr wrap="square">
            <a:spAutoFit/>
          </a:bodyPr>
          <a:lstStyle/>
          <a:p>
            <a:pPr algn="just"/>
            <a:r>
              <a:rPr lang="en-US" sz="2000" dirty="0"/>
              <a:t>Drivers of Deforestation  are </a:t>
            </a:r>
            <a:r>
              <a:rPr lang="fr-FR" sz="2000" dirty="0"/>
              <a:t>Agriculture (commercial),  Agriculture (local/</a:t>
            </a:r>
            <a:r>
              <a:rPr lang="fr-FR" sz="2000" dirty="0" err="1"/>
              <a:t>subsistence</a:t>
            </a:r>
            <a:r>
              <a:rPr lang="fr-FR" sz="2000" dirty="0"/>
              <a:t>), Infrastructure, </a:t>
            </a:r>
            <a:r>
              <a:rPr lang="fr-FR" sz="2000" dirty="0" err="1"/>
              <a:t>Mining</a:t>
            </a:r>
            <a:r>
              <a:rPr lang="fr-FR" sz="2000" dirty="0"/>
              <a:t>, </a:t>
            </a:r>
            <a:r>
              <a:rPr lang="fr-FR" sz="2000" dirty="0" err="1"/>
              <a:t>Urban</a:t>
            </a:r>
            <a:r>
              <a:rPr lang="fr-FR" sz="2000" dirty="0"/>
              <a:t> </a:t>
            </a:r>
            <a:r>
              <a:rPr lang="fr-FR" sz="2000" dirty="0" smtClean="0"/>
              <a:t>expansion </a:t>
            </a:r>
            <a:r>
              <a:rPr lang="en-US" sz="2000" dirty="0" smtClean="0"/>
              <a:t> </a:t>
            </a:r>
            <a:r>
              <a:rPr lang="en-US" sz="2000" dirty="0"/>
              <a:t>&amp; Forest Degradation) and </a:t>
            </a:r>
            <a:endParaRPr lang="en-US" sz="2000" dirty="0" smtClean="0"/>
          </a:p>
          <a:p>
            <a:pPr algn="just"/>
            <a:endParaRPr lang="en-US" sz="2000" dirty="0"/>
          </a:p>
        </p:txBody>
      </p:sp>
      <p:pic>
        <p:nvPicPr>
          <p:cNvPr id="2050" name="Picture 2" descr="Wondering Why Deforestation Is a Problem? Here Are the Fact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86400" y="4961079"/>
            <a:ext cx="3581400" cy="1874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810951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Pie chart showing emissions by sector. 25% is from electricity and heat production; 14% from transport; 6% from residential and commercial buildings; 21% from industry; 24% from agriculture, forestry and other land use; 10% from other energy uses.">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066800"/>
            <a:ext cx="5486400" cy="54864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09800" y="6312932"/>
            <a:ext cx="2024721" cy="369332"/>
          </a:xfrm>
          <a:prstGeom prst="rect">
            <a:avLst/>
          </a:prstGeom>
        </p:spPr>
        <p:txBody>
          <a:bodyPr wrap="none">
            <a:spAutoFit/>
          </a:bodyPr>
          <a:lstStyle/>
          <a:p>
            <a:r>
              <a:rPr lang="en-GB" dirty="0"/>
              <a:t>Source: </a:t>
            </a:r>
            <a:r>
              <a:rPr lang="en-GB" dirty="0">
                <a:hlinkClick r:id="rId4"/>
              </a:rPr>
              <a:t>IPCC (2014)</a:t>
            </a:r>
            <a:endParaRPr lang="en-GB" dirty="0"/>
          </a:p>
        </p:txBody>
      </p:sp>
    </p:spTree>
    <p:extLst>
      <p:ext uri="{BB962C8B-B14F-4D97-AF65-F5344CB8AC3E}">
        <p14:creationId xmlns:p14="http://schemas.microsoft.com/office/powerpoint/2010/main" val="120378730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9552</TotalTime>
  <Words>5864</Words>
  <Application>Microsoft Office PowerPoint</Application>
  <PresentationFormat>On-screen Show (4:3)</PresentationFormat>
  <Paragraphs>358</Paragraphs>
  <Slides>43</Slides>
  <Notes>2</Notes>
  <HiddenSlides>0</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Office Theme</vt:lpstr>
      <vt:lpstr>   Course Name   Climate Change Adaptation and Mitigation (NaRM3121)  College of Agriculture Natural Resource Sciences  Department of Natural Resource Management  Instructor:- Yitea Seneshaw (PhD)                                                                                    Dec, 14, 2020  </vt:lpstr>
      <vt:lpstr>PowerPoint Presentation</vt:lpstr>
      <vt:lpstr>Chapter 1. Introduction </vt:lpstr>
      <vt:lpstr>Chapter 1. Introduction </vt:lpstr>
      <vt:lpstr>Chapter 1. Introduction </vt:lpstr>
      <vt:lpstr>Chapter 1. Introduction </vt:lpstr>
      <vt:lpstr>Chapter 1. Introduction </vt:lpstr>
      <vt:lpstr>Chapter 1. Introduction </vt:lpstr>
      <vt:lpstr>Chapter 1. Introduction </vt:lpstr>
      <vt:lpstr>Chapter 1. Introduction </vt:lpstr>
      <vt:lpstr>Chapter 1. Introduction </vt:lpstr>
      <vt:lpstr>Chapter 1. Introduction </vt:lpstr>
      <vt:lpstr>Chapter 1. Introduction </vt:lpstr>
      <vt:lpstr>Chapter 1. Introduction </vt:lpstr>
      <vt:lpstr>Chapter 1. Introduction </vt:lpstr>
      <vt:lpstr>Chapter 1. Introduction </vt:lpstr>
      <vt:lpstr>Chapter 1. Introduction </vt:lpstr>
      <vt:lpstr>Chapter 1. Introduction </vt:lpstr>
      <vt:lpstr>Chapter 1. Introduction </vt:lpstr>
      <vt:lpstr>PowerPoint Presentation</vt:lpstr>
      <vt:lpstr>PowerPoint Presentation</vt:lpstr>
      <vt:lpstr>PowerPoint Presentation</vt:lpstr>
      <vt:lpstr>PowerPoint Presentation</vt:lpstr>
      <vt:lpstr>PowerPoint Presentation</vt:lpstr>
      <vt:lpstr>    1.4 Why climate change is a global issue?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Hosanna ULGDP</dc:creator>
  <cp:lastModifiedBy>Bethel</cp:lastModifiedBy>
  <cp:revision>477</cp:revision>
  <dcterms:created xsi:type="dcterms:W3CDTF">2018-04-10T18:56:02Z</dcterms:created>
  <dcterms:modified xsi:type="dcterms:W3CDTF">2026-10-27T11:56:03Z</dcterms:modified>
</cp:coreProperties>
</file>